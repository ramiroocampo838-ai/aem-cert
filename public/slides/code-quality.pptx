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261" r:id="rId3"/>
    <p:sldId id="268" r:id="rId4"/>
    <p:sldId id="265" r:id="rId5"/>
    <p:sldId id="269" r:id="rId6"/>
    <p:sldId id="272" r:id="rId7"/>
    <p:sldId id="274" r:id="rId8"/>
    <p:sldId id="276" r:id="rId9"/>
    <p:sldId id="281" r:id="rId10"/>
    <p:sldId id="280" r:id="rId11"/>
    <p:sldId id="283" r:id="rId12"/>
    <p:sldId id="285" r:id="rId13"/>
    <p:sldId id="287" r:id="rId14"/>
    <p:sldId id="290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9B83-D9DB-1BE3-1E16-DDA4D0463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E3791-6386-78D1-3B23-0EEEF2D13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74D10-576B-D10E-19E7-06F530A5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8AC79-11C9-2D52-FA1D-5B205F45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277E9-EBDF-974B-C980-478C9E1E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20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0452-2FAF-3100-FE04-6361B8B8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D5F51-170C-D7D1-A592-C8006D10F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710B-2E71-17A3-E9B9-5B1450ED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E50A-E452-13A6-7377-F71306814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B92D3-E3BA-42C9-F636-7AE3AC1B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12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1259-CA3A-9882-BCBB-068664E0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3C2EC-390A-79F4-CDEF-B3F600B74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A33F9-7C80-F698-C66D-B6373714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ED46D-21BF-17F5-F313-D335ABF9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80795-8152-7CD8-54D2-5654EBDD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43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F0D1-0B1F-5EB9-A0B9-661DA207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DCB5D-3009-9E22-853E-D5C16B67A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11CAB-A7CA-A420-7425-1F9270CAA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626EC-82BB-45D5-FB45-DC4E802B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7ADFB-948C-FD94-6EF4-86EB4AB4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82545-A306-F719-B345-61A92F41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86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0DDB-A987-58B0-AFF0-718C50B2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7A0F0-785B-C46D-5287-32E670811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E9845-4439-BCA4-2943-230F95951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8F6F1-CEA3-9840-5BCC-C25253B26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A6083-702C-8B8B-A4A7-05236C12B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CAD64-0C8B-BB06-4F3B-9181E53B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62855-336C-CFC9-9AFA-C85813EE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820BE-1A80-6BFF-140B-BA0CD45E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61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121B-6741-2020-5588-F89B6B12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C4C92-842A-3C75-492C-023CCF6A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0C56A-27BF-E72D-5E65-7B748983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7C999-0CBF-0BB7-362E-2B9DA8E9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55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CF80F-8DE9-27D9-E18E-F5BEF8A8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B48E1-3029-ACA2-5B6C-7F26D0A2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BF186-2760-6178-4820-DD7BA850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3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6AE0-D62D-7364-A539-38C32CB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2981-A85E-1A5A-C48A-DA6BC7428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2C899-0275-CB87-E6D4-FBEDAB50B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A6249-697C-C20C-99DB-05C56660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3F10E-96A0-F710-C7AE-F7F77BF5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91BEF-A7B6-135A-8C50-B041E3E9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90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61B-84D5-10C0-1CB5-C762FA09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F36D12-FD11-05D3-AD73-C55858D9E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5EC38-B0CE-8FF9-BD0A-C5FD186AC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D88BB-C209-1EE1-DEC9-C9D5A864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40AAC-42F1-F8EA-176E-81FB1E9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C65CF-F2AF-C190-0449-24375B36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809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EC9A3-908E-7CAF-60C6-1AC538CE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97BAD-898A-C8A0-1C2A-FC82344A1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70073-D310-57E1-5119-94DAA178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3D5CF-DF8E-3C20-1FD5-7D64022F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8F68D-6AC0-679F-B253-40564690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1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66CFD-51A0-B618-06F1-42B1A2EC9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7CEA9-2297-E870-5E88-3F8A2A1DA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6C23F-5080-09A6-E519-F5B587DC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2828B-6260-8CED-536D-17B529C9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0C046-9299-3C2E-ACD3-A076B0B9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40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4E34D-AF16-E726-CA51-95A355E8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80348-124A-AD4C-F3F9-C7C960E60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3FD08-FE1D-C1E4-42AD-E136137CE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22FF7-0BCB-4A9D-B536-D9EEDB0EB698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A707B-0747-744E-9A93-7A20B520F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85489-05CD-AFFA-60CE-0B013A314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F666A-672D-46F8-B9CB-3DF730A25B9E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1473E6"/>
          </a:solidFill>
          <a:ln>
            <a:noFill/>
          </a:ln>
        </p:spPr>
        <p:txBody>
          <a:bodyPr wrap="none"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8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B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3E5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C3E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C3E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3E5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1D3B-5A86-7AC1-BC15-D84774822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5400" b="1" dirty="0">
                <a:solidFill>
                  <a:srgbClr val="0F1B2D"/>
                </a:solidFill>
              </a:rPr>
              <a:t>AEM Code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735FA-6217-E77B-E090-B2205A4AC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>
                <a:solidFill>
                  <a:srgbClr val="1473E6"/>
                </a:solidFill>
              </a:rPr>
              <a:t>Rules, Best Practices &amp; Cloud Manager Gates</a:t>
            </a:r>
          </a:p>
          <a:p>
            <a:pPr algn="l">
              <a:buNone/>
            </a:pPr>
            <a:endParaRPr lang="en-US" sz="1400"/>
          </a:p>
          <a:p>
            <a:pPr algn="l">
              <a:buNone/>
            </a:pPr>
            <a:r>
              <a:rPr lang="en-US" sz="1600" dirty="0">
                <a:solidFill>
                  <a:srgbClr val="6E6E6E"/>
                </a:solidFill>
              </a:rPr>
              <a:t>SonarQube  ·  AEM Best Practices  ·  OakPAL  ·  HTL  ·  OSGi  ·  Dispatcher  ·  Performance  ·  Security</a:t>
            </a:r>
          </a:p>
        </p:txBody>
      </p:sp>
    </p:spTree>
    <p:extLst>
      <p:ext uri="{BB962C8B-B14F-4D97-AF65-F5344CB8AC3E}">
        <p14:creationId xmlns:p14="http://schemas.microsoft.com/office/powerpoint/2010/main" val="400150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A73E-BDC6-30F1-A479-C1B88FE9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600" b="1" dirty="0">
                <a:solidFill>
                  <a:srgbClr val="0F1B2D"/>
                </a:solidFill>
              </a:rPr>
              <a:t>Why Code Quality Matters in AEM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47E2-4E67-6417-C197-90FE71A97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2C3E50"/>
                </a:solidFill>
              </a:rPr>
              <a:t>AEM apps run in production with thousands of concurrent users — bad patterns are not just untidy, they cause outages.</a:t>
            </a:r>
          </a:p>
          <a:p>
            <a:pPr marL="0" indent="0">
              <a:spcAft>
                <a:spcPts val="400"/>
              </a:spcAft>
              <a:buNone/>
            </a:pPr>
            <a:endParaRPr lang="en-US" sz="800"/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D7373F"/>
                </a:solidFill>
              </a:rPr>
              <a:t>Unclosed resources </a:t>
            </a:r>
            <a:r>
              <a:rPr lang="en-US" sz="1700" dirty="0">
                <a:solidFill>
                  <a:srgbClr val="2C3E50"/>
                </a:solidFill>
              </a:rPr>
              <a:t>exhaust the JCR session pool and crash the repository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D7373F"/>
                </a:solidFill>
              </a:rPr>
              <a:t>OSGi singletons with mutable state </a:t>
            </a:r>
            <a:r>
              <a:rPr lang="en-US" sz="1700" dirty="0">
                <a:solidFill>
                  <a:srgbClr val="2C3E50"/>
                </a:solidFill>
              </a:rPr>
              <a:t>create race conditions under concurrent load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D7373F"/>
                </a:solidFill>
              </a:rPr>
              <a:t>Direct writes to /libs </a:t>
            </a:r>
            <a:r>
              <a:rPr lang="en-US" sz="1700" dirty="0">
                <a:solidFill>
                  <a:srgbClr val="2C3E50"/>
                </a:solidFill>
              </a:rPr>
              <a:t>break on every AEM upgrade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700" b="1" dirty="0">
                <a:solidFill>
                  <a:srgbClr val="D7373F"/>
                </a:solidFill>
              </a:rPr>
              <a:t>Overly broad Dispatcher filters </a:t>
            </a:r>
            <a:r>
              <a:rPr lang="en-US" sz="1700" dirty="0">
                <a:solidFill>
                  <a:srgbClr val="2C3E50"/>
                </a:solidFill>
              </a:rPr>
              <a:t>expose admin endpoints to the internet</a:t>
            </a:r>
          </a:p>
          <a:p>
            <a:pPr marL="0" indent="0">
              <a:spcBef>
                <a:spcPts val="600"/>
              </a:spcBef>
              <a:buNone/>
            </a:pPr>
            <a:endParaRPr lang="en-US" sz="800"/>
          </a:p>
          <a:p>
            <a:pPr marL="0" indent="0">
              <a:buNone/>
            </a:pPr>
            <a:r>
              <a:rPr lang="en-US" sz="1600" b="1" dirty="0">
                <a:solidFill>
                  <a:srgbClr val="1473E6"/>
                </a:solidFill>
              </a:rPr>
              <a:t>Code quality in AEM = system stability + security.</a:t>
            </a:r>
          </a:p>
        </p:txBody>
      </p:sp>
    </p:spTree>
    <p:extLst>
      <p:ext uri="{BB962C8B-B14F-4D97-AF65-F5344CB8AC3E}">
        <p14:creationId xmlns:p14="http://schemas.microsoft.com/office/powerpoint/2010/main" val="401831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0D1D-E1AB-64BA-E1AA-66CBC125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Eight Categories of AEM Code Quality</a:t>
            </a:r>
          </a:p>
        </p:txBody>
      </p:sp>
      <p:sp>
        <p:nvSpPr>
          <p:cNvPr id="1000" name="Card1"/>
          <p:cNvSpPr/>
          <p:nvPr/>
        </p:nvSpPr>
        <p:spPr>
          <a:xfrm>
            <a:off x="444500" y="2032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01" name="Badge1"/>
          <p:cNvSpPr/>
          <p:nvPr/>
        </p:nvSpPr>
        <p:spPr>
          <a:xfrm>
            <a:off x="673100" y="2260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02" name="CardText1"/>
          <p:cNvSpPr txBox="1"/>
          <p:nvPr/>
        </p:nvSpPr>
        <p:spPr>
          <a:xfrm>
            <a:off x="673100" y="2870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SonarQube Rules</a:t>
            </a:r>
          </a:p>
          <a:p>
            <a:pPr>
              <a:buNone/>
            </a:pPr>
            <a:endParaRPr lang="en-US" sz="1700" b="1" dirty="0">
              <a:solidFill>
                <a:srgbClr val="0F1B2D"/>
              </a:solidFill>
            </a:endParaRPr>
          </a:p>
        </p:txBody>
      </p:sp>
      <p:sp>
        <p:nvSpPr>
          <p:cNvPr id="1003" name="Card2"/>
          <p:cNvSpPr/>
          <p:nvPr/>
        </p:nvSpPr>
        <p:spPr>
          <a:xfrm>
            <a:off x="3302000" y="2032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04" name="Badge2"/>
          <p:cNvSpPr/>
          <p:nvPr/>
        </p:nvSpPr>
        <p:spPr>
          <a:xfrm>
            <a:off x="3530600" y="2260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05" name="CardText2"/>
          <p:cNvSpPr txBox="1"/>
          <p:nvPr/>
        </p:nvSpPr>
        <p:spPr>
          <a:xfrm>
            <a:off x="3530600" y="2870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AEM Best Practices</a:t>
            </a:r>
          </a:p>
          <a:p>
            <a:pPr>
              <a:buNone/>
            </a:pPr>
            <a:r>
              <a:rPr lang="en-US" sz="1400" dirty="0">
                <a:solidFill>
                  <a:srgbClr val="6E6E6E"/>
                </a:solidFill>
              </a:rPr>
              <a:t>Resolvers, service users, Sling Models</a:t>
            </a:r>
          </a:p>
        </p:txBody>
      </p:sp>
      <p:sp>
        <p:nvSpPr>
          <p:cNvPr id="1006" name="Card3"/>
          <p:cNvSpPr/>
          <p:nvPr/>
        </p:nvSpPr>
        <p:spPr>
          <a:xfrm>
            <a:off x="6159500" y="2032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07" name="Badge3"/>
          <p:cNvSpPr/>
          <p:nvPr/>
        </p:nvSpPr>
        <p:spPr>
          <a:xfrm>
            <a:off x="6388100" y="2260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08" name="CardText3"/>
          <p:cNvSpPr txBox="1"/>
          <p:nvPr/>
        </p:nvSpPr>
        <p:spPr>
          <a:xfrm>
            <a:off x="6388100" y="2870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OakPAL</a:t>
            </a:r>
          </a:p>
          <a:p>
            <a:pPr>
              <a:buNone/>
            </a:pPr>
            <a:endParaRPr lang="en-US" sz="1700" b="1" dirty="0">
              <a:solidFill>
                <a:srgbClr val="0F1B2D"/>
              </a:solidFill>
            </a:endParaRPr>
          </a:p>
        </p:txBody>
      </p:sp>
      <p:sp>
        <p:nvSpPr>
          <p:cNvPr id="1009" name="Card4"/>
          <p:cNvSpPr/>
          <p:nvPr/>
        </p:nvSpPr>
        <p:spPr>
          <a:xfrm>
            <a:off x="9017000" y="2032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10" name="Badge4"/>
          <p:cNvSpPr/>
          <p:nvPr/>
        </p:nvSpPr>
        <p:spPr>
          <a:xfrm>
            <a:off x="9245600" y="2260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11" name="CardText4"/>
          <p:cNvSpPr txBox="1"/>
          <p:nvPr/>
        </p:nvSpPr>
        <p:spPr>
          <a:xfrm>
            <a:off x="9245600" y="2870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HTL / Sightly</a:t>
            </a:r>
          </a:p>
          <a:p>
            <a:pPr>
              <a:buNone/>
            </a:pPr>
            <a:endParaRPr lang="en-US" sz="1700" b="1" dirty="0">
              <a:solidFill>
                <a:srgbClr val="0F1B2D"/>
              </a:solidFill>
            </a:endParaRPr>
          </a:p>
        </p:txBody>
      </p:sp>
      <p:sp>
        <p:nvSpPr>
          <p:cNvPr id="1012" name="Card5"/>
          <p:cNvSpPr/>
          <p:nvPr/>
        </p:nvSpPr>
        <p:spPr>
          <a:xfrm>
            <a:off x="444500" y="4191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13" name="Badge5"/>
          <p:cNvSpPr/>
          <p:nvPr/>
        </p:nvSpPr>
        <p:spPr>
          <a:xfrm>
            <a:off x="673100" y="4419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14" name="CardText5"/>
          <p:cNvSpPr txBox="1"/>
          <p:nvPr/>
        </p:nvSpPr>
        <p:spPr>
          <a:xfrm>
            <a:off x="673100" y="5029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OSGi / Felix</a:t>
            </a:r>
          </a:p>
          <a:p>
            <a:pPr>
              <a:buNone/>
            </a:pPr>
            <a:endParaRPr lang="en-US" sz="1700" b="1" dirty="0">
              <a:solidFill>
                <a:srgbClr val="0F1B2D"/>
              </a:solidFill>
            </a:endParaRPr>
          </a:p>
        </p:txBody>
      </p:sp>
      <p:sp>
        <p:nvSpPr>
          <p:cNvPr id="1015" name="Card6"/>
          <p:cNvSpPr/>
          <p:nvPr/>
        </p:nvSpPr>
        <p:spPr>
          <a:xfrm>
            <a:off x="3302000" y="4191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16" name="Badge6"/>
          <p:cNvSpPr/>
          <p:nvPr/>
        </p:nvSpPr>
        <p:spPr>
          <a:xfrm>
            <a:off x="3530600" y="4419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17" name="CardText6"/>
          <p:cNvSpPr txBox="1"/>
          <p:nvPr/>
        </p:nvSpPr>
        <p:spPr>
          <a:xfrm>
            <a:off x="3530600" y="5029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Dispatcher</a:t>
            </a:r>
          </a:p>
          <a:p>
            <a:pPr>
              <a:buNone/>
            </a:pPr>
            <a:endParaRPr lang="en-US" sz="1700" b="1" dirty="0">
              <a:solidFill>
                <a:srgbClr val="0F1B2D"/>
              </a:solidFill>
            </a:endParaRPr>
          </a:p>
        </p:txBody>
      </p:sp>
      <p:sp>
        <p:nvSpPr>
          <p:cNvPr id="1018" name="Card7"/>
          <p:cNvSpPr/>
          <p:nvPr/>
        </p:nvSpPr>
        <p:spPr>
          <a:xfrm>
            <a:off x="6159500" y="4191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19" name="Badge7"/>
          <p:cNvSpPr/>
          <p:nvPr/>
        </p:nvSpPr>
        <p:spPr>
          <a:xfrm>
            <a:off x="6388100" y="4419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020" name="CardText7"/>
          <p:cNvSpPr txBox="1"/>
          <p:nvPr/>
        </p:nvSpPr>
        <p:spPr>
          <a:xfrm>
            <a:off x="6388100" y="5029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Performance</a:t>
            </a:r>
          </a:p>
          <a:p>
            <a:pPr>
              <a:buNone/>
            </a:pPr>
            <a:r>
              <a:rPr lang="en-US" sz="1400" dirty="0">
                <a:solidFill>
                  <a:srgbClr val="6E6E6E"/>
                </a:solidFill>
              </a:rPr>
              <a:t>JCR queries, Oak indexes</a:t>
            </a:r>
          </a:p>
        </p:txBody>
      </p:sp>
      <p:sp>
        <p:nvSpPr>
          <p:cNvPr id="1021" name="Card8"/>
          <p:cNvSpPr/>
          <p:nvPr/>
        </p:nvSpPr>
        <p:spPr>
          <a:xfrm>
            <a:off x="9017000" y="4191000"/>
            <a:ext cx="2730500" cy="19685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6350">
            <a:solidFill>
              <a:srgbClr val="DDE3EC"/>
            </a:solidFill>
          </a:ln>
        </p:spPr>
        <p:txBody>
          <a:bodyPr wrap="square" lIns="180000" tIns="180000" rIns="180000" bIns="180000" anchor="t"/>
          <a:lstStyle/>
          <a:p>
            <a:endParaRPr/>
          </a:p>
        </p:txBody>
      </p:sp>
      <p:sp>
        <p:nvSpPr>
          <p:cNvPr id="1022" name="Badge8"/>
          <p:cNvSpPr/>
          <p:nvPr/>
        </p:nvSpPr>
        <p:spPr>
          <a:xfrm>
            <a:off x="9245600" y="4419600"/>
            <a:ext cx="457200" cy="4572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23" name="CardText8"/>
          <p:cNvSpPr txBox="1"/>
          <p:nvPr/>
        </p:nvSpPr>
        <p:spPr>
          <a:xfrm>
            <a:off x="9245600" y="5029200"/>
            <a:ext cx="227330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Security</a:t>
            </a:r>
          </a:p>
          <a:p>
            <a:pPr>
              <a:buNone/>
            </a:pPr>
            <a:r>
              <a:rPr lang="en-US" sz="1400" dirty="0">
                <a:solidFill>
                  <a:srgbClr val="6E6E6E"/>
                </a:solidFill>
              </a:rPr>
              <a:t>Injection, CSRF, TLS, least privilege</a:t>
            </a:r>
          </a:p>
        </p:txBody>
      </p:sp>
    </p:spTree>
    <p:extLst>
      <p:ext uri="{BB962C8B-B14F-4D97-AF65-F5344CB8AC3E}">
        <p14:creationId xmlns:p14="http://schemas.microsoft.com/office/powerpoint/2010/main" val="114377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912F-1D1A-CE7D-E6A4-3E35B0FD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Severity Levels &amp; Cloud Manager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26CD-B94E-5371-4678-83467E436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7B1A1F"/>
                </a:solidFill>
              </a:rPr>
              <a:t>BLOCKER</a:t>
            </a:r>
            <a:r>
              <a:rPr lang="en-US" sz="1500" dirty="0">
                <a:solidFill>
                  <a:srgbClr val="2C3E50"/>
                </a:solidFill>
              </a:rPr>
              <a:t>   —   Build stops immediately. Cannot be overridden.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6E6E6E"/>
                </a:solidFill>
              </a:rPr>
              <a:t>e.g. OAKPAL-002 writes to /libs · SEC-002 default password · SEC-005 no TLS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D7373F"/>
                </a:solidFill>
              </a:rPr>
              <a:t>CRITICAL</a:t>
            </a:r>
            <a:r>
              <a:rPr lang="en-US" sz="1500" dirty="0">
                <a:solidFill>
                  <a:srgbClr val="2C3E50"/>
                </a:solidFill>
              </a:rPr>
              <a:t>   —   Hard stop in pipeline. Code must be fixed.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6E6E6E"/>
                </a:solidFill>
              </a:rPr>
              <a:t>e.g. S2095 resources · S2885 thread safety · DISP-003 author exposed · SEC-001 query injection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E68619"/>
                </a:solidFill>
              </a:rPr>
              <a:t>IMPORTANT</a:t>
            </a:r>
            <a:r>
              <a:rPr lang="en-US" sz="1500" dirty="0">
                <a:solidFill>
                  <a:srgbClr val="2C3E50"/>
                </a:solidFill>
              </a:rPr>
              <a:t>   —   Pipeline pauses. Deployment Manager / Business Owner can override.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6E6E6E"/>
                </a:solidFill>
              </a:rPr>
              <a:t>e.g. JaCoCo coverage </a:t>
            </a:r>
          </a:p>
        </p:txBody>
      </p:sp>
    </p:spTree>
    <p:extLst>
      <p:ext uri="{BB962C8B-B14F-4D97-AF65-F5344CB8AC3E}">
        <p14:creationId xmlns:p14="http://schemas.microsoft.com/office/powerpoint/2010/main" val="156147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824C-8669-CAFF-CE6B-88C8417F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SonarQube </a:t>
            </a:r>
            <a:r>
              <a:rPr lang="en-US" sz="3200" b="1" dirty="0">
                <a:solidFill>
                  <a:srgbClr val="D7373F"/>
                </a:solidFill>
              </a:rPr>
              <a:t>— Critical Bugs</a:t>
            </a:r>
          </a:p>
        </p:txBody>
      </p:sp>
      <p:sp>
        <p:nvSpPr>
          <p:cNvPr id="1000" name="C00"/>
          <p:cNvSpPr/>
          <p:nvPr/>
        </p:nvSpPr>
        <p:spPr>
          <a:xfrm>
            <a:off x="508000" y="1905000"/>
            <a:ext cx="53975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01" name="Bar00"/>
          <p:cNvSpPr/>
          <p:nvPr/>
        </p:nvSpPr>
        <p:spPr>
          <a:xfrm>
            <a:off x="508000" y="1905000"/>
            <a:ext cx="63500" cy="2095500"/>
          </a:xfrm>
          <a:prstGeom prst="rect">
            <a:avLst/>
          </a:prstGeom>
          <a:solidFill>
            <a:srgbClr val="D737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" name="T00"/>
          <p:cNvSpPr txBox="1"/>
          <p:nvPr/>
        </p:nvSpPr>
        <p:spPr>
          <a:xfrm>
            <a:off x="762000" y="2082800"/>
            <a:ext cx="5016500" cy="1816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200"/>
              </a:spcAft>
              <a:buNone/>
            </a:pPr>
            <a:r>
              <a:rPr lang="en-US" sz="1300" b="1" dirty="0">
                <a:latin typeface="Consolas"/>
              </a:rPr>
              <a:t>java:S2095</a:t>
            </a:r>
            <a:r>
              <a:rPr lang="en-US" sz="1700" b="1" dirty="0">
                <a:solidFill>
                  <a:srgbClr val="0F1B2D"/>
                </a:solidFill>
              </a:rPr>
              <a:t>   Resources Should Be Closed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E6E6E"/>
                </a:solidFill>
              </a:rPr>
              <a:t>Risk · </a:t>
            </a:r>
            <a:r>
              <a:rPr lang="en-US" sz="1400" dirty="0">
                <a:solidFill>
                  <a:srgbClr val="2C3E50"/>
                </a:solidFill>
              </a:rPr>
              <a:t>ResourceResolver / Session / InputStream left open</a:t>
            </a:r>
          </a:p>
          <a:p>
            <a:pPr>
              <a:buNone/>
            </a:pPr>
            <a:r>
              <a:rPr lang="en-US" sz="1400" b="1" dirty="0">
                <a:solidFill>
                  <a:srgbClr val="268E6C"/>
                </a:solidFill>
              </a:rPr>
              <a:t>Fix · </a:t>
            </a:r>
            <a:r>
              <a:rPr lang="en-US" sz="1400" dirty="0">
                <a:solidFill>
                  <a:srgbClr val="2C3E50"/>
                </a:solidFill>
              </a:rPr>
              <a:t>try-with-resources — guarantees closure on exception</a:t>
            </a:r>
          </a:p>
        </p:txBody>
      </p:sp>
      <p:sp>
        <p:nvSpPr>
          <p:cNvPr id="1003" name="C10"/>
          <p:cNvSpPr/>
          <p:nvPr/>
        </p:nvSpPr>
        <p:spPr>
          <a:xfrm>
            <a:off x="6286500" y="1905000"/>
            <a:ext cx="53975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04" name="Bar10"/>
          <p:cNvSpPr/>
          <p:nvPr/>
        </p:nvSpPr>
        <p:spPr>
          <a:xfrm>
            <a:off x="6286500" y="1905000"/>
            <a:ext cx="63500" cy="2095500"/>
          </a:xfrm>
          <a:prstGeom prst="rect">
            <a:avLst/>
          </a:prstGeom>
          <a:solidFill>
            <a:srgbClr val="D737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5" name="T10"/>
          <p:cNvSpPr txBox="1"/>
          <p:nvPr/>
        </p:nvSpPr>
        <p:spPr>
          <a:xfrm>
            <a:off x="6540500" y="2082800"/>
            <a:ext cx="5016500" cy="1816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200"/>
              </a:spcAft>
              <a:buNone/>
            </a:pPr>
            <a:r>
              <a:rPr lang="en-US" sz="1300" b="1" dirty="0">
                <a:latin typeface="Consolas"/>
              </a:rPr>
              <a:t>java:S2885</a:t>
            </a:r>
            <a:r>
              <a:rPr lang="en-US" sz="1700" b="1" dirty="0">
                <a:solidFill>
                  <a:srgbClr val="0F1B2D"/>
                </a:solidFill>
              </a:rPr>
              <a:t>   Thread Safety in OSGi Services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E6E6E"/>
                </a:solidFill>
              </a:rPr>
              <a:t>Risk · </a:t>
            </a:r>
            <a:r>
              <a:rPr lang="en-US" sz="1400" dirty="0">
                <a:solidFill>
                  <a:srgbClr val="2C3E50"/>
                </a:solidFill>
              </a:rPr>
              <a:t>Mutable instance fields in @Component singletons</a:t>
            </a:r>
          </a:p>
          <a:p>
            <a:pPr>
              <a:buNone/>
            </a:pPr>
            <a:r>
              <a:rPr lang="en-US" sz="1400" b="1" dirty="0">
                <a:solidFill>
                  <a:srgbClr val="268E6C"/>
                </a:solidFill>
              </a:rPr>
              <a:t>Fix · </a:t>
            </a:r>
            <a:r>
              <a:rPr lang="en-US" sz="1400" dirty="0">
                <a:solidFill>
                  <a:srgbClr val="2C3E50"/>
                </a:solidFill>
              </a:rPr>
              <a:t>ConcurrentHashMap, CopyOnWriteArrayList, or stay stateless</a:t>
            </a:r>
          </a:p>
        </p:txBody>
      </p:sp>
      <p:sp>
        <p:nvSpPr>
          <p:cNvPr id="1006" name="C01"/>
          <p:cNvSpPr/>
          <p:nvPr/>
        </p:nvSpPr>
        <p:spPr>
          <a:xfrm>
            <a:off x="508000" y="4318000"/>
            <a:ext cx="53975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07" name="Bar01"/>
          <p:cNvSpPr/>
          <p:nvPr/>
        </p:nvSpPr>
        <p:spPr>
          <a:xfrm>
            <a:off x="508000" y="4318000"/>
            <a:ext cx="63500" cy="2095500"/>
          </a:xfrm>
          <a:prstGeom prst="rect">
            <a:avLst/>
          </a:prstGeom>
          <a:solidFill>
            <a:srgbClr val="D737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8" name="T01"/>
          <p:cNvSpPr txBox="1"/>
          <p:nvPr/>
        </p:nvSpPr>
        <p:spPr>
          <a:xfrm>
            <a:off x="762000" y="4495800"/>
            <a:ext cx="5016500" cy="1816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200"/>
              </a:spcAft>
              <a:buNone/>
            </a:pPr>
            <a:r>
              <a:rPr lang="en-US" sz="1300" b="1" dirty="0">
                <a:latin typeface="Consolas"/>
              </a:rPr>
              <a:t>java:S2259</a:t>
            </a:r>
            <a:r>
              <a:rPr lang="en-US" sz="1700" b="1" dirty="0">
                <a:solidFill>
                  <a:srgbClr val="0F1B2D"/>
                </a:solidFill>
              </a:rPr>
              <a:t>   Null Pointer Dereference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E6E6E"/>
                </a:solidFill>
              </a:rPr>
              <a:t>Risk · </a:t>
            </a:r>
            <a:r>
              <a:rPr lang="en-US" sz="1400" dirty="0">
                <a:solidFill>
                  <a:srgbClr val="2C3E50"/>
                </a:solidFill>
              </a:rPr>
              <a:t>adaptTo(), getChild(), getResource() may return null</a:t>
            </a:r>
          </a:p>
          <a:p>
            <a:pPr>
              <a:buNone/>
            </a:pPr>
            <a:r>
              <a:rPr lang="en-US" sz="1400" b="1" dirty="0">
                <a:solidFill>
                  <a:srgbClr val="268E6C"/>
                </a:solidFill>
              </a:rPr>
              <a:t>Fix · </a:t>
            </a:r>
            <a:r>
              <a:rPr lang="en-US" sz="1400" dirty="0">
                <a:solidFill>
                  <a:srgbClr val="2C3E50"/>
                </a:solidFill>
              </a:rPr>
              <a:t>Always null-check Sling/JCR API results</a:t>
            </a:r>
          </a:p>
        </p:txBody>
      </p:sp>
      <p:sp>
        <p:nvSpPr>
          <p:cNvPr id="1009" name="C11"/>
          <p:cNvSpPr/>
          <p:nvPr/>
        </p:nvSpPr>
        <p:spPr>
          <a:xfrm>
            <a:off x="6286500" y="4318000"/>
            <a:ext cx="53975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10" name="Bar11"/>
          <p:cNvSpPr/>
          <p:nvPr/>
        </p:nvSpPr>
        <p:spPr>
          <a:xfrm>
            <a:off x="6286500" y="4318000"/>
            <a:ext cx="63500" cy="2095500"/>
          </a:xfrm>
          <a:prstGeom prst="rect">
            <a:avLst/>
          </a:prstGeom>
          <a:solidFill>
            <a:srgbClr val="D737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1" name="T11"/>
          <p:cNvSpPr txBox="1"/>
          <p:nvPr/>
        </p:nvSpPr>
        <p:spPr>
          <a:xfrm>
            <a:off x="6540500" y="4495800"/>
            <a:ext cx="5016500" cy="1816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200"/>
              </a:spcAft>
              <a:buNone/>
            </a:pPr>
            <a:r>
              <a:rPr lang="en-US" sz="1300" b="1" dirty="0">
                <a:latin typeface="Consolas"/>
              </a:rPr>
              <a:t>java:S2068</a:t>
            </a:r>
            <a:r>
              <a:rPr lang="en-US" sz="1700" b="1" dirty="0">
                <a:solidFill>
                  <a:srgbClr val="0F1B2D"/>
                </a:solidFill>
              </a:rPr>
              <a:t>   Hardcoded Credentials</a:t>
            </a:r>
          </a:p>
          <a:p>
            <a:pPr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E6E6E"/>
                </a:solidFill>
              </a:rPr>
              <a:t>Risk · </a:t>
            </a:r>
            <a:r>
              <a:rPr lang="en-US" sz="1400" dirty="0">
                <a:solidFill>
                  <a:srgbClr val="2C3E50"/>
                </a:solidFill>
              </a:rPr>
              <a:t>Passwords / API keys committed to source</a:t>
            </a:r>
          </a:p>
          <a:p>
            <a:pPr>
              <a:buNone/>
            </a:pPr>
            <a:r>
              <a:rPr lang="en-US" sz="1400" b="1" dirty="0">
                <a:solidFill>
                  <a:srgbClr val="268E6C"/>
                </a:solidFill>
              </a:rPr>
              <a:t>Fix · </a:t>
            </a:r>
            <a:r>
              <a:rPr lang="en-US" sz="1400" dirty="0">
                <a:solidFill>
                  <a:srgbClr val="2C3E50"/>
                </a:solidFill>
              </a:rPr>
              <a:t>OSGi config + AEM Crypto, or Cloud Manager env vars</a:t>
            </a:r>
          </a:p>
        </p:txBody>
      </p:sp>
    </p:spTree>
    <p:extLst>
      <p:ext uri="{BB962C8B-B14F-4D97-AF65-F5344CB8AC3E}">
        <p14:creationId xmlns:p14="http://schemas.microsoft.com/office/powerpoint/2010/main" val="331183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84E6-BD37-4E9D-81D4-4E2D24B8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SonarQube </a:t>
            </a:r>
            <a:r>
              <a:rPr lang="en-US" sz="3200" b="1" dirty="0">
                <a:solidFill>
                  <a:srgbClr val="E68619"/>
                </a:solidFill>
              </a:rPr>
              <a:t>— Code Smells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420F-30A5-80AB-4AB9-0D71B6E59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280"/>
              </a:spcAft>
              <a:buNone/>
            </a:pPr>
            <a:r>
              <a:rPr lang="en-US" sz="1500" b="1" dirty="0">
                <a:latin typeface="Consolas"/>
              </a:rPr>
              <a:t>S1541</a:t>
            </a:r>
            <a:r>
              <a:rPr lang="en-US" sz="1500" b="1" dirty="0">
                <a:solidFill>
                  <a:srgbClr val="0F1B2D"/>
                </a:solidFill>
              </a:rPr>
              <a:t>   Cyclomatic Complexity</a:t>
            </a:r>
            <a:r>
              <a:rPr lang="en-US" sz="1500" dirty="0">
                <a:solidFill>
                  <a:srgbClr val="6E6E6E"/>
                </a:solidFill>
              </a:rPr>
              <a:t>   ·   Extract methods · keep functions ≤ 10 branches</a:t>
            </a:r>
          </a:p>
          <a:p>
            <a:pPr marL="0" indent="0">
              <a:spcAft>
                <a:spcPts val="280"/>
              </a:spcAft>
              <a:buNone/>
            </a:pPr>
            <a:r>
              <a:rPr lang="en-US" sz="1500" b="1" dirty="0">
                <a:latin typeface="Consolas"/>
              </a:rPr>
              <a:t>S00108</a:t>
            </a:r>
            <a:r>
              <a:rPr lang="en-US" sz="1500" b="1" dirty="0">
                <a:solidFill>
                  <a:srgbClr val="0F1B2D"/>
                </a:solidFill>
              </a:rPr>
              <a:t>   Empty Catch Blocks</a:t>
            </a:r>
            <a:r>
              <a:rPr lang="en-US" sz="1500" dirty="0">
                <a:solidFill>
                  <a:srgbClr val="6E6E6E"/>
                </a:solidFill>
              </a:rPr>
              <a:t>   ·   Log + handle, or rethrow — never swallow</a:t>
            </a:r>
          </a:p>
          <a:p>
            <a:pPr marL="0" indent="0">
              <a:spcAft>
                <a:spcPts val="280"/>
              </a:spcAft>
              <a:buNone/>
            </a:pPr>
            <a:r>
              <a:rPr lang="en-US" sz="1500" b="1" dirty="0">
                <a:latin typeface="Consolas"/>
              </a:rPr>
              <a:t>S1166</a:t>
            </a:r>
          </a:p>
        </p:txBody>
      </p:sp>
    </p:spTree>
    <p:extLst>
      <p:ext uri="{BB962C8B-B14F-4D97-AF65-F5344CB8AC3E}">
        <p14:creationId xmlns:p14="http://schemas.microsoft.com/office/powerpoint/2010/main" val="55920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43E-0ECC-98B9-FE2E-30AF3BCA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AEM </a:t>
            </a:r>
            <a:r>
              <a:rPr lang="en-US" sz="3200" b="1" dirty="0">
                <a:solidFill>
                  <a:srgbClr val="1473E6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B27E-8A07-C00F-DCAF-81E231E27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Resolver lifecycle</a:t>
            </a:r>
            <a:r>
              <a:rPr lang="en-US" sz="1700" dirty="0">
                <a:solidFill>
                  <a:srgbClr val="6E6E6E"/>
                </a:solidFill>
              </a:rPr>
              <a:t>   —   Use try-with-resources — never leak ResourceResolver / Session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Service users, not admin</a:t>
            </a:r>
            <a:r>
              <a:rPr lang="en-US" sz="1700" dirty="0">
                <a:solidFill>
                  <a:srgbClr val="6E6E6E"/>
                </a:solidFill>
              </a:rPr>
              <a:t>   —   loginAdministrative() is forbidden — bind a service user with subservice mapping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Sling Models over WCMUsePojo</a:t>
            </a:r>
            <a:r>
              <a:rPr lang="en-US" sz="1700" dirty="0">
                <a:solidFill>
                  <a:srgbClr val="6E6E6E"/>
                </a:solidFill>
              </a:rPr>
              <a:t>   —   Cleaner injection, testable, supports adapter framework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High-level APIs first</a:t>
            </a:r>
            <a:r>
              <a:rPr lang="en-US" sz="1700" dirty="0">
                <a:solidFill>
                  <a:srgbClr val="6E6E6E"/>
                </a:solidFill>
              </a:rPr>
              <a:t>   —   Prefer ResourceResolver / PageManager over raw JCR Session/Node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Externalize paths</a:t>
            </a:r>
            <a:r>
              <a:rPr lang="en-US" sz="1700" dirty="0">
                <a:solidFill>
                  <a:srgbClr val="6E6E6E"/>
                </a:solidFill>
              </a:rPr>
              <a:t>   —   Never hardcode /content/site/en — use Externalizer + locale resolution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700" b="1" dirty="0">
                <a:solidFill>
                  <a:srgbClr val="1473E6"/>
                </a:solidFill>
              </a:rPr>
              <a:t>▸ </a:t>
            </a:r>
            <a:r>
              <a:rPr lang="en-US" sz="1700" b="1" dirty="0">
                <a:solidFill>
                  <a:srgbClr val="0F1B2D"/>
                </a:solidFill>
              </a:rPr>
              <a:t>OSGi lifecycle hooks</a:t>
            </a:r>
            <a:r>
              <a:rPr lang="en-US" sz="1700" dirty="0">
                <a:solidFill>
                  <a:srgbClr val="6E6E6E"/>
                </a:solidFill>
              </a:rPr>
              <a:t>   —   Implement @Activate / @Deactivate — release schedulers, listeners, threads</a:t>
            </a:r>
          </a:p>
        </p:txBody>
      </p:sp>
    </p:spTree>
    <p:extLst>
      <p:ext uri="{BB962C8B-B14F-4D97-AF65-F5344CB8AC3E}">
        <p14:creationId xmlns:p14="http://schemas.microsoft.com/office/powerpoint/2010/main" val="1044653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9296-7A9E-1CF6-2443-23625D1A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OakPAL </a:t>
            </a:r>
            <a:r>
              <a:rPr lang="en-US" sz="3200" b="1" dirty="0">
                <a:solidFill>
                  <a:srgbClr val="1473E6"/>
                </a:solidFill>
              </a:rPr>
              <a:t>— Content Package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F581-3DB8-5B2E-36E4-CD2C7C5E1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OAKPAL-001</a:t>
            </a:r>
            <a:r>
              <a:rPr lang="en-US" sz="1400" b="1" dirty="0">
                <a:solidFill>
                  <a:srgbClr val="0F1B2D"/>
                </a:solidFill>
              </a:rPr>
              <a:t>   Filter scope too broad</a:t>
            </a:r>
            <a:r>
              <a:rPr lang="en-US" sz="1400" dirty="0">
                <a:solidFill>
                  <a:srgbClr val="6E6E6E"/>
                </a:solidFill>
              </a:rPr>
              <a:t>   ·   Filters must target specific paths — never /content alone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OAKPAL-002</a:t>
            </a:r>
            <a:r>
              <a:rPr lang="en-US" sz="1400" b="1" dirty="0">
                <a:solidFill>
                  <a:srgbClr val="0F1B2D"/>
                </a:solidFill>
              </a:rPr>
              <a:t>   Writes under /libs</a:t>
            </a:r>
            <a:r>
              <a:rPr lang="en-US" sz="1400" dirty="0">
                <a:solidFill>
                  <a:srgbClr val="6E6E6E"/>
                </a:solidFill>
              </a:rPr>
              <a:t>   ·   /libs is read-only — overlay under /apps instead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—</a:t>
            </a:r>
            <a:r>
              <a:rPr lang="en-US" sz="1400" b="1" dirty="0">
                <a:solidFill>
                  <a:srgbClr val="0F1B2D"/>
                </a:solidFill>
              </a:rPr>
              <a:t>   RequiredPrimaryType</a:t>
            </a:r>
            <a:r>
              <a:rPr lang="en-US" sz="1400" dirty="0">
                <a:solidFill>
                  <a:srgbClr val="6E6E6E"/>
                </a:solidFill>
              </a:rPr>
              <a:t>   ·   Every node needs a valid jcr:primaryType (cq:Page, nt:unstructured, …)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—</a:t>
            </a:r>
            <a:r>
              <a:rPr lang="en-US" sz="1400" b="1" dirty="0">
                <a:solidFill>
                  <a:srgbClr val="0F1B2D"/>
                </a:solidFill>
              </a:rPr>
              <a:t>   ImmutableApps</a:t>
            </a:r>
            <a:r>
              <a:rPr lang="en-US" sz="1400" dirty="0">
                <a:solidFill>
                  <a:srgbClr val="6E6E6E"/>
                </a:solidFill>
              </a:rPr>
              <a:t>   ·   /apps and /libs are immutable on AEM as a Cloud Service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OAKPAL-005</a:t>
            </a:r>
            <a:r>
              <a:rPr lang="en-US" sz="1400" b="1" dirty="0">
                <a:solidFill>
                  <a:srgbClr val="0F1B2D"/>
                </a:solidFill>
              </a:rPr>
              <a:t>   Package overlap</a:t>
            </a:r>
            <a:r>
              <a:rPr lang="en-US" sz="1400" dirty="0">
                <a:solidFill>
                  <a:srgbClr val="6E6E6E"/>
                </a:solidFill>
              </a:rPr>
              <a:t>   ·   Two packages writing the same path → install order races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OAKPAL-006</a:t>
            </a:r>
            <a:r>
              <a:rPr lang="en-US" sz="1400" b="1" dirty="0">
                <a:solidFill>
                  <a:srgbClr val="0F1B2D"/>
                </a:solidFill>
              </a:rPr>
              <a:t>   rep:policy in packages</a:t>
            </a:r>
            <a:r>
              <a:rPr lang="en-US" sz="1400" dirty="0">
                <a:solidFill>
                  <a:srgbClr val="6E6E6E"/>
                </a:solidFill>
              </a:rPr>
              <a:t>   ·   Ship ACLs separately — never bundle with content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OAKPAL-007</a:t>
            </a:r>
            <a:r>
              <a:rPr lang="en-US" sz="1400" b="1" dirty="0">
                <a:solidFill>
                  <a:srgbClr val="0F1B2D"/>
                </a:solidFill>
              </a:rPr>
              <a:t>   /var writes</a:t>
            </a:r>
            <a:r>
              <a:rPr lang="en-US" sz="1400" dirty="0">
                <a:solidFill>
                  <a:srgbClr val="6E6E6E"/>
                </a:solidFill>
              </a:rPr>
              <a:t>   ·   /var is runtime-only — not deployable, not replicated</a:t>
            </a:r>
          </a:p>
          <a:p>
            <a:pPr marL="0" indent="0">
              <a:spcAft>
                <a:spcPts val="240"/>
              </a:spcAft>
              <a:buNone/>
            </a:pPr>
            <a:r>
              <a:rPr lang="en-US" sz="1400" b="1" dirty="0">
                <a:latin typeface="Consolas"/>
              </a:rPr>
              <a:t>OAKPAL-008</a:t>
            </a:r>
            <a:r>
              <a:rPr lang="en-US" sz="1400" b="1" dirty="0">
                <a:solidFill>
                  <a:srgbClr val="0F1B2D"/>
                </a:solidFill>
              </a:rPr>
              <a:t>   Clientlib naming</a:t>
            </a:r>
            <a:r>
              <a:rPr lang="en-US" sz="1400" dirty="0">
                <a:solidFill>
                  <a:srgbClr val="6E6E6E"/>
                </a:solidFill>
              </a:rPr>
              <a:t>   ·   categories must be unique, lowercase, dot-namespaced</a:t>
            </a:r>
          </a:p>
        </p:txBody>
      </p:sp>
    </p:spTree>
    <p:extLst>
      <p:ext uri="{BB962C8B-B14F-4D97-AF65-F5344CB8AC3E}">
        <p14:creationId xmlns:p14="http://schemas.microsoft.com/office/powerpoint/2010/main" val="337270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AFC2-6EDC-9556-BDCB-E50026CB0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HTL / Sightly </a:t>
            </a:r>
            <a:r>
              <a:rPr lang="en-US" sz="3200" b="1" dirty="0">
                <a:solidFill>
                  <a:srgbClr val="D7373F"/>
                </a:solidFill>
              </a:rPr>
              <a:t>— XSS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8DBC-CDFC-F3F1-601A-15235193B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HTL-001</a:t>
            </a:r>
            <a:r>
              <a:rPr lang="en-US" sz="1600" b="1" dirty="0">
                <a:solidFill>
                  <a:srgbClr val="0F1B2D"/>
                </a:solidFill>
              </a:rPr>
              <a:t>   Unsafe context</a:t>
            </a:r>
            <a:r>
              <a:rPr lang="en-US" sz="1600" dirty="0">
                <a:solidFill>
                  <a:srgbClr val="6E6E6E"/>
                </a:solidFill>
              </a:rPr>
              <a:t>   ·   Never use </a:t>
            </a:r>
            <a:r>
              <a:rPr lang="en-US" sz="1500" dirty="0">
                <a:latin typeface="Consolas"/>
              </a:rPr>
              <a:t>@ context='unsafe'</a:t>
            </a:r>
            <a:r>
              <a:rPr lang="en-US" sz="1600" dirty="0">
                <a:solidFill>
                  <a:srgbClr val="6E6E6E"/>
                </a:solidFill>
              </a:rPr>
              <a:t> — disables XSS protection entirely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HTL-002</a:t>
            </a:r>
            <a:r>
              <a:rPr lang="en-US" sz="1600" b="1" dirty="0">
                <a:solidFill>
                  <a:srgbClr val="0F1B2D"/>
                </a:solidFill>
              </a:rPr>
              <a:t>   data-sly-use logic</a:t>
            </a:r>
            <a:r>
              <a:rPr lang="en-US" sz="1600" dirty="0">
                <a:solidFill>
                  <a:srgbClr val="6E6E6E"/>
                </a:solidFill>
              </a:rPr>
              <a:t>   ·   Reserve data-sly-use for Java/JS logic — not server-side scripting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HTL-003</a:t>
            </a:r>
            <a:r>
              <a:rPr lang="en-US" sz="1600" b="1" dirty="0">
                <a:solidFill>
                  <a:srgbClr val="0F1B2D"/>
                </a:solidFill>
              </a:rPr>
              <a:t>   URI context for links</a:t>
            </a:r>
            <a:r>
              <a:rPr lang="en-US" sz="1600" dirty="0">
                <a:solidFill>
                  <a:srgbClr val="6E6E6E"/>
                </a:solidFill>
              </a:rPr>
              <a:t>   ·   Use </a:t>
            </a:r>
            <a:r>
              <a:rPr lang="en-US" sz="1500" dirty="0">
                <a:latin typeface="Consolas"/>
              </a:rPr>
              <a:t>@ context='uri'</a:t>
            </a:r>
            <a:r>
              <a:rPr lang="en-US" sz="1600" dirty="0">
                <a:solidFill>
                  <a:srgbClr val="6E6E6E"/>
                </a:solidFill>
              </a:rPr>
              <a:t> on hrefs and src attributes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HTL-004</a:t>
            </a:r>
            <a:r>
              <a:rPr lang="en-US" sz="1600" b="1" dirty="0">
                <a:solidFill>
                  <a:srgbClr val="0F1B2D"/>
                </a:solidFill>
              </a:rPr>
              <a:t>   Script context</a:t>
            </a:r>
            <a:r>
              <a:rPr lang="en-US" sz="1600" dirty="0">
                <a:solidFill>
                  <a:srgbClr val="6E6E6E"/>
                </a:solidFill>
              </a:rPr>
              <a:t>   ·   </a:t>
            </a:r>
            <a:r>
              <a:rPr lang="en-US" sz="1500" dirty="0">
                <a:latin typeface="Consolas"/>
              </a:rPr>
              <a:t>@ context='scriptString'</a:t>
            </a:r>
            <a:r>
              <a:rPr lang="en-US" sz="1600" dirty="0">
                <a:solidFill>
                  <a:srgbClr val="6E6E6E"/>
                </a:solidFill>
              </a:rPr>
              <a:t> for inline JS — never raw output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HTL-005</a:t>
            </a:r>
            <a:r>
              <a:rPr lang="en-US" sz="1600" b="1" dirty="0">
                <a:solidFill>
                  <a:srgbClr val="0F1B2D"/>
                </a:solidFill>
              </a:rPr>
              <a:t>   Clientlib references</a:t>
            </a:r>
            <a:r>
              <a:rPr lang="en-US" sz="1600" dirty="0">
                <a:solidFill>
                  <a:srgbClr val="6E6E6E"/>
                </a:solidFill>
              </a:rPr>
              <a:t>   ·   Use data-sly-call for clientlibs.js/css — preserves dependencies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500" i="1" dirty="0">
                <a:solidFill>
                  <a:srgbClr val="1473E6"/>
                </a:solidFill>
              </a:rPr>
              <a:t>HTL escapes by default — explicit context overrides are the dangerous part.</a:t>
            </a:r>
          </a:p>
        </p:txBody>
      </p:sp>
    </p:spTree>
    <p:extLst>
      <p:ext uri="{BB962C8B-B14F-4D97-AF65-F5344CB8AC3E}">
        <p14:creationId xmlns:p14="http://schemas.microsoft.com/office/powerpoint/2010/main" val="6251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FF86-4F80-FF9C-E811-7736D9E2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OSGi / Felix </a:t>
            </a:r>
            <a:r>
              <a:rPr lang="en-US" sz="3200" b="1" dirty="0">
                <a:solidFill>
                  <a:srgbClr val="1473E6"/>
                </a:solidFill>
              </a:rPr>
              <a:t>— Module Discipline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B129E-3C85-775F-8841-7901B3A8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OSGI-001</a:t>
            </a:r>
            <a:r>
              <a:rPr lang="en-US" sz="1500" b="1" dirty="0">
                <a:solidFill>
                  <a:srgbClr val="0F1B2D"/>
                </a:solidFill>
              </a:rPr>
              <a:t>   Explicit imports</a:t>
            </a:r>
            <a:r>
              <a:rPr lang="en-US" sz="1500" dirty="0">
                <a:solidFill>
                  <a:srgbClr val="6E6E6E"/>
                </a:solidFill>
              </a:rPr>
              <a:t>   ·   No wildcard packages — bnd should resolve every Import-Package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OSGI-002</a:t>
            </a:r>
            <a:r>
              <a:rPr lang="en-US" sz="1500" b="1" dirty="0">
                <a:solidFill>
                  <a:srgbClr val="0F1B2D"/>
                </a:solidFill>
              </a:rPr>
              <a:t>   Provided scope</a:t>
            </a:r>
            <a:r>
              <a:rPr lang="en-US" sz="1500" dirty="0">
                <a:solidFill>
                  <a:srgbClr val="6E6E6E"/>
                </a:solidFill>
              </a:rPr>
              <a:t>   ·   AEM-supplied APIs (Sling, Granite, Jackrabbit) → Maven scope=provided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—</a:t>
            </a:r>
            <a:r>
              <a:rPr lang="en-US" sz="1500" b="1" dirty="0">
                <a:solidFill>
                  <a:srgbClr val="0F1B2D"/>
                </a:solidFill>
              </a:rPr>
              <a:t>   @Reference defaults</a:t>
            </a:r>
            <a:r>
              <a:rPr lang="en-US" sz="1500" dirty="0">
                <a:solidFill>
                  <a:srgbClr val="6E6E6E"/>
                </a:solidFill>
              </a:rPr>
              <a:t>   ·   Set cardinality + policy explicitly — defaults change behaviour silently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OSGI-005</a:t>
            </a:r>
            <a:r>
              <a:rPr lang="en-US" sz="1500" b="1" dirty="0">
                <a:solidFill>
                  <a:srgbClr val="0F1B2D"/>
                </a:solidFill>
              </a:rPr>
              <a:t>   Version ranges</a:t>
            </a:r>
            <a:r>
              <a:rPr lang="en-US" sz="1500" dirty="0">
                <a:solidFill>
                  <a:srgbClr val="6E6E6E"/>
                </a:solidFill>
              </a:rPr>
              <a:t>   ·   Pin Import-Package ranges — avoid open-ended imports like (1.0,)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OSGI-006</a:t>
            </a:r>
            <a:r>
              <a:rPr lang="en-US" sz="1500" b="1" dirty="0">
                <a:solidFill>
                  <a:srgbClr val="0F1B2D"/>
                </a:solidFill>
              </a:rPr>
              <a:t>   Classloader leaks</a:t>
            </a:r>
            <a:r>
              <a:rPr lang="en-US" sz="1500" dirty="0">
                <a:solidFill>
                  <a:srgbClr val="6E6E6E"/>
                </a:solidFill>
              </a:rPr>
              <a:t>   ·   Don't cache classes from other bundles — they vanish on bundle restart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—</a:t>
            </a:r>
            <a:r>
              <a:rPr lang="en-US" sz="1500" b="1" dirty="0">
                <a:solidFill>
                  <a:srgbClr val="0F1B2D"/>
                </a:solidFill>
              </a:rPr>
              <a:t>   Scheduler &amp; deactivate</a:t>
            </a:r>
            <a:r>
              <a:rPr lang="en-US" sz="1500" dirty="0">
                <a:solidFill>
                  <a:srgbClr val="6E6E6E"/>
                </a:solidFill>
              </a:rPr>
              <a:t>   ·   Cancel jobs in @Deactivate — orphaned schedulers crash the platform</a:t>
            </a:r>
          </a:p>
        </p:txBody>
      </p:sp>
    </p:spTree>
    <p:extLst>
      <p:ext uri="{BB962C8B-B14F-4D97-AF65-F5344CB8AC3E}">
        <p14:creationId xmlns:p14="http://schemas.microsoft.com/office/powerpoint/2010/main" val="354723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0604-CA6A-0D79-7F2C-D89D8CBD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Dispatcher </a:t>
            </a:r>
            <a:r>
              <a:rPr lang="en-US" sz="3200" b="1" dirty="0">
                <a:solidFill>
                  <a:srgbClr val="D7373F"/>
                </a:solidFill>
              </a:rPr>
              <a:t>— HTTP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959A-3D39-825C-58F3-2A68F207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DISP-001</a:t>
            </a:r>
            <a:r>
              <a:rPr lang="en-US" sz="1500" b="1" dirty="0">
                <a:solidFill>
                  <a:srgbClr val="0F1B2D"/>
                </a:solidFill>
              </a:rPr>
              <a:t>   Validate every request</a:t>
            </a:r>
            <a:r>
              <a:rPr lang="en-US" sz="1500" dirty="0">
                <a:solidFill>
                  <a:srgbClr val="6E6E6E"/>
                </a:solidFill>
              </a:rPr>
              <a:t>   ·   Whitelist methods, extensions, selectors — deny by default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DISP-003</a:t>
            </a:r>
            <a:r>
              <a:rPr lang="en-US" sz="1500" b="1" dirty="0">
                <a:solidFill>
                  <a:srgbClr val="0F1B2D"/>
                </a:solidFill>
              </a:rPr>
              <a:t>   Author isolation</a:t>
            </a:r>
            <a:r>
              <a:rPr lang="en-US" sz="1500" dirty="0">
                <a:solidFill>
                  <a:srgbClr val="6E6E6E"/>
                </a:solidFill>
              </a:rPr>
              <a:t>   ·   Author instance must never be reachable from public traffic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—</a:t>
            </a:r>
            <a:r>
              <a:rPr lang="en-US" sz="1500" b="1" dirty="0">
                <a:solidFill>
                  <a:srgbClr val="0F1B2D"/>
                </a:solidFill>
              </a:rPr>
              <a:t>   Block .infinity / bin / json</a:t>
            </a:r>
            <a:r>
              <a:rPr lang="en-US" sz="1500" dirty="0">
                <a:solidFill>
                  <a:srgbClr val="6E6E6E"/>
                </a:solidFill>
              </a:rPr>
              <a:t>   ·   Filter .infinity.json, .json, /bin/* — RCE and exfiltration vectors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DISP-005</a:t>
            </a:r>
            <a:r>
              <a:rPr lang="en-US" sz="1500" b="1" dirty="0">
                <a:solidFill>
                  <a:srgbClr val="0F1B2D"/>
                </a:solidFill>
              </a:rPr>
              <a:t>   Security headers</a:t>
            </a:r>
            <a:r>
              <a:rPr lang="en-US" sz="1500" dirty="0">
                <a:solidFill>
                  <a:srgbClr val="6E6E6E"/>
                </a:solidFill>
              </a:rPr>
              <a:t>   ·   HSTS, X-Frame-Options, CSP, X-Content-Type-Options at the dispatcher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—</a:t>
            </a:r>
            <a:r>
              <a:rPr lang="en-US" sz="1500" b="1" dirty="0">
                <a:solidFill>
                  <a:srgbClr val="0F1B2D"/>
                </a:solidFill>
              </a:rPr>
              <a:t>   Auth + caching</a:t>
            </a:r>
            <a:r>
              <a:rPr lang="en-US" sz="1500" dirty="0">
                <a:solidFill>
                  <a:srgbClr val="6E6E6E"/>
                </a:solidFill>
              </a:rPr>
              <a:t>   ·   Never cache authenticated responses — vary on Authorization header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DISP-006</a:t>
            </a:r>
            <a:r>
              <a:rPr lang="en-US" sz="1500" b="1" dirty="0">
                <a:solidFill>
                  <a:srgbClr val="0F1B2D"/>
                </a:solidFill>
              </a:rPr>
              <a:t>   Query string handling</a:t>
            </a:r>
            <a:r>
              <a:rPr lang="en-US" sz="1500" dirty="0">
                <a:solidFill>
                  <a:srgbClr val="6E6E6E"/>
                </a:solidFill>
              </a:rPr>
              <a:t>   ·   Strip or whitelist params — prevents cache poisoning and bypass</a:t>
            </a:r>
          </a:p>
        </p:txBody>
      </p:sp>
    </p:spTree>
    <p:extLst>
      <p:ext uri="{BB962C8B-B14F-4D97-AF65-F5344CB8AC3E}">
        <p14:creationId xmlns:p14="http://schemas.microsoft.com/office/powerpoint/2010/main" val="410176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821F-00E7-34C1-ADC2-78496125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Performance </a:t>
            </a:r>
            <a:r>
              <a:rPr lang="en-US" sz="3200" b="1" dirty="0">
                <a:solidFill>
                  <a:srgbClr val="268E6C"/>
                </a:solidFill>
              </a:rPr>
              <a:t>— JCR &amp;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F970-BD37-6E99-D11F-59124A793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PERF-001/002</a:t>
            </a:r>
            <a:r>
              <a:rPr lang="en-US" sz="1600" b="1" dirty="0">
                <a:solidFill>
                  <a:srgbClr val="0F1B2D"/>
                </a:solidFill>
              </a:rPr>
              <a:t>   Bound every query</a:t>
            </a:r>
            <a:r>
              <a:rPr lang="en-US" sz="1600" dirty="0">
                <a:solidFill>
                  <a:srgbClr val="6E6E6E"/>
                </a:solidFill>
              </a:rPr>
              <a:t>   ·   Always set .setLimit() — unbounded queries traverse the whole repo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PERF-005</a:t>
            </a:r>
            <a:r>
              <a:rPr lang="en-US" sz="1600" b="1" dirty="0">
                <a:solidFill>
                  <a:srgbClr val="0F1B2D"/>
                </a:solidFill>
              </a:rPr>
              <a:t>   Right index type</a:t>
            </a:r>
            <a:r>
              <a:rPr lang="en-US" sz="1600" dirty="0">
                <a:solidFill>
                  <a:srgbClr val="6E6E6E"/>
                </a:solidFill>
              </a:rPr>
              <a:t>   ·   Property = lookups · Lucene = full-text · Ordered = range scans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PERF-003</a:t>
            </a:r>
            <a:r>
              <a:rPr lang="en-US" sz="1600" b="1" dirty="0">
                <a:solidFill>
                  <a:srgbClr val="0F1B2D"/>
                </a:solidFill>
              </a:rPr>
              <a:t>   session.save() in loops</a:t>
            </a:r>
            <a:r>
              <a:rPr lang="en-US" sz="1600" dirty="0">
                <a:solidFill>
                  <a:srgbClr val="6E6E6E"/>
                </a:solidFill>
              </a:rPr>
              <a:t>   ·   Batch saves (1k nodes) — per-iteration save kills throughput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PERF-006</a:t>
            </a:r>
            <a:r>
              <a:rPr lang="en-US" sz="1600" b="1" dirty="0">
                <a:solidFill>
                  <a:srgbClr val="0F1B2D"/>
                </a:solidFill>
              </a:rPr>
              <a:t>   Lazy loading</a:t>
            </a:r>
            <a:r>
              <a:rPr lang="en-US" sz="1600" dirty="0">
                <a:solidFill>
                  <a:srgbClr val="6E6E6E"/>
                </a:solidFill>
              </a:rPr>
              <a:t>   ·   Don't pre-resolve PageManager.getChildren() trees — iterate</a:t>
            </a:r>
          </a:p>
          <a:p>
            <a:pPr marL="0" indent="0">
              <a:spcAft>
                <a:spcPts val="380"/>
              </a:spcAft>
              <a:buNone/>
            </a:pPr>
            <a:r>
              <a:rPr lang="en-US" sz="1600" b="1" dirty="0">
                <a:latin typeface="Consolas"/>
              </a:rPr>
              <a:t>—</a:t>
            </a:r>
            <a:r>
              <a:rPr lang="en-US" sz="1600" b="1" dirty="0">
                <a:solidFill>
                  <a:srgbClr val="0F1B2D"/>
                </a:solidFill>
              </a:rPr>
              <a:t>   Dispatcher caching</a:t>
            </a:r>
            <a:r>
              <a:rPr lang="en-US" sz="1600" dirty="0">
                <a:solidFill>
                  <a:srgbClr val="6E6E6E"/>
                </a:solidFill>
              </a:rPr>
              <a:t>   ·   Maximize cache hit ratio — TTLs, /var/* invalidation, stat files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500" i="1" dirty="0">
                <a:solidFill>
                  <a:srgbClr val="1473E6"/>
                </a:solidFill>
              </a:rPr>
              <a:t>The biggest performance lever in AEM is the dispatcher cache hit rate, not Java.</a:t>
            </a:r>
          </a:p>
        </p:txBody>
      </p:sp>
    </p:spTree>
    <p:extLst>
      <p:ext uri="{BB962C8B-B14F-4D97-AF65-F5344CB8AC3E}">
        <p14:creationId xmlns:p14="http://schemas.microsoft.com/office/powerpoint/2010/main" val="1296588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0BAA-557A-DA73-EA4F-192B9151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Security </a:t>
            </a:r>
            <a:r>
              <a:rPr lang="en-US" sz="3200" b="1" dirty="0">
                <a:solidFill>
                  <a:srgbClr val="D7373F"/>
                </a:solidFill>
              </a:rPr>
              <a:t>— The Non-Negotiables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89A17-518C-0047-D2A1-AB45F038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SEC-001</a:t>
            </a:r>
            <a:r>
              <a:rPr lang="en-US" sz="1500" b="1" dirty="0">
                <a:solidFill>
                  <a:srgbClr val="0F1B2D"/>
                </a:solidFill>
              </a:rPr>
              <a:t>   SQL2 / XPath injection</a:t>
            </a:r>
            <a:r>
              <a:rPr lang="en-US" sz="1500" dirty="0">
                <a:solidFill>
                  <a:srgbClr val="6E6E6E"/>
                </a:solidFill>
              </a:rPr>
              <a:t>   ·   Parameterize queries — never concatenate user input into JCR predicates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SEC-002</a:t>
            </a:r>
            <a:r>
              <a:rPr lang="en-US" sz="1500" b="1" dirty="0">
                <a:solidFill>
                  <a:srgbClr val="0F1B2D"/>
                </a:solidFill>
              </a:rPr>
              <a:t>   No default credentials</a:t>
            </a:r>
            <a:r>
              <a:rPr lang="en-US" sz="1500" dirty="0">
                <a:solidFill>
                  <a:srgbClr val="6E6E6E"/>
                </a:solidFill>
              </a:rPr>
              <a:t>   ·   admin/admin must be changed on every environment, including local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SEC-003</a:t>
            </a:r>
            <a:r>
              <a:rPr lang="en-US" sz="1500" b="1" dirty="0">
                <a:solidFill>
                  <a:srgbClr val="0F1B2D"/>
                </a:solidFill>
              </a:rPr>
              <a:t>   CSRF protection</a:t>
            </a:r>
            <a:r>
              <a:rPr lang="en-US" sz="1500" dirty="0">
                <a:solidFill>
                  <a:srgbClr val="6E6E6E"/>
                </a:solidFill>
              </a:rPr>
              <a:t>   ·   Enable Granite CSRF filter — required on every POST endpoint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SEC-004</a:t>
            </a:r>
            <a:r>
              <a:rPr lang="en-US" sz="1500" b="1" dirty="0">
                <a:solidFill>
                  <a:srgbClr val="0F1B2D"/>
                </a:solidFill>
              </a:rPr>
              <a:t>   Servlet binding</a:t>
            </a:r>
            <a:r>
              <a:rPr lang="en-US" sz="1500" dirty="0">
                <a:solidFill>
                  <a:srgbClr val="6E6E6E"/>
                </a:solidFill>
              </a:rPr>
              <a:t>   ·   Bind by resourceType, not paths — paths bypass ACLs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SEC-005</a:t>
            </a:r>
            <a:r>
              <a:rPr lang="en-US" sz="1500" b="1" dirty="0">
                <a:solidFill>
                  <a:srgbClr val="0F1B2D"/>
                </a:solidFill>
              </a:rPr>
              <a:t>   TLS everywhere</a:t>
            </a:r>
            <a:r>
              <a:rPr lang="en-US" sz="1500" dirty="0">
                <a:solidFill>
                  <a:srgbClr val="6E6E6E"/>
                </a:solidFill>
              </a:rPr>
              <a:t>   ·   TLS 1.2+ between dispatcher, publish, author — including internal</a:t>
            </a:r>
          </a:p>
          <a:p>
            <a:pPr marL="0" indent="0">
              <a:spcAft>
                <a:spcPts val="320"/>
              </a:spcAft>
              <a:buNone/>
            </a:pPr>
            <a:r>
              <a:rPr lang="en-US" sz="1500" b="1" dirty="0">
                <a:latin typeface="Consolas"/>
              </a:rPr>
              <a:t>SEC-006</a:t>
            </a:r>
            <a:r>
              <a:rPr lang="en-US" sz="1500" b="1" dirty="0">
                <a:solidFill>
                  <a:srgbClr val="0F1B2D"/>
                </a:solidFill>
              </a:rPr>
              <a:t>   User &amp; group audit</a:t>
            </a:r>
            <a:r>
              <a:rPr lang="en-US" sz="1500" dirty="0">
                <a:solidFill>
                  <a:srgbClr val="6E6E6E"/>
                </a:solidFill>
              </a:rPr>
              <a:t>   ·   Periodic review — no orphan accounts, no shared service users</a:t>
            </a:r>
          </a:p>
        </p:txBody>
      </p:sp>
    </p:spTree>
    <p:extLst>
      <p:ext uri="{BB962C8B-B14F-4D97-AF65-F5344CB8AC3E}">
        <p14:creationId xmlns:p14="http://schemas.microsoft.com/office/powerpoint/2010/main" val="27345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BA8-DC99-06FC-1E4A-FB9E4AD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Cloud Manager </a:t>
            </a:r>
            <a:r>
              <a:rPr lang="en-US" sz="3200" b="1" dirty="0">
                <a:solidFill>
                  <a:srgbClr val="1473E6"/>
                </a:solidFill>
              </a:rPr>
              <a:t>— Quality Gates</a:t>
            </a:r>
          </a:p>
        </p:txBody>
      </p:sp>
      <p:sp>
        <p:nvSpPr>
          <p:cNvPr id="1100" name="Row0bg"/>
          <p:cNvSpPr/>
          <p:nvPr/>
        </p:nvSpPr>
        <p:spPr>
          <a:xfrm>
            <a:off x="762000" y="1905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FCE4E6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01" name="Row0sev"/>
          <p:cNvSpPr/>
          <p:nvPr/>
        </p:nvSpPr>
        <p:spPr>
          <a:xfrm>
            <a:off x="1016000" y="1905000"/>
            <a:ext cx="2540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000" b="1" dirty="0">
                <a:solidFill>
                  <a:srgbClr val="8B0000"/>
                </a:solidFill>
              </a:rPr>
              <a:t>BLOCKER</a:t>
            </a:r>
          </a:p>
        </p:txBody>
      </p:sp>
      <p:sp>
        <p:nvSpPr>
          <p:cNvPr id="1102" name="Row0act"/>
          <p:cNvSpPr/>
          <p:nvPr/>
        </p:nvSpPr>
        <p:spPr>
          <a:xfrm>
            <a:off x="3810000" y="1905000"/>
            <a:ext cx="7366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600" dirty="0">
                <a:solidFill>
                  <a:srgbClr val="0F1B2D"/>
                </a:solidFill>
              </a:rPr>
              <a:t>Build fails immediately. Cannot deploy.</a:t>
            </a:r>
          </a:p>
        </p:txBody>
      </p:sp>
      <p:sp>
        <p:nvSpPr>
          <p:cNvPr id="1103" name="Row1bg"/>
          <p:cNvSpPr/>
          <p:nvPr/>
        </p:nvSpPr>
        <p:spPr>
          <a:xfrm>
            <a:off x="762000" y="2794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FCE4E6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04" name="Row1sev"/>
          <p:cNvSpPr/>
          <p:nvPr/>
        </p:nvSpPr>
        <p:spPr>
          <a:xfrm>
            <a:off x="1016000" y="2794000"/>
            <a:ext cx="2540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000" b="1" dirty="0">
                <a:solidFill>
                  <a:srgbClr val="D7373F"/>
                </a:solidFill>
              </a:rPr>
              <a:t>CRITICAL</a:t>
            </a:r>
          </a:p>
        </p:txBody>
      </p:sp>
      <p:sp>
        <p:nvSpPr>
          <p:cNvPr id="1105" name="Row1act"/>
          <p:cNvSpPr/>
          <p:nvPr/>
        </p:nvSpPr>
        <p:spPr>
          <a:xfrm>
            <a:off x="3810000" y="2794000"/>
            <a:ext cx="7366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600" dirty="0">
                <a:solidFill>
                  <a:srgbClr val="0F1B2D"/>
                </a:solidFill>
              </a:rPr>
              <a:t>Build fails. Pipeline blocked.</a:t>
            </a:r>
          </a:p>
        </p:txBody>
      </p:sp>
      <p:sp>
        <p:nvSpPr>
          <p:cNvPr id="1106" name="Row2bg"/>
          <p:cNvSpPr/>
          <p:nvPr/>
        </p:nvSpPr>
        <p:spPr>
          <a:xfrm>
            <a:off x="762000" y="3683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FFF4DD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07" name="Row2sev"/>
          <p:cNvSpPr/>
          <p:nvPr/>
        </p:nvSpPr>
        <p:spPr>
          <a:xfrm>
            <a:off x="1016000" y="3683000"/>
            <a:ext cx="2540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000" b="1" dirty="0">
                <a:solidFill>
                  <a:srgbClr val="E68619"/>
                </a:solidFill>
              </a:rPr>
              <a:t>IMPORTANT</a:t>
            </a:r>
          </a:p>
        </p:txBody>
      </p:sp>
      <p:sp>
        <p:nvSpPr>
          <p:cNvPr id="1108" name="Row2act"/>
          <p:cNvSpPr/>
          <p:nvPr/>
        </p:nvSpPr>
        <p:spPr>
          <a:xfrm>
            <a:off x="3810000" y="3683000"/>
            <a:ext cx="7366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600" dirty="0">
                <a:solidFill>
                  <a:srgbClr val="0F1B2D"/>
                </a:solidFill>
              </a:rPr>
              <a:t>Build proceeds with warning. Approval required for prod.</a:t>
            </a:r>
          </a:p>
        </p:txBody>
      </p:sp>
      <p:sp>
        <p:nvSpPr>
          <p:cNvPr id="1109" name="Row3bg"/>
          <p:cNvSpPr/>
          <p:nvPr/>
        </p:nvSpPr>
        <p:spPr>
          <a:xfrm>
            <a:off x="762000" y="4572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E6F0FB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10" name="Row3sev"/>
          <p:cNvSpPr/>
          <p:nvPr/>
        </p:nvSpPr>
        <p:spPr>
          <a:xfrm>
            <a:off x="1016000" y="4572000"/>
            <a:ext cx="2540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000" b="1" dirty="0">
                <a:solidFill>
                  <a:srgbClr val="1473E6"/>
                </a:solidFill>
              </a:rPr>
              <a:t>MAJOR</a:t>
            </a:r>
          </a:p>
        </p:txBody>
      </p:sp>
      <p:sp>
        <p:nvSpPr>
          <p:cNvPr id="1111" name="Row3act"/>
          <p:cNvSpPr/>
          <p:nvPr/>
        </p:nvSpPr>
        <p:spPr>
          <a:xfrm>
            <a:off x="3810000" y="4572000"/>
            <a:ext cx="7366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600" dirty="0">
                <a:solidFill>
                  <a:srgbClr val="0F1B2D"/>
                </a:solidFill>
              </a:rPr>
              <a:t>Reported. Pipeline continues.</a:t>
            </a:r>
          </a:p>
        </p:txBody>
      </p:sp>
      <p:sp>
        <p:nvSpPr>
          <p:cNvPr id="1112" name="Row4bg"/>
          <p:cNvSpPr/>
          <p:nvPr/>
        </p:nvSpPr>
        <p:spPr>
          <a:xfrm>
            <a:off x="762000" y="5461000"/>
            <a:ext cx="10668000" cy="787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</p:spPr>
        <p:txBody>
          <a:bodyPr wrap="square" anchor="ctr"/>
          <a:lstStyle/>
          <a:p>
            <a:endParaRPr lang="en-US"/>
          </a:p>
        </p:txBody>
      </p:sp>
      <p:sp>
        <p:nvSpPr>
          <p:cNvPr id="1113" name="Row4sev"/>
          <p:cNvSpPr/>
          <p:nvPr/>
        </p:nvSpPr>
        <p:spPr>
          <a:xfrm>
            <a:off x="1016000" y="5461000"/>
            <a:ext cx="2540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2000" b="1" dirty="0">
                <a:solidFill>
                  <a:srgbClr val="6E6E6E"/>
                </a:solidFill>
              </a:rPr>
              <a:t>MINOR</a:t>
            </a:r>
          </a:p>
        </p:txBody>
      </p:sp>
      <p:sp>
        <p:nvSpPr>
          <p:cNvPr id="1114" name="Row4act"/>
          <p:cNvSpPr/>
          <p:nvPr/>
        </p:nvSpPr>
        <p:spPr>
          <a:xfrm>
            <a:off x="3810000" y="5461000"/>
            <a:ext cx="7366000" cy="787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buNone/>
            </a:pPr>
            <a:r>
              <a:rPr lang="en-US" sz="1600" dirty="0">
                <a:solidFill>
                  <a:srgbClr val="0F1B2D"/>
                </a:solidFill>
              </a:rPr>
              <a:t>Logged for trend tracking.</a:t>
            </a:r>
          </a:p>
        </p:txBody>
      </p:sp>
    </p:spTree>
    <p:extLst>
      <p:ext uri="{BB962C8B-B14F-4D97-AF65-F5344CB8AC3E}">
        <p14:creationId xmlns:p14="http://schemas.microsoft.com/office/powerpoint/2010/main" val="118143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86CC0-22BB-176B-D241-712D8575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rgbClr val="0F1B2D"/>
                </a:solidFill>
              </a:rPr>
              <a:t>Code Quality </a:t>
            </a:r>
            <a:r>
              <a:rPr lang="en-US" sz="3200" b="1" dirty="0">
                <a:solidFill>
                  <a:srgbClr val="1473E6"/>
                </a:solidFill>
              </a:rPr>
              <a:t>— Memorization Map</a:t>
            </a:r>
          </a:p>
        </p:txBody>
      </p:sp>
      <p:sp>
        <p:nvSpPr>
          <p:cNvPr id="1200" name="P0c"/>
          <p:cNvSpPr/>
          <p:nvPr/>
        </p:nvSpPr>
        <p:spPr>
          <a:xfrm>
            <a:off x="762000" y="2032000"/>
            <a:ext cx="342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01" name="P0n"/>
          <p:cNvSpPr/>
          <p:nvPr/>
        </p:nvSpPr>
        <p:spPr>
          <a:xfrm>
            <a:off x="990600" y="2260600"/>
            <a:ext cx="762000" cy="76200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buNone/>
            </a:pPr>
            <a:r>
              <a:rPr lang="en-US" sz="5400" b="1" dirty="0">
                <a:solidFill>
                  <a:srgbClr val="1473E6"/>
                </a:solidFill>
              </a:rPr>
              <a:t>1</a:t>
            </a:r>
          </a:p>
        </p:txBody>
      </p:sp>
      <p:sp>
        <p:nvSpPr>
          <p:cNvPr id="1202" name="P0t"/>
          <p:cNvSpPr/>
          <p:nvPr/>
        </p:nvSpPr>
        <p:spPr>
          <a:xfrm>
            <a:off x="990600" y="3175000"/>
            <a:ext cx="29718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0F1B2D"/>
                </a:solidFill>
              </a:rPr>
              <a:t>Always Close Resources</a:t>
            </a:r>
          </a:p>
        </p:txBody>
      </p:sp>
      <p:sp>
        <p:nvSpPr>
          <p:cNvPr id="1203" name="P0b"/>
          <p:cNvSpPr/>
          <p:nvPr/>
        </p:nvSpPr>
        <p:spPr>
          <a:xfrm>
            <a:off x="990600" y="3746500"/>
            <a:ext cx="29718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3A4555"/>
                </a:solidFill>
              </a:rPr>
              <a:t>ResourceResolver, Session, InputStream — try-with-resources prevents leaks that compound under load.</a:t>
            </a:r>
          </a:p>
        </p:txBody>
      </p:sp>
      <p:sp>
        <p:nvSpPr>
          <p:cNvPr id="1204" name="P1c"/>
          <p:cNvSpPr/>
          <p:nvPr/>
        </p:nvSpPr>
        <p:spPr>
          <a:xfrm>
            <a:off x="4381500" y="2032000"/>
            <a:ext cx="342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05" name="P1n"/>
          <p:cNvSpPr/>
          <p:nvPr/>
        </p:nvSpPr>
        <p:spPr>
          <a:xfrm>
            <a:off x="4610100" y="2260600"/>
            <a:ext cx="762000" cy="76200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buNone/>
            </a:pPr>
            <a:r>
              <a:rPr lang="en-US" sz="5400" b="1" dirty="0">
                <a:solidFill>
                  <a:srgbClr val="D7373F"/>
                </a:solidFill>
              </a:rPr>
              <a:t>2</a:t>
            </a:r>
          </a:p>
        </p:txBody>
      </p:sp>
      <p:sp>
        <p:nvSpPr>
          <p:cNvPr id="1206" name="P1t"/>
          <p:cNvSpPr/>
          <p:nvPr/>
        </p:nvSpPr>
        <p:spPr>
          <a:xfrm>
            <a:off x="4610100" y="3175000"/>
            <a:ext cx="29718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0F1B2D"/>
                </a:solidFill>
              </a:rPr>
              <a:t>Validate at the Edge</a:t>
            </a:r>
          </a:p>
        </p:txBody>
      </p:sp>
      <p:sp>
        <p:nvSpPr>
          <p:cNvPr id="1207" name="P1b"/>
          <p:cNvSpPr/>
          <p:nvPr/>
        </p:nvSpPr>
        <p:spPr>
          <a:xfrm>
            <a:off x="4610100" y="3746500"/>
            <a:ext cx="29718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3A4555"/>
                </a:solidFill>
              </a:rPr>
              <a:t>Dispatcher first, then Sling. Whitelist selectors, extensions, and parameters before the request hits the JVM.</a:t>
            </a:r>
          </a:p>
        </p:txBody>
      </p:sp>
      <p:sp>
        <p:nvSpPr>
          <p:cNvPr id="1208" name="P2c"/>
          <p:cNvSpPr/>
          <p:nvPr/>
        </p:nvSpPr>
        <p:spPr>
          <a:xfrm>
            <a:off x="8001000" y="2032000"/>
            <a:ext cx="3429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09" name="P2n"/>
          <p:cNvSpPr/>
          <p:nvPr/>
        </p:nvSpPr>
        <p:spPr>
          <a:xfrm>
            <a:off x="8229600" y="2260600"/>
            <a:ext cx="762000" cy="762000"/>
          </a:xfrm>
          <a:prstGeom prst="rect">
            <a:avLst/>
          </a:prstGeom>
          <a:noFill/>
        </p:spPr>
        <p:txBody>
          <a:bodyPr wrap="none" anchor="t"/>
          <a:lstStyle/>
          <a:p>
            <a:pPr algn="l">
              <a:buNone/>
            </a:pPr>
            <a:r>
              <a:rPr lang="en-US" sz="5400" b="1" dirty="0">
                <a:solidFill>
                  <a:srgbClr val="268E6C"/>
                </a:solidFill>
              </a:rPr>
              <a:t>3</a:t>
            </a:r>
          </a:p>
        </p:txBody>
      </p:sp>
      <p:sp>
        <p:nvSpPr>
          <p:cNvPr id="1210" name="P2t"/>
          <p:cNvSpPr/>
          <p:nvPr/>
        </p:nvSpPr>
        <p:spPr>
          <a:xfrm>
            <a:off x="8229600" y="3175000"/>
            <a:ext cx="29718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0F1B2D"/>
                </a:solidFill>
              </a:rPr>
              <a:t>Index What You Query</a:t>
            </a:r>
          </a:p>
        </p:txBody>
      </p:sp>
      <p:sp>
        <p:nvSpPr>
          <p:cNvPr id="1211" name="P2b"/>
          <p:cNvSpPr/>
          <p:nvPr/>
        </p:nvSpPr>
        <p:spPr>
          <a:xfrm>
            <a:off x="8229600" y="3746500"/>
            <a:ext cx="29718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3A4555"/>
                </a:solidFill>
              </a:rPr>
              <a:t>Unbounded JCR queries kill repositories. Define indexes, page results, and never query inside loops.</a:t>
            </a:r>
          </a:p>
        </p:txBody>
      </p:sp>
      <p:sp>
        <p:nvSpPr>
          <p:cNvPr id="1212" name="Takeaway"/>
          <p:cNvSpPr/>
          <p:nvPr/>
        </p:nvSpPr>
        <p:spPr>
          <a:xfrm>
            <a:off x="762000" y="5461000"/>
            <a:ext cx="10668000" cy="889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800" i="1" dirty="0">
                <a:solidFill>
                  <a:srgbClr val="6E6E6E"/>
                </a:solidFill>
              </a:rPr>
              <a:t>Quality is not a checklist — it is a habit. Every commit either reinforces it or erodes it.</a:t>
            </a:r>
          </a:p>
        </p:txBody>
      </p:sp>
    </p:spTree>
    <p:extLst>
      <p:ext uri="{BB962C8B-B14F-4D97-AF65-F5344CB8AC3E}">
        <p14:creationId xmlns:p14="http://schemas.microsoft.com/office/powerpoint/2010/main" val="127015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202069110]">
  <a:themeElements>
    <a:clrScheme name="Office">
      <a:dk1>
        <a:srgbClr val="0F1B2D"/>
      </a:dk1>
      <a:lt1>
        <a:srgbClr val="FFFFFF"/>
      </a:lt1>
      <a:dk2>
        <a:srgbClr val="2C3E50"/>
      </a:dk2>
      <a:lt2>
        <a:srgbClr val="F4F6F9"/>
      </a:lt2>
      <a:accent1>
        <a:srgbClr val="1473E6"/>
      </a:accent1>
      <a:accent2>
        <a:srgbClr val="0F1B2D"/>
      </a:accent2>
      <a:accent3>
        <a:srgbClr val="D7373F"/>
      </a:accent3>
      <a:accent4>
        <a:srgbClr val="E68619"/>
      </a:accent4>
      <a:accent5>
        <a:srgbClr val="268E6C"/>
      </a:accent5>
      <a:accent6>
        <a:srgbClr val="6E6E6E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A03028-0EDC-496C-AC4D-FC6469BB9D9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d1abe89-0c60-4919-84ce-6ed05547b78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1241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Inter</vt:lpstr>
      <vt:lpstr>Office Theme [1778202069110]</vt:lpstr>
      <vt:lpstr>AEM Code Quality</vt:lpstr>
      <vt:lpstr>Why Code Quality Matters in AEM</vt:lpstr>
      <vt:lpstr>Eight Categories of AEM Code Quality</vt:lpstr>
      <vt:lpstr>Severity Levels &amp; Cloud Manager Gates</vt:lpstr>
      <vt:lpstr>SonarQube — Critical Bugs</vt:lpstr>
      <vt:lpstr>SonarQube — Code Smells</vt:lpstr>
      <vt:lpstr>AEM Best Practices</vt:lpstr>
      <vt:lpstr>OakPAL — Content Package Rules</vt:lpstr>
      <vt:lpstr>HTL / Sightly — XSS Prevention</vt:lpstr>
      <vt:lpstr>OSGi / Felix — Module Discipline</vt:lpstr>
      <vt:lpstr>Dispatcher — HTTP Security</vt:lpstr>
      <vt:lpstr>Performance — JCR &amp; Caching</vt:lpstr>
      <vt:lpstr>Security — The Non-Negotiables</vt:lpstr>
      <vt:lpstr>Cloud Manager — Quality Gates</vt:lpstr>
      <vt:lpstr>Code Quality — Memorization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Ramiro Ocampo Rodriguez</dc:creator>
  <cp:lastModifiedBy>Ramiro Ocampo Rodriguez</cp:lastModifiedBy>
  <cp:revision>6</cp:revision>
  <dcterms:created xsi:type="dcterms:W3CDTF">2026-05-08T00:56:04Z</dcterms:created>
  <dcterms:modified xsi:type="dcterms:W3CDTF">2026-05-08T01:17:33Z</dcterms:modified>
</cp:coreProperties>
</file>