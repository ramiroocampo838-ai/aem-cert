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8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7F070-87FF-A110-BC41-AC231FB47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E91A44-02FD-0A53-7C9D-1FA11E4FF0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39EB3-872C-51E4-BA75-EDDF617D5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BF2BF-F949-4B7A-AE98-69EA072DAED8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C98AE-71AF-4065-BB91-A4828CAB0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7080F-515C-AB87-D912-ED683D4B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9128D-0619-4361-A0B5-89E3031A20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789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AD249-C1B6-8F26-8BF6-D5C59D74F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CA965-2BDF-34CA-0FDE-2DD4AAAE4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D0B72-AA60-6CD6-DF80-CA0C93C29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BF2BF-F949-4B7A-AE98-69EA072DAED8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EB1C7-403C-33AD-BC8A-3F30A3F9C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15B11-AE8B-4C3E-7039-7BAF2E18B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9128D-0619-4361-A0B5-89E3031A20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1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B2836-CF1B-1BB4-6DCD-CC97EA00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A2233-9E7E-1136-06B1-E871F1E7D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FA8AB-2597-D9B8-0F9E-65EBF7A44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BF2BF-F949-4B7A-AE98-69EA072DAED8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E7A84-3485-40FA-1A1B-D56EBF7E9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67A0D-A127-49F1-9D51-E52D2CE2F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9128D-0619-4361-A0B5-89E3031A20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9406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D505D-3986-92E0-1132-F3FFB015C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07BA2-82A6-D5F2-8E7E-4A3D0A6CFA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B6A90-3E62-E64D-5CE3-BB162EEB6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FD25E6-EE40-0507-C6D6-89E93FDE4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BF2BF-F949-4B7A-AE98-69EA072DAED8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CF3D7-23A1-91BD-D355-102D6D10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401B5-667C-DC3E-F3C0-9629881E6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9128D-0619-4361-A0B5-89E3031A20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7121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E7BA3-F55E-5AA5-1A03-572A284CA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FF8A2-AD0F-7C24-0A89-20528E40E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2950AD-0F2B-B41E-BFAE-461243B3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F2CD63-39E6-2046-D134-4F6F7700FE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5F6DB6-D58C-B164-CD05-AF8E659DB3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E713CF-29FF-6E2E-BCBB-C3F80E79C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BF2BF-F949-4B7A-AE98-69EA072DAED8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611A2B-A576-69C1-D2DC-766925A6E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2FE48F-4397-D7AD-AF4C-BD33A701E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9128D-0619-4361-A0B5-89E3031A20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963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25789-2CDB-1885-BA2F-3CC3459E3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02B7F4-A772-B2C5-1F05-15F34B520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BF2BF-F949-4B7A-AE98-69EA072DAED8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DF689-73DC-031C-63D7-771FCED8C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A548B5-4E12-2D80-BE64-95EFD85D6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9128D-0619-4361-A0B5-89E3031A20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667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B0F8D3-192C-D47A-9FEB-9789BDB47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BF2BF-F949-4B7A-AE98-69EA072DAED8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B76873-0C3E-40FF-3826-1B0B5C098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4768F-41E1-5F56-7042-ED9D8F8FD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9128D-0619-4361-A0B5-89E3031A20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5843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FC539-26B4-F3BB-5725-F3FDA48E7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7DD1C-8CC0-B078-77B7-85DBC6574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C11FF7-52B5-285F-BF0D-960CEE174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241A0-4533-95C2-2192-0E061BA9E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BF2BF-F949-4B7A-AE98-69EA072DAED8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11D6D-3BC9-D288-4248-6816308FC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4198AE-C445-80B0-5292-FCEC0FF47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9128D-0619-4361-A0B5-89E3031A20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FA4F-BF36-1801-0636-88D45CCFD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E87479-1C25-F059-DC1B-DE37EEA738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808D25-F576-F0D8-5E75-338B15EDA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65AC3-477B-EE21-D17A-282B72A36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BF2BF-F949-4B7A-AE98-69EA072DAED8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480FE-6565-98AC-5002-2255D29AA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3FD5A-AE70-FD70-CA81-D02297B40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9128D-0619-4361-A0B5-89E3031A20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5195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BA4C6-7208-5B5E-BEC6-726603B1E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4821E4-21A0-B3E7-D78F-DDE4B2589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66E6E-BAFF-0689-6F6D-F9AB621B9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BF2BF-F949-4B7A-AE98-69EA072DAED8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8CAEA-BFA9-2704-AB3D-8D72E3EA8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15D61-B6AD-7024-DA01-BBBB69526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9128D-0619-4361-A0B5-89E3031A20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2306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E56A82-739A-3B18-CAF1-81F77C9F4C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EA5E0-7060-AE94-76FA-4C54F86BD0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49B1B-E81B-80E3-B44B-233F55A10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BF2BF-F949-4B7A-AE98-69EA072DAED8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B0167-C890-A58C-F60F-D6E9D035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C39B0-3C14-AAC1-D613-7949F63AE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9128D-0619-4361-A0B5-89E3031A20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24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C79EB9-82FF-CF7D-0EDC-66317596E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DE063-B6FC-88DF-F84B-78B637AB3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4A124-808E-89AB-BF89-C2CF300AC7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9BF2BF-F949-4B7A-AE98-69EA072DAED8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1FC5-C0E9-A8D7-0C6B-A474083DC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179F7-70EF-15D6-2791-1C2539D709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09128D-0619-4361-A0B5-89E3031A2030}" type="slidenum">
              <a:rPr lang="en-GB" smtClean="0"/>
              <a:t>‹#›</a:t>
            </a:fld>
            <a:endParaRPr lang="en-GB"/>
          </a:p>
        </p:txBody>
      </p:sp>
      <p:sp>
        <p:nvSpPr>
          <p:cNvPr id="900" name="Accent Bar"/>
          <p:cNvSpPr/>
          <p:nvPr userDrawn="1"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Corner Accent"/>
          <p:cNvSpPr/>
          <p:nvPr userDrawn="1"/>
        </p:nvSpPr>
        <p:spPr>
          <a:xfrm>
            <a:off x="11430000" y="6400800"/>
            <a:ext cx="720000" cy="457200"/>
          </a:xfrm>
          <a:prstGeom prst="rtTriangle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217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1A1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C2C2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85197-9DD3-B897-A8C0-DB8205469F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5400" b="1" dirty="0">
                <a:solidFill>
                  <a:srgbClr val="1A1A1A"/>
                </a:solidFill>
              </a:rPr>
              <a:t>AEM Cloud Manager</a:t>
            </a:r>
          </a:p>
          <a:p>
            <a:pPr algn="l">
              <a:buNone/>
            </a:pPr>
            <a:r>
              <a:rPr lang="en-US" sz="3200" b="0" dirty="0">
                <a:solidFill>
                  <a:srgbClr val="E1251B"/>
                </a:solidFill>
              </a:rPr>
              <a:t>Complete Recap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F66C17-B442-DFAA-749A-DA2E89741F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buNone/>
            </a:pPr>
            <a:r>
              <a:rPr lang="en-US" sz="2000" b="0" dirty="0">
                <a:solidFill>
                  <a:srgbClr val="4A4A4A"/>
                </a:solidFill>
              </a:rPr>
              <a:t>100 concepts across 9 categories</a:t>
            </a:r>
          </a:p>
          <a:p>
            <a:pPr algn="l">
              <a:buNone/>
            </a:pPr>
            <a:r>
              <a:rPr lang="en-US" sz="1600" i="1" dirty="0">
                <a:solidFill>
                  <a:srgbClr val="8C8C8C"/>
                </a:solidFill>
              </a:rPr>
              <a:t>Connecting the big picture before the exam</a:t>
            </a:r>
          </a:p>
        </p:txBody>
      </p:sp>
    </p:spTree>
    <p:extLst>
      <p:ext uri="{BB962C8B-B14F-4D97-AF65-F5344CB8AC3E}">
        <p14:creationId xmlns:p14="http://schemas.microsoft.com/office/powerpoint/2010/main" val="2235030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A9B3B-B785-5E96-8AF4-F56601BF0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/>
              <a:t>Agenda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0B6F9F-5560-457E-8811-434F902FD11A}"/>
              </a:ext>
            </a:extLst>
          </p:cNvPr>
          <p:cNvSpPr/>
          <p:nvPr/>
        </p:nvSpPr>
        <p:spPr>
          <a:xfrm>
            <a:off x="838200" y="2032000"/>
            <a:ext cx="3429000" cy="1333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DBFCF6-E704-463B-9EF7-CA9FCB7E4997}"/>
              </a:ext>
            </a:extLst>
          </p:cNvPr>
          <p:cNvSpPr/>
          <p:nvPr/>
        </p:nvSpPr>
        <p:spPr>
          <a:xfrm>
            <a:off x="838200" y="2032000"/>
            <a:ext cx="76200" cy="13335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5752F7-9A1E-4D46-B38A-F9DD7173F688}"/>
              </a:ext>
            </a:extLst>
          </p:cNvPr>
          <p:cNvSpPr txBox="1"/>
          <p:nvPr/>
        </p:nvSpPr>
        <p:spPr>
          <a:xfrm>
            <a:off x="1066800" y="2209800"/>
            <a:ext cx="76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000" b="1">
                <a:solidFill>
                  <a:srgbClr val="E1251B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38768A-A807-4D64-8ADE-CACADE91E06C}"/>
              </a:ext>
            </a:extLst>
          </p:cNvPr>
          <p:cNvSpPr txBox="1"/>
          <p:nvPr/>
        </p:nvSpPr>
        <p:spPr>
          <a:xfrm>
            <a:off x="1066800" y="266700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A1A1A"/>
                </a:solidFill>
                <a:latin typeface="Segoe UI"/>
                <a:cs typeface="Segoe UI"/>
              </a:rPr>
              <a:t>AEMaaCS Overview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1A43AF-B598-4E61-80E3-6D6CFB7C3AFA}"/>
              </a:ext>
            </a:extLst>
          </p:cNvPr>
          <p:cNvSpPr/>
          <p:nvPr/>
        </p:nvSpPr>
        <p:spPr>
          <a:xfrm>
            <a:off x="4445000" y="2032000"/>
            <a:ext cx="3429000" cy="1333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75A713-0399-4223-A46A-4DEE6212E39F}"/>
              </a:ext>
            </a:extLst>
          </p:cNvPr>
          <p:cNvSpPr/>
          <p:nvPr/>
        </p:nvSpPr>
        <p:spPr>
          <a:xfrm>
            <a:off x="4445000" y="2032000"/>
            <a:ext cx="76200" cy="13335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4AA1F7-A7F4-4BF9-B1FC-B9E33C347043}"/>
              </a:ext>
            </a:extLst>
          </p:cNvPr>
          <p:cNvSpPr txBox="1"/>
          <p:nvPr/>
        </p:nvSpPr>
        <p:spPr>
          <a:xfrm>
            <a:off x="4673600" y="2209800"/>
            <a:ext cx="76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000" b="1">
                <a:solidFill>
                  <a:srgbClr val="E1251B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8D79A9-21AE-4484-B9A4-DF4B4A70F123}"/>
              </a:ext>
            </a:extLst>
          </p:cNvPr>
          <p:cNvSpPr txBox="1"/>
          <p:nvPr/>
        </p:nvSpPr>
        <p:spPr>
          <a:xfrm>
            <a:off x="4673600" y="266700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A1A1A"/>
                </a:solidFill>
                <a:latin typeface="Segoe UI"/>
                <a:cs typeface="Segoe UI"/>
              </a:rPr>
              <a:t>Adobe Admin Console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EB5755-FCE3-416B-80FB-E94F2809C89F}"/>
              </a:ext>
            </a:extLst>
          </p:cNvPr>
          <p:cNvSpPr/>
          <p:nvPr/>
        </p:nvSpPr>
        <p:spPr>
          <a:xfrm>
            <a:off x="8051800" y="2032000"/>
            <a:ext cx="3429000" cy="1333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8EEDB7-3297-415A-BD02-EB7ABC3AABF9}"/>
              </a:ext>
            </a:extLst>
          </p:cNvPr>
          <p:cNvSpPr/>
          <p:nvPr/>
        </p:nvSpPr>
        <p:spPr>
          <a:xfrm>
            <a:off x="8051800" y="2032000"/>
            <a:ext cx="76200" cy="13335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438760-79E0-4B83-B795-903748D4E3BC}"/>
              </a:ext>
            </a:extLst>
          </p:cNvPr>
          <p:cNvSpPr txBox="1"/>
          <p:nvPr/>
        </p:nvSpPr>
        <p:spPr>
          <a:xfrm>
            <a:off x="8280400" y="2209800"/>
            <a:ext cx="76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000" b="1">
                <a:solidFill>
                  <a:srgbClr val="E1251B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36E9C7-D261-4F53-84D2-9B8F11CE9769}"/>
              </a:ext>
            </a:extLst>
          </p:cNvPr>
          <p:cNvSpPr txBox="1"/>
          <p:nvPr/>
        </p:nvSpPr>
        <p:spPr>
          <a:xfrm>
            <a:off x="8280400" y="266700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A1A1A"/>
                </a:solidFill>
                <a:latin typeface="Segoe UI"/>
                <a:cs typeface="Segoe UI"/>
              </a:rPr>
              <a:t>Cloud Manager Overview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5333A4-8D39-43D5-88F4-165F1EDBF346}"/>
              </a:ext>
            </a:extLst>
          </p:cNvPr>
          <p:cNvSpPr/>
          <p:nvPr/>
        </p:nvSpPr>
        <p:spPr>
          <a:xfrm>
            <a:off x="838200" y="3543300"/>
            <a:ext cx="3429000" cy="1333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EC6280-9BDE-4549-BB39-5BA1608B0C7D}"/>
              </a:ext>
            </a:extLst>
          </p:cNvPr>
          <p:cNvSpPr/>
          <p:nvPr/>
        </p:nvSpPr>
        <p:spPr>
          <a:xfrm>
            <a:off x="838200" y="3543300"/>
            <a:ext cx="76200" cy="13335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38111F-DA13-4E0C-8677-3BBEC1A82E40}"/>
              </a:ext>
            </a:extLst>
          </p:cNvPr>
          <p:cNvSpPr txBox="1"/>
          <p:nvPr/>
        </p:nvSpPr>
        <p:spPr>
          <a:xfrm>
            <a:off x="1066800" y="3721100"/>
            <a:ext cx="76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000" b="1">
                <a:solidFill>
                  <a:srgbClr val="E1251B"/>
                </a:solidFill>
                <a:latin typeface="Segoe UI"/>
                <a:cs typeface="Segoe UI"/>
              </a:rPr>
              <a:t>04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ADEA49-DC2D-40AE-A047-ECA222F39C06}"/>
              </a:ext>
            </a:extLst>
          </p:cNvPr>
          <p:cNvSpPr txBox="1"/>
          <p:nvPr/>
        </p:nvSpPr>
        <p:spPr>
          <a:xfrm>
            <a:off x="1066800" y="417830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A1A1A"/>
                </a:solidFill>
                <a:latin typeface="Segoe UI"/>
                <a:cs typeface="Segoe UI"/>
              </a:rPr>
              <a:t>Roles &amp; Permissions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5E669E-DBA4-4AFB-88A7-5105A9513CFB}"/>
              </a:ext>
            </a:extLst>
          </p:cNvPr>
          <p:cNvSpPr/>
          <p:nvPr/>
        </p:nvSpPr>
        <p:spPr>
          <a:xfrm>
            <a:off x="4445000" y="3543300"/>
            <a:ext cx="3429000" cy="1333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EFDB2D-7819-43F9-8C1A-186AFC5C3828}"/>
              </a:ext>
            </a:extLst>
          </p:cNvPr>
          <p:cNvSpPr/>
          <p:nvPr/>
        </p:nvSpPr>
        <p:spPr>
          <a:xfrm>
            <a:off x="4445000" y="3543300"/>
            <a:ext cx="76200" cy="13335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90F30B-7117-4F0D-939B-4F01C6F2B2AE}"/>
              </a:ext>
            </a:extLst>
          </p:cNvPr>
          <p:cNvSpPr txBox="1"/>
          <p:nvPr/>
        </p:nvSpPr>
        <p:spPr>
          <a:xfrm>
            <a:off x="4673600" y="3721100"/>
            <a:ext cx="76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000" b="1">
                <a:solidFill>
                  <a:srgbClr val="E1251B"/>
                </a:solidFill>
                <a:latin typeface="Segoe UI"/>
                <a:cs typeface="Segoe UI"/>
              </a:rPr>
              <a:t>05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B7EDB-FB12-4DAB-924A-326CF5709E59}"/>
              </a:ext>
            </a:extLst>
          </p:cNvPr>
          <p:cNvSpPr txBox="1"/>
          <p:nvPr/>
        </p:nvSpPr>
        <p:spPr>
          <a:xfrm>
            <a:off x="4673600" y="417830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A1A1A"/>
                </a:solidFill>
                <a:latin typeface="Segoe UI"/>
                <a:cs typeface="Segoe UI"/>
              </a:rPr>
              <a:t>Pipeline Types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53CDF6-04C6-4E17-998A-566DD2F82421}"/>
              </a:ext>
            </a:extLst>
          </p:cNvPr>
          <p:cNvSpPr/>
          <p:nvPr/>
        </p:nvSpPr>
        <p:spPr>
          <a:xfrm>
            <a:off x="8051800" y="3543300"/>
            <a:ext cx="3429000" cy="1333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9AFCC88-E7AA-4BEF-9D08-A8C92FF5AD3E}"/>
              </a:ext>
            </a:extLst>
          </p:cNvPr>
          <p:cNvSpPr/>
          <p:nvPr/>
        </p:nvSpPr>
        <p:spPr>
          <a:xfrm>
            <a:off x="8051800" y="3543300"/>
            <a:ext cx="76200" cy="13335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BB0363-5DCB-4288-866B-102EA871DFB0}"/>
              </a:ext>
            </a:extLst>
          </p:cNvPr>
          <p:cNvSpPr txBox="1"/>
          <p:nvPr/>
        </p:nvSpPr>
        <p:spPr>
          <a:xfrm>
            <a:off x="8280400" y="3721100"/>
            <a:ext cx="76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000" b="1">
                <a:solidFill>
                  <a:srgbClr val="E1251B"/>
                </a:solidFill>
                <a:latin typeface="Segoe UI"/>
                <a:cs typeface="Segoe UI"/>
              </a:rPr>
              <a:t>06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C15B55-B7C6-4B11-A713-5E1AFF21E2AD}"/>
              </a:ext>
            </a:extLst>
          </p:cNvPr>
          <p:cNvSpPr txBox="1"/>
          <p:nvPr/>
        </p:nvSpPr>
        <p:spPr>
          <a:xfrm>
            <a:off x="8280400" y="417830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A1A1A"/>
                </a:solidFill>
                <a:latin typeface="Segoe UI"/>
                <a:cs typeface="Segoe UI"/>
              </a:rPr>
              <a:t>Production Pipeline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A123EE-5049-40AD-A5EF-960E34FCBB69}"/>
              </a:ext>
            </a:extLst>
          </p:cNvPr>
          <p:cNvSpPr/>
          <p:nvPr/>
        </p:nvSpPr>
        <p:spPr>
          <a:xfrm>
            <a:off x="838200" y="5054600"/>
            <a:ext cx="3429000" cy="1333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FD408C-2AEB-4C3B-A244-C5AEB1BAC122}"/>
              </a:ext>
            </a:extLst>
          </p:cNvPr>
          <p:cNvSpPr/>
          <p:nvPr/>
        </p:nvSpPr>
        <p:spPr>
          <a:xfrm>
            <a:off x="838200" y="5054600"/>
            <a:ext cx="76200" cy="13335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E7A689-14A2-4B2E-82D8-E48DC332A436}"/>
              </a:ext>
            </a:extLst>
          </p:cNvPr>
          <p:cNvSpPr txBox="1"/>
          <p:nvPr/>
        </p:nvSpPr>
        <p:spPr>
          <a:xfrm>
            <a:off x="1066800" y="5232400"/>
            <a:ext cx="76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000" b="1">
                <a:solidFill>
                  <a:srgbClr val="E1251B"/>
                </a:solidFill>
                <a:latin typeface="Segoe UI"/>
                <a:cs typeface="Segoe UI"/>
              </a:rPr>
              <a:t>07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100578-4868-45C8-AB09-ACE685A06E6A}"/>
              </a:ext>
            </a:extLst>
          </p:cNvPr>
          <p:cNvSpPr txBox="1"/>
          <p:nvPr/>
        </p:nvSpPr>
        <p:spPr>
          <a:xfrm>
            <a:off x="1066800" y="568960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A1A1A"/>
                </a:solidFill>
                <a:latin typeface="Segoe UI"/>
                <a:cs typeface="Segoe UI"/>
              </a:rPr>
              <a:t>Code Quality Gates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554F52B-7EAB-446D-82A1-59AEABC26665}"/>
              </a:ext>
            </a:extLst>
          </p:cNvPr>
          <p:cNvSpPr/>
          <p:nvPr/>
        </p:nvSpPr>
        <p:spPr>
          <a:xfrm>
            <a:off x="4445000" y="5054600"/>
            <a:ext cx="3429000" cy="1333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E5BFD56-31F4-4E0E-88FA-79F7BCEB0D9B}"/>
              </a:ext>
            </a:extLst>
          </p:cNvPr>
          <p:cNvSpPr/>
          <p:nvPr/>
        </p:nvSpPr>
        <p:spPr>
          <a:xfrm>
            <a:off x="4445000" y="5054600"/>
            <a:ext cx="76200" cy="13335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1334D2-35D3-4713-9003-859B37A847AE}"/>
              </a:ext>
            </a:extLst>
          </p:cNvPr>
          <p:cNvSpPr txBox="1"/>
          <p:nvPr/>
        </p:nvSpPr>
        <p:spPr>
          <a:xfrm>
            <a:off x="4673600" y="5232400"/>
            <a:ext cx="76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000" b="1">
                <a:solidFill>
                  <a:srgbClr val="E1251B"/>
                </a:solidFill>
                <a:latin typeface="Segoe UI"/>
                <a:cs typeface="Segoe UI"/>
              </a:rPr>
              <a:t>08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540060-771B-4BC3-99F7-AAA966997F21}"/>
              </a:ext>
            </a:extLst>
          </p:cNvPr>
          <p:cNvSpPr txBox="1"/>
          <p:nvPr/>
        </p:nvSpPr>
        <p:spPr>
          <a:xfrm>
            <a:off x="4673600" y="568960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A1A1A"/>
                </a:solidFill>
                <a:latin typeface="Segoe UI"/>
                <a:cs typeface="Segoe UI"/>
              </a:rPr>
              <a:t>Testing &amp; Blue/Green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4FECCA-93A2-4158-A247-788B1CDC3EA9}"/>
              </a:ext>
            </a:extLst>
          </p:cNvPr>
          <p:cNvSpPr/>
          <p:nvPr/>
        </p:nvSpPr>
        <p:spPr>
          <a:xfrm>
            <a:off x="8051800" y="5054600"/>
            <a:ext cx="3429000" cy="1333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363091-E82C-4FA0-A78F-D508A0D2708B}"/>
              </a:ext>
            </a:extLst>
          </p:cNvPr>
          <p:cNvSpPr/>
          <p:nvPr/>
        </p:nvSpPr>
        <p:spPr>
          <a:xfrm>
            <a:off x="8051800" y="5054600"/>
            <a:ext cx="76200" cy="13335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BD115D-8216-4369-841D-35CA13F319C6}"/>
              </a:ext>
            </a:extLst>
          </p:cNvPr>
          <p:cNvSpPr txBox="1"/>
          <p:nvPr/>
        </p:nvSpPr>
        <p:spPr>
          <a:xfrm>
            <a:off x="8280400" y="5232400"/>
            <a:ext cx="76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000" b="1">
                <a:solidFill>
                  <a:srgbClr val="E1251B"/>
                </a:solidFill>
                <a:latin typeface="Segoe UI"/>
                <a:cs typeface="Segoe UI"/>
              </a:rPr>
              <a:t>09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CDF909-72AF-446D-9A03-C1980F1AF488}"/>
              </a:ext>
            </a:extLst>
          </p:cNvPr>
          <p:cNvSpPr txBox="1"/>
          <p:nvPr/>
        </p:nvSpPr>
        <p:spPr>
          <a:xfrm>
            <a:off x="8280400" y="568960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A1A1A"/>
                </a:solidFill>
                <a:latin typeface="Segoe UI"/>
                <a:cs typeface="Segoe UI"/>
              </a:rPr>
              <a:t>Monitoring &amp; API</a:t>
            </a:r>
          </a:p>
        </p:txBody>
      </p:sp>
    </p:spTree>
    <p:extLst>
      <p:ext uri="{BB962C8B-B14F-4D97-AF65-F5344CB8AC3E}">
        <p14:creationId xmlns:p14="http://schemas.microsoft.com/office/powerpoint/2010/main" val="2713149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D7401-1997-B4F3-4511-A86D9CBD5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b="1"/>
              <a:t>AEM as a Cloud Service</a:t>
            </a:r>
            <a:endParaRPr lang="en-GB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049D-811E-47ED-9206-C6A53A9BF970}"/>
              </a:ext>
            </a:extLst>
          </p:cNvPr>
          <p:cNvSpPr txBox="1"/>
          <p:nvPr/>
        </p:nvSpPr>
        <p:spPr>
          <a:xfrm>
            <a:off x="838200" y="12700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i="1">
                <a:solidFill>
                  <a:srgbClr val="E1251B"/>
                </a:solidFill>
              </a:rPr>
              <a:t>Adobe's fully managed, cloud-native CMS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03E093-9504-4558-8CE1-161FC2C8D6CE}"/>
              </a:ext>
            </a:extLst>
          </p:cNvPr>
          <p:cNvSpPr/>
          <p:nvPr/>
        </p:nvSpPr>
        <p:spPr>
          <a:xfrm>
            <a:off x="838200" y="1778000"/>
            <a:ext cx="2540000" cy="1206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FC8690-EE53-489A-AD8A-96149DD59D9A}"/>
              </a:ext>
            </a:extLst>
          </p:cNvPr>
          <p:cNvSpPr txBox="1"/>
          <p:nvPr/>
        </p:nvSpPr>
        <p:spPr>
          <a:xfrm>
            <a:off x="990600" y="1930400"/>
            <a:ext cx="2235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E1251B"/>
                </a:solidFill>
              </a:rPr>
              <a:t>Always Latest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27EC84-0ABA-422B-8811-66929B6738A1}"/>
              </a:ext>
            </a:extLst>
          </p:cNvPr>
          <p:cNvSpPr txBox="1"/>
          <p:nvPr/>
        </p:nvSpPr>
        <p:spPr>
          <a:xfrm>
            <a:off x="990600" y="2311400"/>
            <a:ext cx="2235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2C2C2C"/>
                </a:solidFill>
              </a:rPr>
              <a:t>Adobe handles upgrades continuously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00DB8D-3654-4CE7-9F78-A74CA98D48C0}"/>
              </a:ext>
            </a:extLst>
          </p:cNvPr>
          <p:cNvSpPr/>
          <p:nvPr/>
        </p:nvSpPr>
        <p:spPr>
          <a:xfrm>
            <a:off x="3517900" y="1778000"/>
            <a:ext cx="2540000" cy="1206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D73E13-A4BA-4DBA-9E1F-66023095FA1E}"/>
              </a:ext>
            </a:extLst>
          </p:cNvPr>
          <p:cNvSpPr txBox="1"/>
          <p:nvPr/>
        </p:nvSpPr>
        <p:spPr>
          <a:xfrm>
            <a:off x="3670300" y="1930400"/>
            <a:ext cx="2235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E1251B"/>
                </a:solidFill>
              </a:rPr>
              <a:t>Auto-Scaling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F3D6DF-37CE-495A-A662-07974D26D80F}"/>
              </a:ext>
            </a:extLst>
          </p:cNvPr>
          <p:cNvSpPr txBox="1"/>
          <p:nvPr/>
        </p:nvSpPr>
        <p:spPr>
          <a:xfrm>
            <a:off x="3670300" y="2311400"/>
            <a:ext cx="2235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2C2C2C"/>
                </a:solidFill>
              </a:rPr>
              <a:t>Resources flex with traffic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E7A150-9053-413A-A8EC-6F73B6524577}"/>
              </a:ext>
            </a:extLst>
          </p:cNvPr>
          <p:cNvSpPr/>
          <p:nvPr/>
        </p:nvSpPr>
        <p:spPr>
          <a:xfrm>
            <a:off x="6197600" y="1778000"/>
            <a:ext cx="2540000" cy="1206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BD1DE3-395E-4D4E-8235-BB8ADF0EF657}"/>
              </a:ext>
            </a:extLst>
          </p:cNvPr>
          <p:cNvSpPr txBox="1"/>
          <p:nvPr/>
        </p:nvSpPr>
        <p:spPr>
          <a:xfrm>
            <a:off x="6350000" y="1930400"/>
            <a:ext cx="2235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E1251B"/>
                </a:solidFill>
              </a:rPr>
              <a:t>Built-in CDN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F50B1E-90F9-4157-95AC-0D0355C35D56}"/>
              </a:ext>
            </a:extLst>
          </p:cNvPr>
          <p:cNvSpPr txBox="1"/>
          <p:nvPr/>
        </p:nvSpPr>
        <p:spPr>
          <a:xfrm>
            <a:off x="6350000" y="2311400"/>
            <a:ext cx="2235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2C2C2C"/>
                </a:solidFill>
              </a:rPr>
              <a:t>Edge nodes near users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DF159F-0290-4253-9C17-7ED4D7FCD3C9}"/>
              </a:ext>
            </a:extLst>
          </p:cNvPr>
          <p:cNvSpPr/>
          <p:nvPr/>
        </p:nvSpPr>
        <p:spPr>
          <a:xfrm>
            <a:off x="8877300" y="1778000"/>
            <a:ext cx="2540000" cy="1206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2CC043-0926-4EDE-B877-87559C641F50}"/>
              </a:ext>
            </a:extLst>
          </p:cNvPr>
          <p:cNvSpPr txBox="1"/>
          <p:nvPr/>
        </p:nvSpPr>
        <p:spPr>
          <a:xfrm>
            <a:off x="9029700" y="1930400"/>
            <a:ext cx="2235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E1251B"/>
                </a:solidFill>
              </a:rPr>
              <a:t>Containers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7EDAFC-C7C8-474F-B4BB-B6F6D16A63B9}"/>
              </a:ext>
            </a:extLst>
          </p:cNvPr>
          <p:cNvSpPr txBox="1"/>
          <p:nvPr/>
        </p:nvSpPr>
        <p:spPr>
          <a:xfrm>
            <a:off x="9029700" y="2311400"/>
            <a:ext cx="2235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2C2C2C"/>
                </a:solidFill>
              </a:rPr>
              <a:t>Runs as Docker, not fixed JVM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8E917E-9198-4D3C-83DF-D0F8C2DA96F5}"/>
              </a:ext>
            </a:extLst>
          </p:cNvPr>
          <p:cNvSpPr/>
          <p:nvPr/>
        </p:nvSpPr>
        <p:spPr>
          <a:xfrm>
            <a:off x="838200" y="3302000"/>
            <a:ext cx="5207000" cy="3048000"/>
          </a:xfrm>
          <a:prstGeom prst="rect">
            <a:avLst/>
          </a:prstGeom>
          <a:solidFill>
            <a:srgbClr val="FFF5F4"/>
          </a:solidFill>
          <a:ln w="19050" cap="flat" cmpd="sng" algn="ctr">
            <a:solidFill>
              <a:srgbClr val="E1251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8C2622-2065-4A80-A94C-AF385A5247C6}"/>
              </a:ext>
            </a:extLst>
          </p:cNvPr>
          <p:cNvSpPr txBox="1"/>
          <p:nvPr/>
        </p:nvSpPr>
        <p:spPr>
          <a:xfrm>
            <a:off x="1016000" y="3479800"/>
            <a:ext cx="4851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E1251B"/>
                </a:solidFill>
              </a:rPr>
              <a:t>IMMUTABLE LAYER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F94FE5-8B8A-4078-9099-073617D100D8}"/>
              </a:ext>
            </a:extLst>
          </p:cNvPr>
          <p:cNvSpPr txBox="1"/>
          <p:nvPr/>
        </p:nvSpPr>
        <p:spPr>
          <a:xfrm>
            <a:off x="1016000" y="3810000"/>
            <a:ext cx="4851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>
                <a:solidFill>
                  <a:srgbClr val="1A1A1A"/>
                </a:solidFill>
                <a:latin typeface="Consolas"/>
              </a:rPr>
              <a:t>/apps and /libs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FA3407-52E9-4E49-A89E-BE7FB431A0C8}"/>
              </a:ext>
            </a:extLst>
          </p:cNvPr>
          <p:cNvSpPr txBox="1"/>
          <p:nvPr/>
        </p:nvSpPr>
        <p:spPr>
          <a:xfrm>
            <a:off x="1016000" y="4318000"/>
            <a:ext cx="48514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2C2C2C"/>
                </a:solidFill>
              </a:rPr>
              <a:t>• Read-only at runtime
• Changes only through Cloud Manager pipeline deployment
• Code, components, dialogs, OSGi bundles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C474F2-6808-457E-903A-9952D6FB82CA}"/>
              </a:ext>
            </a:extLst>
          </p:cNvPr>
          <p:cNvSpPr/>
          <p:nvPr/>
        </p:nvSpPr>
        <p:spPr>
          <a:xfrm>
            <a:off x="6311900" y="3302000"/>
            <a:ext cx="5207000" cy="3048000"/>
          </a:xfrm>
          <a:prstGeom prst="rect">
            <a:avLst/>
          </a:prstGeom>
          <a:solidFill>
            <a:srgbClr val="F4F4F4"/>
          </a:solidFill>
          <a:ln w="19050" cap="flat" cmpd="sng" algn="ctr">
            <a:solidFill>
              <a:srgbClr val="4A4A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BA827E-F0B0-4C88-BF97-4C08A38DB273}"/>
              </a:ext>
            </a:extLst>
          </p:cNvPr>
          <p:cNvSpPr txBox="1"/>
          <p:nvPr/>
        </p:nvSpPr>
        <p:spPr>
          <a:xfrm>
            <a:off x="6489700" y="3479800"/>
            <a:ext cx="4851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4A4A4A"/>
                </a:solidFill>
              </a:rPr>
              <a:t>MUTABLE LAYER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B46988-AB41-44D3-B172-79AE25D6C0FA}"/>
              </a:ext>
            </a:extLst>
          </p:cNvPr>
          <p:cNvSpPr txBox="1"/>
          <p:nvPr/>
        </p:nvSpPr>
        <p:spPr>
          <a:xfrm>
            <a:off x="6489700" y="3810000"/>
            <a:ext cx="4851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>
                <a:solidFill>
                  <a:srgbClr val="1A1A1A"/>
                </a:solidFill>
                <a:latin typeface="Consolas"/>
              </a:rPr>
              <a:t>/content and /conf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8C514A-33CD-428B-86EA-61BE6AD7151D}"/>
              </a:ext>
            </a:extLst>
          </p:cNvPr>
          <p:cNvSpPr txBox="1"/>
          <p:nvPr/>
        </p:nvSpPr>
        <p:spPr>
          <a:xfrm>
            <a:off x="6489700" y="4318000"/>
            <a:ext cx="48514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2C2C2C"/>
                </a:solidFill>
              </a:rPr>
              <a:t>• Survive deployments
• Persistent repository backed by Azure Blob Storage
• Pages, assets, configurations, user data</a:t>
            </a:r>
          </a:p>
        </p:txBody>
      </p:sp>
    </p:spTree>
    <p:extLst>
      <p:ext uri="{BB962C8B-B14F-4D97-AF65-F5344CB8AC3E}">
        <p14:creationId xmlns:p14="http://schemas.microsoft.com/office/powerpoint/2010/main" val="2118806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13923-33FE-3355-1482-54D2D32B2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/>
              <a:t>AEMaaCS — Key Services &amp; Tools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82F56E-AC26-48C4-A7AE-C7071F71436B}"/>
              </a:ext>
            </a:extLst>
          </p:cNvPr>
          <p:cNvSpPr/>
          <p:nvPr/>
        </p:nvSpPr>
        <p:spPr>
          <a:xfrm>
            <a:off x="838200" y="1905000"/>
            <a:ext cx="5257800" cy="2222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BED5BE3-F9D2-4535-A093-B82083BFD2C7}"/>
              </a:ext>
            </a:extLst>
          </p:cNvPr>
          <p:cNvSpPr/>
          <p:nvPr/>
        </p:nvSpPr>
        <p:spPr>
          <a:xfrm>
            <a:off x="1066800" y="2133600"/>
            <a:ext cx="762000" cy="762000"/>
          </a:xfrm>
          <a:prstGeom prst="ellipse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400" b="1">
                <a:solidFill>
                  <a:srgbClr val="FFFFFF"/>
                </a:solidFill>
              </a:rPr>
              <a:t>SCD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31E337-03DD-49BB-B6D7-12FE8437ADCE}"/>
              </a:ext>
            </a:extLst>
          </p:cNvPr>
          <p:cNvSpPr txBox="1"/>
          <p:nvPr/>
        </p:nvSpPr>
        <p:spPr>
          <a:xfrm>
            <a:off x="1981200" y="2184400"/>
            <a:ext cx="39243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>
                <a:solidFill>
                  <a:srgbClr val="1A1A1A"/>
                </a:solidFill>
              </a:rPr>
              <a:t>Sling Content Distribution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1FB04D-E5A6-4FF7-818F-30925B408864}"/>
              </a:ext>
            </a:extLst>
          </p:cNvPr>
          <p:cNvSpPr txBox="1"/>
          <p:nvPr/>
        </p:nvSpPr>
        <p:spPr>
          <a:xfrm>
            <a:off x="1981200" y="2616200"/>
            <a:ext cx="39243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2C2C2C"/>
                </a:solidFill>
              </a:rPr>
              <a:t>Replaces traditional replication agents for content propagation between author and publish tiers.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E24520-5523-445B-B6A1-7919EA843A1D}"/>
              </a:ext>
            </a:extLst>
          </p:cNvPr>
          <p:cNvSpPr/>
          <p:nvPr/>
        </p:nvSpPr>
        <p:spPr>
          <a:xfrm>
            <a:off x="6273800" y="1905000"/>
            <a:ext cx="5257800" cy="2222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D376320-8CF7-4580-BFF8-C65B2052E4E5}"/>
              </a:ext>
            </a:extLst>
          </p:cNvPr>
          <p:cNvSpPr/>
          <p:nvPr/>
        </p:nvSpPr>
        <p:spPr>
          <a:xfrm>
            <a:off x="6502400" y="2133600"/>
            <a:ext cx="762000" cy="762000"/>
          </a:xfrm>
          <a:prstGeom prst="ellipse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400" b="1">
                <a:solidFill>
                  <a:srgbClr val="FFFFFF"/>
                </a:solidFill>
              </a:rPr>
              <a:t>AMS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59BE41-0A72-4B86-9693-273E3C8AD34B}"/>
              </a:ext>
            </a:extLst>
          </p:cNvPr>
          <p:cNvSpPr txBox="1"/>
          <p:nvPr/>
        </p:nvSpPr>
        <p:spPr>
          <a:xfrm>
            <a:off x="7416800" y="2184400"/>
            <a:ext cx="39243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>
                <a:solidFill>
                  <a:srgbClr val="1A1A1A"/>
                </a:solidFill>
              </a:rPr>
              <a:t>Asset Microservices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54A5A8-A5BA-488C-B43B-5A984C7F35C0}"/>
              </a:ext>
            </a:extLst>
          </p:cNvPr>
          <p:cNvSpPr txBox="1"/>
          <p:nvPr/>
        </p:nvSpPr>
        <p:spPr>
          <a:xfrm>
            <a:off x="7416800" y="2616200"/>
            <a:ext cx="39243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2C2C2C"/>
                </a:solidFill>
              </a:rPr>
              <a:t>Handle rendition processing at scale via Adobe I/O Runtime — offloaded from AEM core.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55AA0B-9A0F-4AEE-8B67-A367B5B989F0}"/>
              </a:ext>
            </a:extLst>
          </p:cNvPr>
          <p:cNvSpPr/>
          <p:nvPr/>
        </p:nvSpPr>
        <p:spPr>
          <a:xfrm>
            <a:off x="838200" y="4305300"/>
            <a:ext cx="5257800" cy="2222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C6A67FD-2930-4176-A459-DD67A1766B85}"/>
              </a:ext>
            </a:extLst>
          </p:cNvPr>
          <p:cNvSpPr/>
          <p:nvPr/>
        </p:nvSpPr>
        <p:spPr>
          <a:xfrm>
            <a:off x="1066800" y="4533900"/>
            <a:ext cx="762000" cy="762000"/>
          </a:xfrm>
          <a:prstGeom prst="ellipse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400" b="1">
                <a:solidFill>
                  <a:srgbClr val="FFFFFF"/>
                </a:solidFill>
              </a:rPr>
              <a:t>RDE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8A9E3A-6721-4D48-9B73-039D2DCF34D9}"/>
              </a:ext>
            </a:extLst>
          </p:cNvPr>
          <p:cNvSpPr txBox="1"/>
          <p:nvPr/>
        </p:nvSpPr>
        <p:spPr>
          <a:xfrm>
            <a:off x="1981200" y="4584700"/>
            <a:ext cx="39243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>
                <a:solidFill>
                  <a:srgbClr val="1A1A1A"/>
                </a:solidFill>
              </a:rPr>
              <a:t>Rapid Development Environment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50C8EF-A1FD-4D08-887F-5BA49B70002B}"/>
              </a:ext>
            </a:extLst>
          </p:cNvPr>
          <p:cNvSpPr txBox="1"/>
          <p:nvPr/>
        </p:nvSpPr>
        <p:spPr>
          <a:xfrm>
            <a:off x="1981200" y="5016500"/>
            <a:ext cx="39243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2C2C2C"/>
                </a:solidFill>
              </a:rPr>
              <a:t>Instant code deploys without running a full pipeline. Built for developer iteration speed.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3FE41D-CAEE-47C1-8080-9128FAE64799}"/>
              </a:ext>
            </a:extLst>
          </p:cNvPr>
          <p:cNvSpPr/>
          <p:nvPr/>
        </p:nvSpPr>
        <p:spPr>
          <a:xfrm>
            <a:off x="6273800" y="4305300"/>
            <a:ext cx="5257800" cy="2222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12472A4-FB88-429A-B805-A7CB9385FFBF}"/>
              </a:ext>
            </a:extLst>
          </p:cNvPr>
          <p:cNvSpPr/>
          <p:nvPr/>
        </p:nvSpPr>
        <p:spPr>
          <a:xfrm>
            <a:off x="6502400" y="4533900"/>
            <a:ext cx="762000" cy="762000"/>
          </a:xfrm>
          <a:prstGeom prst="ellipse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400" b="1">
                <a:solidFill>
                  <a:srgbClr val="FFFFFF"/>
                </a:solidFill>
              </a:rPr>
              <a:t>CAM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088F6C-6704-49F6-8CC6-D9C069AC7987}"/>
              </a:ext>
            </a:extLst>
          </p:cNvPr>
          <p:cNvSpPr txBox="1"/>
          <p:nvPr/>
        </p:nvSpPr>
        <p:spPr>
          <a:xfrm>
            <a:off x="7416800" y="4584700"/>
            <a:ext cx="39243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>
                <a:solidFill>
                  <a:srgbClr val="1A1A1A"/>
                </a:solidFill>
              </a:rPr>
              <a:t>Cloud Acceleration Manager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CFD340-CA04-4976-AF93-23C6E2E5F799}"/>
              </a:ext>
            </a:extLst>
          </p:cNvPr>
          <p:cNvSpPr txBox="1"/>
          <p:nvPr/>
        </p:nvSpPr>
        <p:spPr>
          <a:xfrm>
            <a:off x="7416800" y="5016500"/>
            <a:ext cx="39243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2C2C2C"/>
                </a:solidFill>
              </a:rPr>
              <a:t>Helps teams plan, assess, and track migrations from AEM 6.x to AEMaaCS.</a:t>
            </a:r>
          </a:p>
        </p:txBody>
      </p:sp>
    </p:spTree>
    <p:extLst>
      <p:ext uri="{BB962C8B-B14F-4D97-AF65-F5344CB8AC3E}">
        <p14:creationId xmlns:p14="http://schemas.microsoft.com/office/powerpoint/2010/main" val="3653306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248AF-E54E-B4A5-7968-9409DD74F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/>
              <a:t>Adobe Admin Console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B955D5-C939-433B-B01E-948D465F33CB}"/>
              </a:ext>
            </a:extLst>
          </p:cNvPr>
          <p:cNvSpPr txBox="1"/>
          <p:nvPr/>
        </p:nvSpPr>
        <p:spPr>
          <a:xfrm>
            <a:off x="838200" y="12700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i="1">
                <a:solidFill>
                  <a:srgbClr val="E1251B"/>
                </a:solidFill>
              </a:rPr>
              <a:t>Central identity &amp; access management for all Adobe products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E88091-BAF4-48F3-9128-EF34BFE55642}"/>
              </a:ext>
            </a:extLst>
          </p:cNvPr>
          <p:cNvSpPr/>
          <p:nvPr/>
        </p:nvSpPr>
        <p:spPr>
          <a:xfrm>
            <a:off x="838200" y="1778000"/>
            <a:ext cx="10515600" cy="9525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26D836-6F92-478E-AA11-91793FA70FBA}"/>
              </a:ext>
            </a:extLst>
          </p:cNvPr>
          <p:cNvSpPr txBox="1"/>
          <p:nvPr/>
        </p:nvSpPr>
        <p:spPr>
          <a:xfrm>
            <a:off x="1066800" y="19304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F26B5E"/>
                </a:solidFill>
              </a:rPr>
              <a:t>IMS ORGANIZATION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40B130-3898-406A-A925-D29647347076}"/>
              </a:ext>
            </a:extLst>
          </p:cNvPr>
          <p:cNvSpPr txBox="1"/>
          <p:nvPr/>
        </p:nvSpPr>
        <p:spPr>
          <a:xfrm>
            <a:off x="1066800" y="2260600"/>
            <a:ext cx="10058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FAFAFA"/>
                </a:solidFill>
              </a:rPr>
              <a:t>Top-level entity representing a company's entitlement to Adobe products. All AEMaaCS programs belong to an IMS Org. The IMS Org Admin holds the highest level of access.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06069A-471A-46D6-A372-5D00C404BC93}"/>
              </a:ext>
            </a:extLst>
          </p:cNvPr>
          <p:cNvSpPr/>
          <p:nvPr/>
        </p:nvSpPr>
        <p:spPr>
          <a:xfrm>
            <a:off x="838200" y="2984500"/>
            <a:ext cx="5207000" cy="3429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E1251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72C59E-32D9-493F-9CE9-A587413C7B78}"/>
              </a:ext>
            </a:extLst>
          </p:cNvPr>
          <p:cNvSpPr/>
          <p:nvPr/>
        </p:nvSpPr>
        <p:spPr>
          <a:xfrm>
            <a:off x="838200" y="2984500"/>
            <a:ext cx="5207000" cy="4572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GB" sz="1600" b="1">
                <a:solidFill>
                  <a:srgbClr val="FFFFFF"/>
                </a:solidFill>
              </a:rPr>
              <a:t>Cloud Manager Profiles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35B23-B8BA-403D-92DE-4A4B66468D5E}"/>
              </a:ext>
            </a:extLst>
          </p:cNvPr>
          <p:cNvSpPr txBox="1"/>
          <p:nvPr/>
        </p:nvSpPr>
        <p:spPr>
          <a:xfrm>
            <a:off x="1066800" y="3619500"/>
            <a:ext cx="47498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A1A1A"/>
                </a:solidFill>
              </a:rPr>
              <a:t>• Business Owner
• Program Manager
• Deployment Manager
• Developer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F9184D-0EDC-4E67-920F-C8ED066F64FC}"/>
              </a:ext>
            </a:extLst>
          </p:cNvPr>
          <p:cNvSpPr txBox="1"/>
          <p:nvPr/>
        </p:nvSpPr>
        <p:spPr>
          <a:xfrm>
            <a:off x="1066800" y="5651500"/>
            <a:ext cx="4749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i="1">
                <a:solidFill>
                  <a:srgbClr val="4A4A4A"/>
                </a:solidFill>
              </a:rPr>
              <a:t>Control what users can do inside Cloud Manager.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CA20A3-EF8D-424C-9B0A-1C6C40FCB887}"/>
              </a:ext>
            </a:extLst>
          </p:cNvPr>
          <p:cNvSpPr/>
          <p:nvPr/>
        </p:nvSpPr>
        <p:spPr>
          <a:xfrm>
            <a:off x="6311900" y="2984500"/>
            <a:ext cx="5207000" cy="3429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A4A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C1FF7B-E765-4463-8793-79D01B6E8D85}"/>
              </a:ext>
            </a:extLst>
          </p:cNvPr>
          <p:cNvSpPr/>
          <p:nvPr/>
        </p:nvSpPr>
        <p:spPr>
          <a:xfrm>
            <a:off x="6311900" y="2984500"/>
            <a:ext cx="5207000" cy="457200"/>
          </a:xfrm>
          <a:prstGeom prst="rect">
            <a:avLst/>
          </a:prstGeom>
          <a:solidFill>
            <a:srgbClr val="4A4A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GB" sz="1600" b="1">
                <a:solidFill>
                  <a:srgbClr val="FFFFFF"/>
                </a:solidFill>
              </a:rPr>
              <a:t>AEM Environment Profiles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8FD5B2-EB23-42DF-8F2F-99C7A38E4986}"/>
              </a:ext>
            </a:extLst>
          </p:cNvPr>
          <p:cNvSpPr txBox="1"/>
          <p:nvPr/>
        </p:nvSpPr>
        <p:spPr>
          <a:xfrm>
            <a:off x="6540500" y="3619500"/>
            <a:ext cx="47498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A1A1A"/>
                </a:solidFill>
              </a:rPr>
              <a:t>• AEM Administrators
• AEM Users
One set per environment tier (Dev, Stage, Prod).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C35738-F7C5-4783-A59C-18515FC4D652}"/>
              </a:ext>
            </a:extLst>
          </p:cNvPr>
          <p:cNvSpPr txBox="1"/>
          <p:nvPr/>
        </p:nvSpPr>
        <p:spPr>
          <a:xfrm>
            <a:off x="6540500" y="5651500"/>
            <a:ext cx="4749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 i="1">
                <a:solidFill>
                  <a:srgbClr val="E1251B"/>
                </a:solidFill>
              </a:rPr>
              <a:t>Cloud Manager roles do NOT automatically grant AEM Author access — they are separate.</a:t>
            </a:r>
          </a:p>
        </p:txBody>
      </p:sp>
    </p:spTree>
    <p:extLst>
      <p:ext uri="{BB962C8B-B14F-4D97-AF65-F5344CB8AC3E}">
        <p14:creationId xmlns:p14="http://schemas.microsoft.com/office/powerpoint/2010/main" val="674028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B5844-F3EA-1879-69F4-5938F1E5A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/>
              <a:t>Cloud Manager — The Operational Hub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644AF40-B117-451E-B3C9-63F2D33F35C0}"/>
              </a:ext>
            </a:extLst>
          </p:cNvPr>
          <p:cNvSpPr/>
          <p:nvPr/>
        </p:nvSpPr>
        <p:spPr>
          <a:xfrm>
            <a:off x="838200" y="1841500"/>
            <a:ext cx="2540000" cy="508000"/>
          </a:xfrm>
          <a:prstGeom prst="roundRect">
            <a:avLst/>
          </a:prstGeom>
          <a:solidFill>
            <a:srgbClr val="FFF5F4"/>
          </a:solidFill>
          <a:ln w="12700" cap="flat" cmpd="sng" algn="ctr">
            <a:solidFill>
              <a:srgbClr val="E1251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GB" sz="1400" b="1">
                <a:solidFill>
                  <a:srgbClr val="E1251B"/>
                </a:solidFill>
              </a:rPr>
              <a:t>Deploy via Pipelines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A7F09A2-85EB-4FD7-9526-C6D4FBA13AAE}"/>
              </a:ext>
            </a:extLst>
          </p:cNvPr>
          <p:cNvSpPr/>
          <p:nvPr/>
        </p:nvSpPr>
        <p:spPr>
          <a:xfrm>
            <a:off x="3530600" y="1841500"/>
            <a:ext cx="2540000" cy="508000"/>
          </a:xfrm>
          <a:prstGeom prst="roundRect">
            <a:avLst/>
          </a:prstGeom>
          <a:solidFill>
            <a:srgbClr val="FFF5F4"/>
          </a:solidFill>
          <a:ln w="12700" cap="flat" cmpd="sng" algn="ctr">
            <a:solidFill>
              <a:srgbClr val="E1251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GB" sz="1400" b="1">
                <a:solidFill>
                  <a:srgbClr val="E1251B"/>
                </a:solidFill>
              </a:rPr>
              <a:t>Manage Environments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08FCC1A-25DC-46F4-81E7-A472B7899FE5}"/>
              </a:ext>
            </a:extLst>
          </p:cNvPr>
          <p:cNvSpPr/>
          <p:nvPr/>
        </p:nvSpPr>
        <p:spPr>
          <a:xfrm>
            <a:off x="6223000" y="1841500"/>
            <a:ext cx="2540000" cy="508000"/>
          </a:xfrm>
          <a:prstGeom prst="roundRect">
            <a:avLst/>
          </a:prstGeom>
          <a:solidFill>
            <a:srgbClr val="FFF5F4"/>
          </a:solidFill>
          <a:ln w="12700" cap="flat" cmpd="sng" algn="ctr">
            <a:solidFill>
              <a:srgbClr val="E1251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GB" sz="1400" b="1">
                <a:solidFill>
                  <a:srgbClr val="E1251B"/>
                </a:solidFill>
              </a:rPr>
              <a:t>Monitor &amp; Alert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91F1F63-8553-4DAB-AFCE-79A42173ADAC}"/>
              </a:ext>
            </a:extLst>
          </p:cNvPr>
          <p:cNvSpPr/>
          <p:nvPr/>
        </p:nvSpPr>
        <p:spPr>
          <a:xfrm>
            <a:off x="8915400" y="1841500"/>
            <a:ext cx="2540000" cy="508000"/>
          </a:xfrm>
          <a:prstGeom prst="roundRect">
            <a:avLst/>
          </a:prstGeom>
          <a:solidFill>
            <a:srgbClr val="FFF5F4"/>
          </a:solidFill>
          <a:ln w="12700" cap="flat" cmpd="sng" algn="ctr">
            <a:solidFill>
              <a:srgbClr val="E1251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GB" sz="1400" b="1">
                <a:solidFill>
                  <a:srgbClr val="E1251B"/>
                </a:solidFill>
              </a:rPr>
              <a:t>Logs &amp; Dev Tools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FB27B8-3A06-44CE-A35E-2DE3392C5941}"/>
              </a:ext>
            </a:extLst>
          </p:cNvPr>
          <p:cNvSpPr txBox="1"/>
          <p:nvPr/>
        </p:nvSpPr>
        <p:spPr>
          <a:xfrm>
            <a:off x="838200" y="27305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>
                <a:solidFill>
                  <a:srgbClr val="1A1A1A"/>
                </a:solidFill>
              </a:rPr>
              <a:t>Programs — The Top-Level Container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B8A992-36D8-438A-B678-A21BE709F5DB}"/>
              </a:ext>
            </a:extLst>
          </p:cNvPr>
          <p:cNvSpPr txBox="1"/>
          <p:nvPr/>
        </p:nvSpPr>
        <p:spPr>
          <a:xfrm>
            <a:off x="838200" y="30988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i="1">
                <a:solidFill>
                  <a:srgbClr val="4A4A4A"/>
                </a:solidFill>
              </a:rPr>
              <a:t>Groups environments, pipelines, a Git repository, and user access.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119CDA-84AE-457D-8F8A-567D2C60692D}"/>
              </a:ext>
            </a:extLst>
          </p:cNvPr>
          <p:cNvSpPr/>
          <p:nvPr/>
        </p:nvSpPr>
        <p:spPr>
          <a:xfrm>
            <a:off x="838200" y="3556000"/>
            <a:ext cx="3403600" cy="2413000"/>
          </a:xfrm>
          <a:prstGeom prst="rect">
            <a:avLst/>
          </a:prstGeom>
          <a:solidFill>
            <a:srgbClr val="F4F4F4"/>
          </a:solidFill>
          <a:ln w="12700" cap="flat" cmpd="sng" algn="ctr">
            <a:solidFill>
              <a:srgbClr val="B8B8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A275C2-D53F-4E98-A434-56F38CF98E6D}"/>
              </a:ext>
            </a:extLst>
          </p:cNvPr>
          <p:cNvSpPr/>
          <p:nvPr/>
        </p:nvSpPr>
        <p:spPr>
          <a:xfrm>
            <a:off x="838200" y="3556000"/>
            <a:ext cx="3403600" cy="457200"/>
          </a:xfrm>
          <a:prstGeom prst="rect">
            <a:avLst/>
          </a:prstGeom>
          <a:solidFill>
            <a:srgbClr val="4A4A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GB" sz="1600" b="1">
                <a:solidFill>
                  <a:srgbClr val="FFFFFF"/>
                </a:solidFill>
              </a:rPr>
              <a:t>SANDBOX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84D59D-DB03-4501-BE39-3B91BE82D05D}"/>
              </a:ext>
            </a:extLst>
          </p:cNvPr>
          <p:cNvSpPr txBox="1"/>
          <p:nvPr/>
        </p:nvSpPr>
        <p:spPr>
          <a:xfrm>
            <a:off x="1066800" y="4191000"/>
            <a:ext cx="29464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2C2C2C"/>
                </a:solidFill>
              </a:rPr>
              <a:t>• Learning, demos, PoCs
• No production environment
• No SLA
• Auto-hibernates after ~8h inactivity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CA0F30F-B676-4C5C-9952-E1B37B0424BA}"/>
              </a:ext>
            </a:extLst>
          </p:cNvPr>
          <p:cNvSpPr/>
          <p:nvPr/>
        </p:nvSpPr>
        <p:spPr>
          <a:xfrm>
            <a:off x="4394200" y="3556000"/>
            <a:ext cx="3403600" cy="2413000"/>
          </a:xfrm>
          <a:prstGeom prst="rect">
            <a:avLst/>
          </a:prstGeom>
          <a:solidFill>
            <a:srgbClr val="FFF5F4"/>
          </a:solidFill>
          <a:ln w="19050" cap="flat" cmpd="sng" algn="ctr">
            <a:solidFill>
              <a:srgbClr val="E1251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51F48D-1DB4-453D-A6F7-DE3B5F53B67B}"/>
              </a:ext>
            </a:extLst>
          </p:cNvPr>
          <p:cNvSpPr/>
          <p:nvPr/>
        </p:nvSpPr>
        <p:spPr>
          <a:xfrm>
            <a:off x="4394200" y="3556000"/>
            <a:ext cx="3403600" cy="4572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GB" sz="1600" b="1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1A31C1-DC80-4077-B1B1-33293DFEA3C1}"/>
              </a:ext>
            </a:extLst>
          </p:cNvPr>
          <p:cNvSpPr txBox="1"/>
          <p:nvPr/>
        </p:nvSpPr>
        <p:spPr>
          <a:xfrm>
            <a:off x="4622800" y="4191000"/>
            <a:ext cx="29464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2C2C2C"/>
                </a:solidFill>
              </a:rPr>
              <a:t>• Full capacity
• Adobe SLA-backed
• Real business workloads
• No auto-hibernation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D36744-E828-4B39-9F0C-ED0F23DC9631}"/>
              </a:ext>
            </a:extLst>
          </p:cNvPr>
          <p:cNvSpPr/>
          <p:nvPr/>
        </p:nvSpPr>
        <p:spPr>
          <a:xfrm>
            <a:off x="7950200" y="3556000"/>
            <a:ext cx="3403600" cy="24130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607925-03F2-4A90-A553-544DEF4D47A0}"/>
              </a:ext>
            </a:extLst>
          </p:cNvPr>
          <p:cNvSpPr/>
          <p:nvPr/>
        </p:nvSpPr>
        <p:spPr>
          <a:xfrm>
            <a:off x="7950200" y="3556000"/>
            <a:ext cx="3403600" cy="4572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GB" sz="1600" b="1">
                <a:solidFill>
                  <a:srgbClr val="F26B5E"/>
                </a:solidFill>
              </a:rPr>
              <a:t>GIT REPOSITORIES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1206B0-451B-4ECB-85AB-9AB9EF427FCE}"/>
              </a:ext>
            </a:extLst>
          </p:cNvPr>
          <p:cNvSpPr txBox="1"/>
          <p:nvPr/>
        </p:nvSpPr>
        <p:spPr>
          <a:xfrm>
            <a:off x="8178800" y="4191000"/>
            <a:ext cx="29464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FAFAFA"/>
                </a:solidFill>
              </a:rPr>
              <a:t>• Adobe-hosted Git repo per program
• Connect external repos: GitHub, GitLab, Bitbucket
• Keep your existing VCS workflow</a:t>
            </a:r>
          </a:p>
        </p:txBody>
      </p:sp>
    </p:spTree>
    <p:extLst>
      <p:ext uri="{BB962C8B-B14F-4D97-AF65-F5344CB8AC3E}">
        <p14:creationId xmlns:p14="http://schemas.microsoft.com/office/powerpoint/2010/main" val="2899402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3A536-0B56-31D3-31D6-B3CDE3029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/>
              <a:t>Roles &amp; Permissions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563DD7-5CF9-49E5-8222-D5CC9DB79070}"/>
              </a:ext>
            </a:extLst>
          </p:cNvPr>
          <p:cNvSpPr txBox="1"/>
          <p:nvPr/>
        </p:nvSpPr>
        <p:spPr>
          <a:xfrm>
            <a:off x="838200" y="12700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i="1">
                <a:solidFill>
                  <a:srgbClr val="E1251B"/>
                </a:solidFill>
              </a:rPr>
              <a:t>Four Cloud Manager roles — each with a clear scope. All assigned via product profiles in Admin Console.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C44F9D-FB4D-4865-B61D-786EB0D36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555177"/>
              </p:ext>
            </p:extLst>
          </p:nvPr>
        </p:nvGraphicFramePr>
        <p:xfrm>
          <a:off x="838200" y="1841500"/>
          <a:ext cx="10515600" cy="3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82666205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515379686"/>
                    </a:ext>
                  </a:extLst>
                </a:gridCol>
                <a:gridCol w="5435600">
                  <a:extLst>
                    <a:ext uri="{9D8B030D-6E8A-4147-A177-3AD203B41FA5}">
                      <a16:colId xmlns:a16="http://schemas.microsoft.com/office/drawing/2014/main" val="3783739388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GB" sz="15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Role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5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Scope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5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Key Permissions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84212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GB" sz="1400" b="1">
                          <a:solidFill>
                            <a:srgbClr val="E1251B"/>
                          </a:solidFill>
                          <a:latin typeface="Segoe UI"/>
                          <a:cs typeface="Segoe UI"/>
                        </a:rPr>
                        <a:t>Business Owner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rgbClr val="2C2C2C"/>
                          </a:solidFill>
                          <a:latin typeface="Segoe UI"/>
                          <a:cs typeface="Segoe UI"/>
                        </a:rPr>
                        <a:t>Governance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rgbClr val="2C2C2C"/>
                          </a:solidFill>
                          <a:latin typeface="Segoe UI"/>
                          <a:cs typeface="Segoe UI"/>
                        </a:rPr>
                        <a:t>Creates programs • Sets KPI targets • Approves Go Live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18917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GB" sz="1400" b="1">
                          <a:solidFill>
                            <a:srgbClr val="F26B5E"/>
                          </a:solidFill>
                          <a:latin typeface="Segoe UI"/>
                          <a:cs typeface="Segoe UI"/>
                        </a:rPr>
                        <a:t>Program Manager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rgbClr val="2C2C2C"/>
                          </a:solidFill>
                          <a:latin typeface="Segoe UI"/>
                          <a:cs typeface="Segoe UI"/>
                        </a:rPr>
                        <a:t>Coordination &amp; Planning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rgbClr val="2C2C2C"/>
                          </a:solidFill>
                          <a:latin typeface="Segoe UI"/>
                          <a:cs typeface="Segoe UI"/>
                        </a:rPr>
                        <a:t>Manages timelines • Cross-team visibility • No deploy rights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755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GB" sz="1400" b="1">
                          <a:solidFill>
                            <a:srgbClr val="E1251B"/>
                          </a:solidFill>
                          <a:latin typeface="Segoe UI"/>
                          <a:cs typeface="Segoe UI"/>
                        </a:rPr>
                        <a:t>Deployment Manager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rgbClr val="2C2C2C"/>
                          </a:solidFill>
                          <a:latin typeface="Segoe UI"/>
                          <a:cs typeface="Segoe UI"/>
                        </a:rPr>
                        <a:t>Deployment &amp; Ops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rgbClr val="2C2C2C"/>
                          </a:solidFill>
                          <a:latin typeface="Segoe UI"/>
                          <a:cs typeface="Segoe UI"/>
                        </a:rPr>
                        <a:t>Configures pipelines • Triggers Production • Overrides Important gates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33579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GB" sz="1400" b="1">
                          <a:solidFill>
                            <a:srgbClr val="4A4A4A"/>
                          </a:solidFill>
                          <a:latin typeface="Segoe UI"/>
                          <a:cs typeface="Segoe UI"/>
                        </a:rPr>
                        <a:t>Developer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rgbClr val="2C2C2C"/>
                          </a:solidFill>
                          <a:latin typeface="Segoe UI"/>
                          <a:cs typeface="Segoe UI"/>
                        </a:rPr>
                        <a:t>Code &amp; Debug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rgbClr val="2C2C2C"/>
                          </a:solidFill>
                          <a:latin typeface="Segoe UI"/>
                          <a:cs typeface="Segoe UI"/>
                        </a:rPr>
                        <a:t>Logs • Dev Console • Triggers non-prod pipelines only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134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8601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7AB48-1511-9DE6-0F16-D6F575F4F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/>
              <a:t>Pipeline Types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1EFC2D-6845-4028-B1E2-D5EB9C71DA11}"/>
              </a:ext>
            </a:extLst>
          </p:cNvPr>
          <p:cNvSpPr txBox="1"/>
          <p:nvPr/>
        </p:nvSpPr>
        <p:spPr>
          <a:xfrm>
            <a:off x="838200" y="12700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i="1">
                <a:solidFill>
                  <a:srgbClr val="E1251B"/>
                </a:solidFill>
              </a:rPr>
              <a:t>Choosing the right pipeline matters — each one targets a specific deployment scope.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1A0444-EED4-4E6D-B06C-2109700E7020}"/>
              </a:ext>
            </a:extLst>
          </p:cNvPr>
          <p:cNvSpPr/>
          <p:nvPr/>
        </p:nvSpPr>
        <p:spPr>
          <a:xfrm>
            <a:off x="838200" y="1841500"/>
            <a:ext cx="2032000" cy="3429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67505D-8F47-4F7E-B8AA-6CD7C68FE3B1}"/>
              </a:ext>
            </a:extLst>
          </p:cNvPr>
          <p:cNvSpPr/>
          <p:nvPr/>
        </p:nvSpPr>
        <p:spPr>
          <a:xfrm>
            <a:off x="838200" y="1841500"/>
            <a:ext cx="2032000" cy="1016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0E1AEF-8E5C-4375-90D2-7456ED2C65DC}"/>
              </a:ext>
            </a:extLst>
          </p:cNvPr>
          <p:cNvSpPr txBox="1"/>
          <p:nvPr/>
        </p:nvSpPr>
        <p:spPr>
          <a:xfrm>
            <a:off x="990600" y="2120900"/>
            <a:ext cx="1727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700" b="1">
                <a:solidFill>
                  <a:srgbClr val="E1251B"/>
                </a:solidFill>
              </a:rPr>
              <a:t>Full Stack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510141-17E4-4058-A87B-8A64FFC7DEC4}"/>
              </a:ext>
            </a:extLst>
          </p:cNvPr>
          <p:cNvSpPr/>
          <p:nvPr/>
        </p:nvSpPr>
        <p:spPr>
          <a:xfrm>
            <a:off x="990600" y="2832100"/>
            <a:ext cx="381000" cy="254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A9222B-4100-44F6-804A-91CE786D6644}"/>
              </a:ext>
            </a:extLst>
          </p:cNvPr>
          <p:cNvSpPr txBox="1"/>
          <p:nvPr/>
        </p:nvSpPr>
        <p:spPr>
          <a:xfrm>
            <a:off x="990600" y="3009900"/>
            <a:ext cx="1727200" cy="215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2C2C2C"/>
                </a:solidFill>
              </a:rPr>
              <a:t>Builds &amp; deploys everything: OSGi, content, Dispatcher, front-end. The standard all-layer pipeline.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6D9274-0B73-4B23-921B-2111B390B62B}"/>
              </a:ext>
            </a:extLst>
          </p:cNvPr>
          <p:cNvSpPr/>
          <p:nvPr/>
        </p:nvSpPr>
        <p:spPr>
          <a:xfrm>
            <a:off x="2959100" y="1841500"/>
            <a:ext cx="2032000" cy="3429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3A0946-4B25-4305-9CCE-43EDD457512A}"/>
              </a:ext>
            </a:extLst>
          </p:cNvPr>
          <p:cNvSpPr/>
          <p:nvPr/>
        </p:nvSpPr>
        <p:spPr>
          <a:xfrm>
            <a:off x="2959100" y="1841500"/>
            <a:ext cx="2032000" cy="101600"/>
          </a:xfrm>
          <a:prstGeom prst="rect">
            <a:avLst/>
          </a:prstGeom>
          <a:solidFill>
            <a:srgbClr val="F26B5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D2483A-AAF8-474C-A218-5C7538B9101C}"/>
              </a:ext>
            </a:extLst>
          </p:cNvPr>
          <p:cNvSpPr txBox="1"/>
          <p:nvPr/>
        </p:nvSpPr>
        <p:spPr>
          <a:xfrm>
            <a:off x="3111500" y="2120900"/>
            <a:ext cx="1727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700" b="1">
                <a:solidFill>
                  <a:srgbClr val="F26B5E"/>
                </a:solidFill>
              </a:rPr>
              <a:t>Front End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3FBB2F-C00A-4BEE-B785-CA770DE637C9}"/>
              </a:ext>
            </a:extLst>
          </p:cNvPr>
          <p:cNvSpPr/>
          <p:nvPr/>
        </p:nvSpPr>
        <p:spPr>
          <a:xfrm>
            <a:off x="3111500" y="2832100"/>
            <a:ext cx="381000" cy="25400"/>
          </a:xfrm>
          <a:prstGeom prst="rect">
            <a:avLst/>
          </a:prstGeom>
          <a:solidFill>
            <a:srgbClr val="F26B5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1C6658-39BC-4200-AB22-6E62AD959CBF}"/>
              </a:ext>
            </a:extLst>
          </p:cNvPr>
          <p:cNvSpPr txBox="1"/>
          <p:nvPr/>
        </p:nvSpPr>
        <p:spPr>
          <a:xfrm>
            <a:off x="3111500" y="3009900"/>
            <a:ext cx="1727200" cy="215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2C2C2C"/>
                </a:solidFill>
              </a:rPr>
              <a:t>Compiled CSS/JS only. npm/webpack build, skips Maven. Faster, independent FE deploys.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F9ADB3-6404-4D2B-94DF-302610497BC5}"/>
              </a:ext>
            </a:extLst>
          </p:cNvPr>
          <p:cNvSpPr/>
          <p:nvPr/>
        </p:nvSpPr>
        <p:spPr>
          <a:xfrm>
            <a:off x="5080000" y="1841500"/>
            <a:ext cx="2032000" cy="3429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08B5C3-3535-4633-A593-6A42BC696FF9}"/>
              </a:ext>
            </a:extLst>
          </p:cNvPr>
          <p:cNvSpPr/>
          <p:nvPr/>
        </p:nvSpPr>
        <p:spPr>
          <a:xfrm>
            <a:off x="5080000" y="1841500"/>
            <a:ext cx="2032000" cy="101600"/>
          </a:xfrm>
          <a:prstGeom prst="rect">
            <a:avLst/>
          </a:prstGeom>
          <a:solidFill>
            <a:srgbClr val="4A4A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CA75B0-F86B-44BE-833E-A8C980924910}"/>
              </a:ext>
            </a:extLst>
          </p:cNvPr>
          <p:cNvSpPr txBox="1"/>
          <p:nvPr/>
        </p:nvSpPr>
        <p:spPr>
          <a:xfrm>
            <a:off x="5232400" y="2120900"/>
            <a:ext cx="1727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700" b="1">
                <a:solidFill>
                  <a:srgbClr val="4A4A4A"/>
                </a:solidFill>
              </a:rPr>
              <a:t>Config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C10D98-C586-4823-82B5-088164BDC6F1}"/>
              </a:ext>
            </a:extLst>
          </p:cNvPr>
          <p:cNvSpPr/>
          <p:nvPr/>
        </p:nvSpPr>
        <p:spPr>
          <a:xfrm>
            <a:off x="5232400" y="2832100"/>
            <a:ext cx="381000" cy="25400"/>
          </a:xfrm>
          <a:prstGeom prst="rect">
            <a:avLst/>
          </a:prstGeom>
          <a:solidFill>
            <a:srgbClr val="4A4A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7E108B-95FF-4ED8-B67C-2DBA4DA9892F}"/>
              </a:ext>
            </a:extLst>
          </p:cNvPr>
          <p:cNvSpPr txBox="1"/>
          <p:nvPr/>
        </p:nvSpPr>
        <p:spPr>
          <a:xfrm>
            <a:off x="5232400" y="3009900"/>
            <a:ext cx="1727200" cy="215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2C2C2C"/>
                </a:solidFill>
              </a:rPr>
              <a:t>OSGi run-mode configs, CDN rules, log forwarding. No compilation — much faster.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7229D8-8F73-4571-8261-078DA68F73FE}"/>
              </a:ext>
            </a:extLst>
          </p:cNvPr>
          <p:cNvSpPr/>
          <p:nvPr/>
        </p:nvSpPr>
        <p:spPr>
          <a:xfrm>
            <a:off x="7200900" y="1841500"/>
            <a:ext cx="2032000" cy="3429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8D4DF2-A038-4544-A155-AA7A33CD33B9}"/>
              </a:ext>
            </a:extLst>
          </p:cNvPr>
          <p:cNvSpPr/>
          <p:nvPr/>
        </p:nvSpPr>
        <p:spPr>
          <a:xfrm>
            <a:off x="7200900" y="1841500"/>
            <a:ext cx="2032000" cy="101600"/>
          </a:xfrm>
          <a:prstGeom prst="rect">
            <a:avLst/>
          </a:prstGeom>
          <a:solidFill>
            <a:srgbClr val="4A4A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1E0D2C-FA61-4C4B-8B65-4972565EBF5E}"/>
              </a:ext>
            </a:extLst>
          </p:cNvPr>
          <p:cNvSpPr txBox="1"/>
          <p:nvPr/>
        </p:nvSpPr>
        <p:spPr>
          <a:xfrm>
            <a:off x="7353300" y="2120900"/>
            <a:ext cx="1727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700" b="1">
                <a:solidFill>
                  <a:srgbClr val="4A4A4A"/>
                </a:solidFill>
              </a:rPr>
              <a:t>Web Tier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E41DFA-DCDE-4135-BDA4-A0EBA5261A8F}"/>
              </a:ext>
            </a:extLst>
          </p:cNvPr>
          <p:cNvSpPr/>
          <p:nvPr/>
        </p:nvSpPr>
        <p:spPr>
          <a:xfrm>
            <a:off x="7353300" y="2832100"/>
            <a:ext cx="381000" cy="25400"/>
          </a:xfrm>
          <a:prstGeom prst="rect">
            <a:avLst/>
          </a:prstGeom>
          <a:solidFill>
            <a:srgbClr val="4A4A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E16245-C46E-46E9-8FA9-9FC4676070FA}"/>
              </a:ext>
            </a:extLst>
          </p:cNvPr>
          <p:cNvSpPr txBox="1"/>
          <p:nvPr/>
        </p:nvSpPr>
        <p:spPr>
          <a:xfrm>
            <a:off x="7353300" y="3009900"/>
            <a:ext cx="1727200" cy="215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2C2C2C"/>
                </a:solidFill>
              </a:rPr>
              <a:t>Dispatcher and Apache HTTP configuration changes only.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83D7DD-172D-4927-B07F-F2679219F2DE}"/>
              </a:ext>
            </a:extLst>
          </p:cNvPr>
          <p:cNvSpPr/>
          <p:nvPr/>
        </p:nvSpPr>
        <p:spPr>
          <a:xfrm>
            <a:off x="9321800" y="1841500"/>
            <a:ext cx="2032000" cy="3429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21385B-2B17-472B-B9B9-A68E07C4870D}"/>
              </a:ext>
            </a:extLst>
          </p:cNvPr>
          <p:cNvSpPr/>
          <p:nvPr/>
        </p:nvSpPr>
        <p:spPr>
          <a:xfrm>
            <a:off x="9321800" y="1841500"/>
            <a:ext cx="2032000" cy="101600"/>
          </a:xfrm>
          <a:prstGeom prst="rect">
            <a:avLst/>
          </a:prstGeom>
          <a:solidFill>
            <a:srgbClr val="8C1A1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6356D7-BA7F-49E7-B4AB-E2F0B929871C}"/>
              </a:ext>
            </a:extLst>
          </p:cNvPr>
          <p:cNvSpPr txBox="1"/>
          <p:nvPr/>
        </p:nvSpPr>
        <p:spPr>
          <a:xfrm>
            <a:off x="9474200" y="2120900"/>
            <a:ext cx="1727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700" b="1">
                <a:solidFill>
                  <a:srgbClr val="8C1A12"/>
                </a:solidFill>
              </a:rPr>
              <a:t>Code Quality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0F1C98-A5B1-4E51-B476-A55B90798A0D}"/>
              </a:ext>
            </a:extLst>
          </p:cNvPr>
          <p:cNvSpPr/>
          <p:nvPr/>
        </p:nvSpPr>
        <p:spPr>
          <a:xfrm>
            <a:off x="9474200" y="2832100"/>
            <a:ext cx="381000" cy="25400"/>
          </a:xfrm>
          <a:prstGeom prst="rect">
            <a:avLst/>
          </a:prstGeom>
          <a:solidFill>
            <a:srgbClr val="8C1A1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2A2C2E-8428-40ED-96FE-03F11094582B}"/>
              </a:ext>
            </a:extLst>
          </p:cNvPr>
          <p:cNvSpPr txBox="1"/>
          <p:nvPr/>
        </p:nvSpPr>
        <p:spPr>
          <a:xfrm>
            <a:off x="9474200" y="3009900"/>
            <a:ext cx="1727200" cy="215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2C2C2C"/>
                </a:solidFill>
              </a:rPr>
              <a:t>SonarQube analysis without deploying. Useful for branches &amp; PRs.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9D5777-1895-4232-9E9A-66983076F800}"/>
              </a:ext>
            </a:extLst>
          </p:cNvPr>
          <p:cNvSpPr/>
          <p:nvPr/>
        </p:nvSpPr>
        <p:spPr>
          <a:xfrm>
            <a:off x="838200" y="5461000"/>
            <a:ext cx="10515600" cy="7620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053BBF-FBC8-4DF6-AE01-ED00A34543F1}"/>
              </a:ext>
            </a:extLst>
          </p:cNvPr>
          <p:cNvSpPr txBox="1"/>
          <p:nvPr/>
        </p:nvSpPr>
        <p:spPr>
          <a:xfrm>
            <a:off x="1016000" y="5613400"/>
            <a:ext cx="50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200">
                <a:solidFill>
                  <a:srgbClr val="F26B5E"/>
                </a:solidFill>
              </a:rPr>
              <a:t>⚠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8C9C4C-C61E-4EFC-A45E-9FC54F7E275E}"/>
              </a:ext>
            </a:extLst>
          </p:cNvPr>
          <p:cNvSpPr txBox="1"/>
          <p:nvPr/>
        </p:nvSpPr>
        <p:spPr>
          <a:xfrm>
            <a:off x="1524000" y="56134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GB" sz="1400" b="1">
                <a:solidFill>
                  <a:srgbClr val="FAFAFA"/>
                </a:solidFill>
              </a:rPr>
              <a:t>KEY CONSTRAINT:  Each program supports exactly ONE Production Pipeline. Multiple Non-Production, Config, Front End, and Code Quality pipelines are allowed.</a:t>
            </a:r>
          </a:p>
        </p:txBody>
      </p:sp>
    </p:spTree>
    <p:extLst>
      <p:ext uri="{BB962C8B-B14F-4D97-AF65-F5344CB8AC3E}">
        <p14:creationId xmlns:p14="http://schemas.microsoft.com/office/powerpoint/2010/main" val="856877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D5AA93-C195-45BC-B666-0BC858311518}"/>
              </a:ext>
            </a:extLst>
          </p:cNvPr>
          <p:cNvSpPr/>
          <p:nvPr/>
        </p:nvSpPr>
        <p:spPr>
          <a:xfrm>
            <a:off x="838200" y="2336800"/>
            <a:ext cx="10515600" cy="254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A0C117-2710-717D-E9C7-89EDA1F13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/>
              <a:t>Production Pipeline — Step by Step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DD91D1-A30E-4074-B8C5-D088464A5735}"/>
              </a:ext>
            </a:extLst>
          </p:cNvPr>
          <p:cNvSpPr txBox="1"/>
          <p:nvPr/>
        </p:nvSpPr>
        <p:spPr>
          <a:xfrm>
            <a:off x="838200" y="12700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i="1">
                <a:solidFill>
                  <a:srgbClr val="E1251B"/>
                </a:solidFill>
              </a:rPr>
              <a:t>The primary deployment mechanism. Six sequential steps from Git to live traffic.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8ECB9AB-2874-46CD-8241-B968757687C8}"/>
              </a:ext>
            </a:extLst>
          </p:cNvPr>
          <p:cNvSpPr/>
          <p:nvPr/>
        </p:nvSpPr>
        <p:spPr>
          <a:xfrm>
            <a:off x="1270000" y="1905000"/>
            <a:ext cx="889000" cy="889000"/>
          </a:xfrm>
          <a:prstGeom prst="ellipse">
            <a:avLst/>
          </a:prstGeom>
          <a:solidFill>
            <a:srgbClr val="E1251B"/>
          </a:solidFill>
          <a:ln w="381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2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9FF19A-DE51-431B-9F68-0BB29315DFD0}"/>
              </a:ext>
            </a:extLst>
          </p:cNvPr>
          <p:cNvSpPr txBox="1"/>
          <p:nvPr/>
        </p:nvSpPr>
        <p:spPr>
          <a:xfrm>
            <a:off x="838200" y="2921000"/>
            <a:ext cx="1752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500" b="1">
                <a:solidFill>
                  <a:srgbClr val="1A1A1A"/>
                </a:solidFill>
              </a:rPr>
              <a:t>Build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79CAF9-85F6-4503-825A-AADB2A2BD13F}"/>
              </a:ext>
            </a:extLst>
          </p:cNvPr>
          <p:cNvSpPr txBox="1"/>
          <p:nvPr/>
        </p:nvSpPr>
        <p:spPr>
          <a:xfrm>
            <a:off x="889000" y="3454400"/>
            <a:ext cx="1651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2C2C2C"/>
                </a:solidFill>
              </a:rPr>
              <a:t>Git checkout • mvn clean package • unit tests • coverage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0E1B7B2-E3BE-4862-8054-EB6405764DA1}"/>
              </a:ext>
            </a:extLst>
          </p:cNvPr>
          <p:cNvSpPr/>
          <p:nvPr/>
        </p:nvSpPr>
        <p:spPr>
          <a:xfrm>
            <a:off x="3022600" y="1905000"/>
            <a:ext cx="889000" cy="889000"/>
          </a:xfrm>
          <a:prstGeom prst="ellipse">
            <a:avLst/>
          </a:prstGeom>
          <a:solidFill>
            <a:srgbClr val="E1251B"/>
          </a:solidFill>
          <a:ln w="381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2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1FC8D2-6652-4C5D-8D37-A93BFC018DD9}"/>
              </a:ext>
            </a:extLst>
          </p:cNvPr>
          <p:cNvSpPr txBox="1"/>
          <p:nvPr/>
        </p:nvSpPr>
        <p:spPr>
          <a:xfrm>
            <a:off x="2590800" y="2921000"/>
            <a:ext cx="1752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500" b="1">
                <a:solidFill>
                  <a:srgbClr val="1A1A1A"/>
                </a:solidFill>
              </a:rPr>
              <a:t>Code Quality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1401E5-2B8D-47C8-8ACC-45FE8832C2D5}"/>
              </a:ext>
            </a:extLst>
          </p:cNvPr>
          <p:cNvSpPr txBox="1"/>
          <p:nvPr/>
        </p:nvSpPr>
        <p:spPr>
          <a:xfrm>
            <a:off x="2641600" y="3454400"/>
            <a:ext cx="1651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2C2C2C"/>
                </a:solidFill>
              </a:rPr>
              <a:t>SonarQube static analysis • Reliability, Security, Maintainability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C67832E-6060-4ABC-BFE4-9A56716EBF2D}"/>
              </a:ext>
            </a:extLst>
          </p:cNvPr>
          <p:cNvSpPr/>
          <p:nvPr/>
        </p:nvSpPr>
        <p:spPr>
          <a:xfrm>
            <a:off x="4775200" y="1905000"/>
            <a:ext cx="889000" cy="889000"/>
          </a:xfrm>
          <a:prstGeom prst="ellipse">
            <a:avLst/>
          </a:prstGeom>
          <a:solidFill>
            <a:srgbClr val="E1251B"/>
          </a:solidFill>
          <a:ln w="381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2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6C621D-45A0-4C4D-AF80-208BA5B60FF1}"/>
              </a:ext>
            </a:extLst>
          </p:cNvPr>
          <p:cNvSpPr txBox="1"/>
          <p:nvPr/>
        </p:nvSpPr>
        <p:spPr>
          <a:xfrm>
            <a:off x="4343400" y="2921000"/>
            <a:ext cx="1752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500" b="1">
                <a:solidFill>
                  <a:srgbClr val="1A1A1A"/>
                </a:solidFill>
              </a:rPr>
              <a:t>Deploy to Stage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CC298E-5BCA-4BE0-9B71-4A912B4414E0}"/>
              </a:ext>
            </a:extLst>
          </p:cNvPr>
          <p:cNvSpPr txBox="1"/>
          <p:nvPr/>
        </p:nvSpPr>
        <p:spPr>
          <a:xfrm>
            <a:off x="4394200" y="3454400"/>
            <a:ext cx="1651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2C2C2C"/>
                </a:solidFill>
              </a:rPr>
              <a:t>Installs artifact on Stage (Author + Publish) for integration &amp; UAT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0839238-8393-4326-8913-C82340E33FBD}"/>
              </a:ext>
            </a:extLst>
          </p:cNvPr>
          <p:cNvSpPr/>
          <p:nvPr/>
        </p:nvSpPr>
        <p:spPr>
          <a:xfrm>
            <a:off x="6527800" y="1905000"/>
            <a:ext cx="889000" cy="889000"/>
          </a:xfrm>
          <a:prstGeom prst="ellipse">
            <a:avLst/>
          </a:prstGeom>
          <a:solidFill>
            <a:srgbClr val="E1251B"/>
          </a:solidFill>
          <a:ln w="381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2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78D009-FDD6-4B50-A8E5-FAEB10C11865}"/>
              </a:ext>
            </a:extLst>
          </p:cNvPr>
          <p:cNvSpPr txBox="1"/>
          <p:nvPr/>
        </p:nvSpPr>
        <p:spPr>
          <a:xfrm>
            <a:off x="6096000" y="2921000"/>
            <a:ext cx="1752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500" b="1">
                <a:solidFill>
                  <a:srgbClr val="1A1A1A"/>
                </a:solidFill>
              </a:rPr>
              <a:t>Testing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C41CB9-5AC9-4926-8FC2-852B78F700A8}"/>
              </a:ext>
            </a:extLst>
          </p:cNvPr>
          <p:cNvSpPr txBox="1"/>
          <p:nvPr/>
        </p:nvSpPr>
        <p:spPr>
          <a:xfrm>
            <a:off x="6146800" y="3454400"/>
            <a:ext cx="1651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2C2C2C"/>
                </a:solidFill>
              </a:rPr>
              <a:t>Product Functional • Custom Functional • Custom UI • Performance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D8723C1-463C-4406-9BD9-983CA8312BCD}"/>
              </a:ext>
            </a:extLst>
          </p:cNvPr>
          <p:cNvSpPr/>
          <p:nvPr/>
        </p:nvSpPr>
        <p:spPr>
          <a:xfrm>
            <a:off x="8280400" y="1905000"/>
            <a:ext cx="889000" cy="889000"/>
          </a:xfrm>
          <a:prstGeom prst="ellipse">
            <a:avLst/>
          </a:prstGeom>
          <a:solidFill>
            <a:srgbClr val="1A1A1A"/>
          </a:solidFill>
          <a:ln w="381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2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3B5756-3828-4AC4-81EB-02AF3E5B4F4F}"/>
              </a:ext>
            </a:extLst>
          </p:cNvPr>
          <p:cNvSpPr txBox="1"/>
          <p:nvPr/>
        </p:nvSpPr>
        <p:spPr>
          <a:xfrm>
            <a:off x="7848600" y="2921000"/>
            <a:ext cx="1752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500" b="1">
                <a:solidFill>
                  <a:srgbClr val="1A1A1A"/>
                </a:solidFill>
              </a:rPr>
              <a:t>Go Live Approval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CC545F-EB23-4715-91E6-FEEA4B205353}"/>
              </a:ext>
            </a:extLst>
          </p:cNvPr>
          <p:cNvSpPr txBox="1"/>
          <p:nvPr/>
        </p:nvSpPr>
        <p:spPr>
          <a:xfrm>
            <a:off x="7899400" y="3454400"/>
            <a:ext cx="1651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2C2C2C"/>
                </a:solidFill>
              </a:rPr>
              <a:t>Manual gate • Business Owner / Deployment Manager • Schedulable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28AD10B-C974-4A63-9125-6CC898647EEE}"/>
              </a:ext>
            </a:extLst>
          </p:cNvPr>
          <p:cNvSpPr/>
          <p:nvPr/>
        </p:nvSpPr>
        <p:spPr>
          <a:xfrm>
            <a:off x="10033000" y="1905000"/>
            <a:ext cx="889000" cy="889000"/>
          </a:xfrm>
          <a:prstGeom prst="ellipse">
            <a:avLst/>
          </a:prstGeom>
          <a:solidFill>
            <a:srgbClr val="E1251B"/>
          </a:solidFill>
          <a:ln w="381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2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61C568-644A-4E9F-9F6E-10B7CF9945C2}"/>
              </a:ext>
            </a:extLst>
          </p:cNvPr>
          <p:cNvSpPr txBox="1"/>
          <p:nvPr/>
        </p:nvSpPr>
        <p:spPr>
          <a:xfrm>
            <a:off x="9601200" y="2921000"/>
            <a:ext cx="1752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500" b="1">
                <a:solidFill>
                  <a:srgbClr val="1A1A1A"/>
                </a:solidFill>
              </a:rPr>
              <a:t>Deploy to Production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3A0F85-3C5C-4AFB-B28A-E38AA482A005}"/>
              </a:ext>
            </a:extLst>
          </p:cNvPr>
          <p:cNvSpPr txBox="1"/>
          <p:nvPr/>
        </p:nvSpPr>
        <p:spPr>
          <a:xfrm>
            <a:off x="9652000" y="3454400"/>
            <a:ext cx="1651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2C2C2C"/>
                </a:solidFill>
              </a:rPr>
              <a:t>Blue/Green • Zero downtime • Auto Dispatcher cache flush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E788EC-D309-489D-8904-1BAF831B0B80}"/>
              </a:ext>
            </a:extLst>
          </p:cNvPr>
          <p:cNvSpPr/>
          <p:nvPr/>
        </p:nvSpPr>
        <p:spPr>
          <a:xfrm>
            <a:off x="838200" y="5461000"/>
            <a:ext cx="10515600" cy="889000"/>
          </a:xfrm>
          <a:prstGeom prst="rect">
            <a:avLst/>
          </a:prstGeom>
          <a:solidFill>
            <a:srgbClr val="FFF5F4"/>
          </a:solidFill>
          <a:ln w="12700" cap="flat" cmpd="sng" algn="ctr">
            <a:solidFill>
              <a:srgbClr val="E1251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35122B-7E7A-45B1-A9E5-72A63FF62708}"/>
              </a:ext>
            </a:extLst>
          </p:cNvPr>
          <p:cNvSpPr txBox="1"/>
          <p:nvPr/>
        </p:nvSpPr>
        <p:spPr>
          <a:xfrm>
            <a:off x="1066800" y="5638800"/>
            <a:ext cx="50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400">
                <a:solidFill>
                  <a:srgbClr val="E1251B"/>
                </a:solidFill>
              </a:rPr>
              <a:t>ℹ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8B4909-5496-4470-8B25-49DB58C909A3}"/>
              </a:ext>
            </a:extLst>
          </p:cNvPr>
          <p:cNvSpPr txBox="1"/>
          <p:nvPr/>
        </p:nvSpPr>
        <p:spPr>
          <a:xfrm>
            <a:off x="1574800" y="56388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 b="1">
                <a:solidFill>
                  <a:srgbClr val="E1251B"/>
                </a:solidFill>
              </a:rPr>
              <a:t>FAILURE HANDLING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0C1039-E42C-4667-90AE-F6DABBD16ADD}"/>
              </a:ext>
            </a:extLst>
          </p:cNvPr>
          <p:cNvSpPr txBox="1"/>
          <p:nvPr/>
        </p:nvSpPr>
        <p:spPr>
          <a:xfrm>
            <a:off x="1574800" y="5918200"/>
            <a:ext cx="965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1A1A1A"/>
                </a:solidFill>
              </a:rPr>
              <a:t>If any step fails, the pipeline stops. Previously deployed version stays active. Team fixes issue and triggers a new run.</a:t>
            </a:r>
          </a:p>
        </p:txBody>
      </p:sp>
    </p:spTree>
    <p:extLst>
      <p:ext uri="{BB962C8B-B14F-4D97-AF65-F5344CB8AC3E}">
        <p14:creationId xmlns:p14="http://schemas.microsoft.com/office/powerpoint/2010/main" val="3284391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DD794-218D-5637-BEF1-27B905AD1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/>
              <a:t>Pipeline Triggers &amp; Variables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8FD2AF-A87B-40BF-ACF9-DAFF30B71E9D}"/>
              </a:ext>
            </a:extLst>
          </p:cNvPr>
          <p:cNvSpPr txBox="1"/>
          <p:nvPr/>
        </p:nvSpPr>
        <p:spPr>
          <a:xfrm>
            <a:off x="838200" y="16510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000" b="1">
                <a:solidFill>
                  <a:srgbClr val="E1251B"/>
                </a:solidFill>
              </a:rPr>
              <a:t>Pipeline Triggers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C3BC5F-A63C-4E9A-BA28-D1F8532322EA}"/>
              </a:ext>
            </a:extLst>
          </p:cNvPr>
          <p:cNvSpPr/>
          <p:nvPr/>
        </p:nvSpPr>
        <p:spPr>
          <a:xfrm>
            <a:off x="838200" y="2095500"/>
            <a:ext cx="5080000" cy="825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D1F776-3985-46AF-AAFA-8B8FC73105D0}"/>
              </a:ext>
            </a:extLst>
          </p:cNvPr>
          <p:cNvSpPr/>
          <p:nvPr/>
        </p:nvSpPr>
        <p:spPr>
          <a:xfrm>
            <a:off x="838200" y="2095500"/>
            <a:ext cx="63500" cy="8255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15C97D-5EA0-4B5F-9493-6B727183DD14}"/>
              </a:ext>
            </a:extLst>
          </p:cNvPr>
          <p:cNvSpPr txBox="1"/>
          <p:nvPr/>
        </p:nvSpPr>
        <p:spPr>
          <a:xfrm>
            <a:off x="1066800" y="2222500"/>
            <a:ext cx="469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A1A1A"/>
                </a:solidFill>
              </a:rPr>
              <a:t>Manual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569072-C2FE-4A9B-B9F8-56C396BA391B}"/>
              </a:ext>
            </a:extLst>
          </p:cNvPr>
          <p:cNvSpPr txBox="1"/>
          <p:nvPr/>
        </p:nvSpPr>
        <p:spPr>
          <a:xfrm>
            <a:off x="1066800" y="2527300"/>
            <a:ext cx="469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2C2C2C"/>
                </a:solidFill>
              </a:rPr>
              <a:t>Click Run in Cloud Manager UI or call the API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573B89-910E-4290-822A-FEF2C9BAFC0A}"/>
              </a:ext>
            </a:extLst>
          </p:cNvPr>
          <p:cNvSpPr/>
          <p:nvPr/>
        </p:nvSpPr>
        <p:spPr>
          <a:xfrm>
            <a:off x="838200" y="3048000"/>
            <a:ext cx="5080000" cy="825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862826-728E-46A3-96F8-7061A16A6E5C}"/>
              </a:ext>
            </a:extLst>
          </p:cNvPr>
          <p:cNvSpPr/>
          <p:nvPr/>
        </p:nvSpPr>
        <p:spPr>
          <a:xfrm>
            <a:off x="838200" y="3048000"/>
            <a:ext cx="63500" cy="8255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51673E-E894-4410-8533-8EA3A3E78986}"/>
              </a:ext>
            </a:extLst>
          </p:cNvPr>
          <p:cNvSpPr txBox="1"/>
          <p:nvPr/>
        </p:nvSpPr>
        <p:spPr>
          <a:xfrm>
            <a:off x="1066800" y="3175000"/>
            <a:ext cx="469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A1A1A"/>
                </a:solidFill>
              </a:rPr>
              <a:t>On Git Push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86B413-7FF1-48CC-8ED8-292A7B8F4B8D}"/>
              </a:ext>
            </a:extLst>
          </p:cNvPr>
          <p:cNvSpPr txBox="1"/>
          <p:nvPr/>
        </p:nvSpPr>
        <p:spPr>
          <a:xfrm>
            <a:off x="1066800" y="3479800"/>
            <a:ext cx="469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2C2C2C"/>
                </a:solidFill>
              </a:rPr>
              <a:t>Automatic CI trigger on push to configured branch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788214-7262-4564-B3D8-32CDB149C64F}"/>
              </a:ext>
            </a:extLst>
          </p:cNvPr>
          <p:cNvSpPr/>
          <p:nvPr/>
        </p:nvSpPr>
        <p:spPr>
          <a:xfrm>
            <a:off x="838200" y="4000500"/>
            <a:ext cx="5080000" cy="825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ACF437-33F7-4FB3-AD06-7EA9E0B57A45}"/>
              </a:ext>
            </a:extLst>
          </p:cNvPr>
          <p:cNvSpPr/>
          <p:nvPr/>
        </p:nvSpPr>
        <p:spPr>
          <a:xfrm>
            <a:off x="838200" y="4000500"/>
            <a:ext cx="63500" cy="8255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334889-9A8E-47FB-81E6-03A09FC31214}"/>
              </a:ext>
            </a:extLst>
          </p:cNvPr>
          <p:cNvSpPr txBox="1"/>
          <p:nvPr/>
        </p:nvSpPr>
        <p:spPr>
          <a:xfrm>
            <a:off x="1066800" y="4127500"/>
            <a:ext cx="469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A1A1A"/>
                </a:solidFill>
              </a:rPr>
              <a:t>Scheduled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8DD885-1648-4F90-936F-F17DB1988D60}"/>
              </a:ext>
            </a:extLst>
          </p:cNvPr>
          <p:cNvSpPr txBox="1"/>
          <p:nvPr/>
        </p:nvSpPr>
        <p:spPr>
          <a:xfrm>
            <a:off x="1066800" y="4432300"/>
            <a:ext cx="469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2C2C2C"/>
                </a:solidFill>
              </a:rPr>
              <a:t>Runs at a defined time (e.g., nightly)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4DA5E4-F728-4B03-834F-88CC525D8AC9}"/>
              </a:ext>
            </a:extLst>
          </p:cNvPr>
          <p:cNvSpPr txBox="1"/>
          <p:nvPr/>
        </p:nvSpPr>
        <p:spPr>
          <a:xfrm>
            <a:off x="6273800" y="16510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000" b="1">
                <a:solidFill>
                  <a:srgbClr val="E1251B"/>
                </a:solidFill>
              </a:rPr>
              <a:t>Environment Variables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A22183-6465-487D-B946-ADB13F79B29B}"/>
              </a:ext>
            </a:extLst>
          </p:cNvPr>
          <p:cNvSpPr/>
          <p:nvPr/>
        </p:nvSpPr>
        <p:spPr>
          <a:xfrm>
            <a:off x="6273800" y="2095500"/>
            <a:ext cx="5080000" cy="1270000"/>
          </a:xfrm>
          <a:prstGeom prst="rect">
            <a:avLst/>
          </a:prstGeom>
          <a:solidFill>
            <a:srgbClr val="F4F4F4"/>
          </a:solidFill>
          <a:ln w="12700" cap="flat" cmpd="sng" algn="ctr">
            <a:solidFill>
              <a:srgbClr val="B8B8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F53E9F-58C6-4807-93A4-375F3613999B}"/>
              </a:ext>
            </a:extLst>
          </p:cNvPr>
          <p:cNvSpPr txBox="1"/>
          <p:nvPr/>
        </p:nvSpPr>
        <p:spPr>
          <a:xfrm>
            <a:off x="6477000" y="22225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 b="1">
                <a:solidFill>
                  <a:srgbClr val="4A4A4A"/>
                </a:solidFill>
              </a:rPr>
              <a:t>PLAIN TEXT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90C80F-9B77-4486-BC3E-7C5E97EDBFEB}"/>
              </a:ext>
            </a:extLst>
          </p:cNvPr>
          <p:cNvSpPr txBox="1"/>
          <p:nvPr/>
        </p:nvSpPr>
        <p:spPr>
          <a:xfrm>
            <a:off x="6477000" y="24892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2C2C2C"/>
                </a:solidFill>
              </a:rPr>
              <a:t>Non-sensitive configuration values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DC0F9C-37BC-471D-8988-18212081B6C8}"/>
              </a:ext>
            </a:extLst>
          </p:cNvPr>
          <p:cNvSpPr txBox="1"/>
          <p:nvPr/>
        </p:nvSpPr>
        <p:spPr>
          <a:xfrm>
            <a:off x="6477000" y="28194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1A1A1A"/>
                </a:solidFill>
                <a:latin typeface="Consolas"/>
              </a:rPr>
              <a:t>$[env:VARIABLE_NAME]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9E5B14-21DA-4FF3-A871-E18194B4004B}"/>
              </a:ext>
            </a:extLst>
          </p:cNvPr>
          <p:cNvSpPr/>
          <p:nvPr/>
        </p:nvSpPr>
        <p:spPr>
          <a:xfrm>
            <a:off x="6273800" y="3492500"/>
            <a:ext cx="5080000" cy="12700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CACB96-FEDB-4761-B463-19FCC0C7C726}"/>
              </a:ext>
            </a:extLst>
          </p:cNvPr>
          <p:cNvSpPr txBox="1"/>
          <p:nvPr/>
        </p:nvSpPr>
        <p:spPr>
          <a:xfrm>
            <a:off x="6477000" y="36195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 b="1">
                <a:solidFill>
                  <a:srgbClr val="F26B5E"/>
                </a:solidFill>
              </a:rPr>
              <a:t>SECRET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885BEA-0547-4259-93C0-04FDC27CA169}"/>
              </a:ext>
            </a:extLst>
          </p:cNvPr>
          <p:cNvSpPr txBox="1"/>
          <p:nvPr/>
        </p:nvSpPr>
        <p:spPr>
          <a:xfrm>
            <a:off x="6477000" y="38862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FAFAFA"/>
                </a:solidFill>
              </a:rPr>
              <a:t>Stored encrypted, never exposed in logs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83FCC8-ED20-4758-A8C0-7EA7E584AF7D}"/>
              </a:ext>
            </a:extLst>
          </p:cNvPr>
          <p:cNvSpPr txBox="1"/>
          <p:nvPr/>
        </p:nvSpPr>
        <p:spPr>
          <a:xfrm>
            <a:off x="6477000" y="42164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FAFAFA"/>
                </a:solidFill>
                <a:latin typeface="Consolas"/>
              </a:rPr>
              <a:t>$[secret:SECRET_NAME]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E9BE96-6CC1-42EE-9A68-6CB76B4AFFCF}"/>
              </a:ext>
            </a:extLst>
          </p:cNvPr>
          <p:cNvSpPr txBox="1"/>
          <p:nvPr/>
        </p:nvSpPr>
        <p:spPr>
          <a:xfrm>
            <a:off x="6273800" y="48895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 i="1">
                <a:solidFill>
                  <a:srgbClr val="4A4A4A"/>
                </a:solidFill>
              </a:rPr>
              <a:t>✓ Scoped per environment (Dev / Stage / Production)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50EC86-A390-4E00-9348-2786BB08F8AE}"/>
              </a:ext>
            </a:extLst>
          </p:cNvPr>
          <p:cNvSpPr/>
          <p:nvPr/>
        </p:nvSpPr>
        <p:spPr>
          <a:xfrm>
            <a:off x="838200" y="5397500"/>
            <a:ext cx="10515600" cy="952500"/>
          </a:xfrm>
          <a:prstGeom prst="rect">
            <a:avLst/>
          </a:prstGeom>
          <a:solidFill>
            <a:srgbClr val="FFF5F4"/>
          </a:solidFill>
          <a:ln w="12700" cap="flat" cmpd="sng" algn="ctr">
            <a:solidFill>
              <a:srgbClr val="E1251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CBAD0D-4AB1-4C77-B85D-361354CA2E7E}"/>
              </a:ext>
            </a:extLst>
          </p:cNvPr>
          <p:cNvSpPr txBox="1"/>
          <p:nvPr/>
        </p:nvSpPr>
        <p:spPr>
          <a:xfrm>
            <a:off x="1066800" y="55499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E1251B"/>
                </a:solidFill>
              </a:rPr>
              <a:t>PULL REQUEST VALIDATION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9DA686-FCFC-49B4-8E9B-971C32F0865F}"/>
              </a:ext>
            </a:extLst>
          </p:cNvPr>
          <p:cNvSpPr txBox="1"/>
          <p:nvPr/>
        </p:nvSpPr>
        <p:spPr>
          <a:xfrm>
            <a:off x="1066800" y="5842000"/>
            <a:ext cx="1016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1A1A1A"/>
                </a:solidFill>
              </a:rPr>
              <a:t>Connected Repositories trigger an automatic Code Quality scan when a PR is opened. Results post back directly to GitHub, GitLab, or Bitbucket.</a:t>
            </a:r>
          </a:p>
        </p:txBody>
      </p:sp>
    </p:spTree>
    <p:extLst>
      <p:ext uri="{BB962C8B-B14F-4D97-AF65-F5344CB8AC3E}">
        <p14:creationId xmlns:p14="http://schemas.microsoft.com/office/powerpoint/2010/main" val="188973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5E745-26B1-3206-1BC9-885CAA830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/>
              <a:t>Code Quality Gates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72F55C-0EF6-458F-A843-60F8E7E61670}"/>
              </a:ext>
            </a:extLst>
          </p:cNvPr>
          <p:cNvSpPr txBox="1"/>
          <p:nvPr/>
        </p:nvSpPr>
        <p:spPr>
          <a:xfrm>
            <a:off x="838200" y="12700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i="1">
                <a:solidFill>
                  <a:srgbClr val="E1251B"/>
                </a:solidFill>
              </a:rPr>
              <a:t>Enforced at the Code Quality step using SonarQube. Three rating dimensions, each rated A through 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00127D-40EE-4CBC-93B0-BC06BF72A747}"/>
              </a:ext>
            </a:extLst>
          </p:cNvPr>
          <p:cNvSpPr/>
          <p:nvPr/>
        </p:nvSpPr>
        <p:spPr>
          <a:xfrm>
            <a:off x="838200" y="1841500"/>
            <a:ext cx="3403600" cy="2286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F2375A-BA0D-4B0F-A75C-DC7271CF2C72}"/>
              </a:ext>
            </a:extLst>
          </p:cNvPr>
          <p:cNvSpPr txBox="1"/>
          <p:nvPr/>
        </p:nvSpPr>
        <p:spPr>
          <a:xfrm>
            <a:off x="1041400" y="2044700"/>
            <a:ext cx="2997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>
                <a:solidFill>
                  <a:srgbClr val="1A1A1A"/>
                </a:solidFill>
              </a:rPr>
              <a:t>Reliability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CD720C-FDC6-482F-8132-C550F3DD4406}"/>
              </a:ext>
            </a:extLst>
          </p:cNvPr>
          <p:cNvSpPr/>
          <p:nvPr/>
        </p:nvSpPr>
        <p:spPr>
          <a:xfrm>
            <a:off x="1041400" y="2552700"/>
            <a:ext cx="457200" cy="457200"/>
          </a:xfrm>
          <a:prstGeom prst="rect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6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367C43-3452-4BA8-B5D2-EA2E0A19D099}"/>
              </a:ext>
            </a:extLst>
          </p:cNvPr>
          <p:cNvSpPr/>
          <p:nvPr/>
        </p:nvSpPr>
        <p:spPr>
          <a:xfrm>
            <a:off x="1574800" y="2552700"/>
            <a:ext cx="457200" cy="457200"/>
          </a:xfrm>
          <a:prstGeom prst="rect">
            <a:avLst/>
          </a:prstGeom>
          <a:solidFill>
            <a:srgbClr val="7CB34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A18C4E-5367-48C4-AFE3-141C6906F923}"/>
              </a:ext>
            </a:extLst>
          </p:cNvPr>
          <p:cNvSpPr/>
          <p:nvPr/>
        </p:nvSpPr>
        <p:spPr>
          <a:xfrm>
            <a:off x="2108200" y="2552700"/>
            <a:ext cx="457200" cy="457200"/>
          </a:xfrm>
          <a:prstGeom prst="rect">
            <a:avLst/>
          </a:prstGeom>
          <a:solidFill>
            <a:srgbClr val="FBC0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6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73B7F5-4304-42AD-A9ED-737049B2D9AC}"/>
              </a:ext>
            </a:extLst>
          </p:cNvPr>
          <p:cNvSpPr/>
          <p:nvPr/>
        </p:nvSpPr>
        <p:spPr>
          <a:xfrm>
            <a:off x="2641600" y="2552700"/>
            <a:ext cx="457200" cy="457200"/>
          </a:xfrm>
          <a:prstGeom prst="rect">
            <a:avLst/>
          </a:prstGeom>
          <a:solidFill>
            <a:srgbClr val="FB8C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6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8C4514-CB94-4333-BAFC-A93EE2554D54}"/>
              </a:ext>
            </a:extLst>
          </p:cNvPr>
          <p:cNvSpPr/>
          <p:nvPr/>
        </p:nvSpPr>
        <p:spPr>
          <a:xfrm>
            <a:off x="3175000" y="2552700"/>
            <a:ext cx="457200" cy="4572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6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0C541C-F080-4491-B941-BEA4793C9EB6}"/>
              </a:ext>
            </a:extLst>
          </p:cNvPr>
          <p:cNvSpPr txBox="1"/>
          <p:nvPr/>
        </p:nvSpPr>
        <p:spPr>
          <a:xfrm>
            <a:off x="1041400" y="3175000"/>
            <a:ext cx="2997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2C2C2C"/>
                </a:solidFill>
              </a:rPr>
              <a:t>Based on detected bugs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8C574B-A67E-492E-9560-4D71E5086A78}"/>
              </a:ext>
            </a:extLst>
          </p:cNvPr>
          <p:cNvSpPr txBox="1"/>
          <p:nvPr/>
        </p:nvSpPr>
        <p:spPr>
          <a:xfrm>
            <a:off x="1041400" y="3492500"/>
            <a:ext cx="2997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 i="1">
                <a:solidFill>
                  <a:srgbClr val="4A4A4A"/>
                </a:solidFill>
              </a:rPr>
              <a:t>A = no bugs   E = blocker bug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6E1895-B358-4367-A186-D21003B65CD3}"/>
              </a:ext>
            </a:extLst>
          </p:cNvPr>
          <p:cNvSpPr/>
          <p:nvPr/>
        </p:nvSpPr>
        <p:spPr>
          <a:xfrm>
            <a:off x="4394200" y="1841500"/>
            <a:ext cx="3403600" cy="2286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BEA11C-BD52-408A-85BD-D374E6BB1FC8}"/>
              </a:ext>
            </a:extLst>
          </p:cNvPr>
          <p:cNvSpPr txBox="1"/>
          <p:nvPr/>
        </p:nvSpPr>
        <p:spPr>
          <a:xfrm>
            <a:off x="4597400" y="2044700"/>
            <a:ext cx="2997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>
                <a:solidFill>
                  <a:srgbClr val="1A1A1A"/>
                </a:solidFill>
              </a:rPr>
              <a:t>Security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61D5D6-3FD5-4066-AD07-F196FAF5C5C6}"/>
              </a:ext>
            </a:extLst>
          </p:cNvPr>
          <p:cNvSpPr/>
          <p:nvPr/>
        </p:nvSpPr>
        <p:spPr>
          <a:xfrm>
            <a:off x="4597400" y="2552700"/>
            <a:ext cx="457200" cy="457200"/>
          </a:xfrm>
          <a:prstGeom prst="rect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6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80CBA6-FADF-4BF5-9A01-7D326E372A45}"/>
              </a:ext>
            </a:extLst>
          </p:cNvPr>
          <p:cNvSpPr/>
          <p:nvPr/>
        </p:nvSpPr>
        <p:spPr>
          <a:xfrm>
            <a:off x="5130800" y="2552700"/>
            <a:ext cx="457200" cy="457200"/>
          </a:xfrm>
          <a:prstGeom prst="rect">
            <a:avLst/>
          </a:prstGeom>
          <a:solidFill>
            <a:srgbClr val="7CB34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19767D-6C60-4372-8312-12FB0515115C}"/>
              </a:ext>
            </a:extLst>
          </p:cNvPr>
          <p:cNvSpPr/>
          <p:nvPr/>
        </p:nvSpPr>
        <p:spPr>
          <a:xfrm>
            <a:off x="5664200" y="2552700"/>
            <a:ext cx="457200" cy="457200"/>
          </a:xfrm>
          <a:prstGeom prst="rect">
            <a:avLst/>
          </a:prstGeom>
          <a:solidFill>
            <a:srgbClr val="FBC0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6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17F4AC-F289-4286-9687-A1C0CE6E7790}"/>
              </a:ext>
            </a:extLst>
          </p:cNvPr>
          <p:cNvSpPr/>
          <p:nvPr/>
        </p:nvSpPr>
        <p:spPr>
          <a:xfrm>
            <a:off x="6197600" y="2552700"/>
            <a:ext cx="457200" cy="457200"/>
          </a:xfrm>
          <a:prstGeom prst="rect">
            <a:avLst/>
          </a:prstGeom>
          <a:solidFill>
            <a:srgbClr val="FB8C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6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3D058B-E23A-4EFD-8584-E32657EE4A43}"/>
              </a:ext>
            </a:extLst>
          </p:cNvPr>
          <p:cNvSpPr/>
          <p:nvPr/>
        </p:nvSpPr>
        <p:spPr>
          <a:xfrm>
            <a:off x="6731000" y="2552700"/>
            <a:ext cx="457200" cy="4572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6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F31467-12CF-4824-981A-8151C0E4861D}"/>
              </a:ext>
            </a:extLst>
          </p:cNvPr>
          <p:cNvSpPr txBox="1"/>
          <p:nvPr/>
        </p:nvSpPr>
        <p:spPr>
          <a:xfrm>
            <a:off x="4597400" y="3175000"/>
            <a:ext cx="2997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2C2C2C"/>
                </a:solidFill>
              </a:rPr>
              <a:t>Vulnerabilities &amp; security hotspots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267921-A44B-4CD7-B6E7-DED8F4B7A0AC}"/>
              </a:ext>
            </a:extLst>
          </p:cNvPr>
          <p:cNvSpPr txBox="1"/>
          <p:nvPr/>
        </p:nvSpPr>
        <p:spPr>
          <a:xfrm>
            <a:off x="4597400" y="3492500"/>
            <a:ext cx="2997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 i="1">
                <a:solidFill>
                  <a:srgbClr val="4A4A4A"/>
                </a:solidFill>
              </a:rPr>
              <a:t>SQLi • XSS • hardcoded credentials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0A654E-1A71-4152-84BA-5568E03C8BC2}"/>
              </a:ext>
            </a:extLst>
          </p:cNvPr>
          <p:cNvSpPr/>
          <p:nvPr/>
        </p:nvSpPr>
        <p:spPr>
          <a:xfrm>
            <a:off x="7950200" y="1841500"/>
            <a:ext cx="3403600" cy="2286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ED84F6-67BF-4C50-92FD-244EC193666F}"/>
              </a:ext>
            </a:extLst>
          </p:cNvPr>
          <p:cNvSpPr txBox="1"/>
          <p:nvPr/>
        </p:nvSpPr>
        <p:spPr>
          <a:xfrm>
            <a:off x="8153400" y="2044700"/>
            <a:ext cx="2997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>
                <a:solidFill>
                  <a:srgbClr val="1A1A1A"/>
                </a:solidFill>
              </a:rPr>
              <a:t>Maintainability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22929E-7884-4B91-B673-86DDC951BB62}"/>
              </a:ext>
            </a:extLst>
          </p:cNvPr>
          <p:cNvSpPr/>
          <p:nvPr/>
        </p:nvSpPr>
        <p:spPr>
          <a:xfrm>
            <a:off x="8153400" y="2552700"/>
            <a:ext cx="457200" cy="457200"/>
          </a:xfrm>
          <a:prstGeom prst="rect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6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FB8AD03-1DAA-423E-896D-38B3253D8038}"/>
              </a:ext>
            </a:extLst>
          </p:cNvPr>
          <p:cNvSpPr/>
          <p:nvPr/>
        </p:nvSpPr>
        <p:spPr>
          <a:xfrm>
            <a:off x="8686800" y="2552700"/>
            <a:ext cx="457200" cy="457200"/>
          </a:xfrm>
          <a:prstGeom prst="rect">
            <a:avLst/>
          </a:prstGeom>
          <a:solidFill>
            <a:srgbClr val="7CB34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E0E75B8-9DB5-42ED-9528-CC0A4BCE3D9C}"/>
              </a:ext>
            </a:extLst>
          </p:cNvPr>
          <p:cNvSpPr/>
          <p:nvPr/>
        </p:nvSpPr>
        <p:spPr>
          <a:xfrm>
            <a:off x="9220200" y="2552700"/>
            <a:ext cx="457200" cy="457200"/>
          </a:xfrm>
          <a:prstGeom prst="rect">
            <a:avLst/>
          </a:prstGeom>
          <a:solidFill>
            <a:srgbClr val="FBC0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6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976BAB2-27F7-42A6-8FD8-33CB6D502E3A}"/>
              </a:ext>
            </a:extLst>
          </p:cNvPr>
          <p:cNvSpPr/>
          <p:nvPr/>
        </p:nvSpPr>
        <p:spPr>
          <a:xfrm>
            <a:off x="9753600" y="2552700"/>
            <a:ext cx="457200" cy="457200"/>
          </a:xfrm>
          <a:prstGeom prst="rect">
            <a:avLst/>
          </a:prstGeom>
          <a:solidFill>
            <a:srgbClr val="FB8C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6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27DC79-C0C8-4B5A-AFC9-FEE3E5B898BB}"/>
              </a:ext>
            </a:extLst>
          </p:cNvPr>
          <p:cNvSpPr/>
          <p:nvPr/>
        </p:nvSpPr>
        <p:spPr>
          <a:xfrm>
            <a:off x="10287000" y="2552700"/>
            <a:ext cx="457200" cy="4572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6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2C02EF-14BC-4208-BC5B-94DD729D6B0E}"/>
              </a:ext>
            </a:extLst>
          </p:cNvPr>
          <p:cNvSpPr txBox="1"/>
          <p:nvPr/>
        </p:nvSpPr>
        <p:spPr>
          <a:xfrm>
            <a:off x="8153400" y="3175000"/>
            <a:ext cx="2997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2C2C2C"/>
                </a:solidFill>
              </a:rPr>
              <a:t>Code smells &amp; technical debt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F34276-2B64-4B32-BAB6-E8F77B34E346}"/>
              </a:ext>
            </a:extLst>
          </p:cNvPr>
          <p:cNvSpPr txBox="1"/>
          <p:nvPr/>
        </p:nvSpPr>
        <p:spPr>
          <a:xfrm>
            <a:off x="8153400" y="3492500"/>
            <a:ext cx="2997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 i="1">
                <a:solidFill>
                  <a:srgbClr val="4A4A4A"/>
                </a:solidFill>
              </a:rPr>
              <a:t>Includes code duplication 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FACFEAF-4B50-4433-BC44-EE6E7385D03E}"/>
              </a:ext>
            </a:extLst>
          </p:cNvPr>
          <p:cNvSpPr/>
          <p:nvPr/>
        </p:nvSpPr>
        <p:spPr>
          <a:xfrm>
            <a:off x="838200" y="4381500"/>
            <a:ext cx="6096000" cy="19685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B3ABBA-CA61-4798-8138-135D014311EA}"/>
              </a:ext>
            </a:extLst>
          </p:cNvPr>
          <p:cNvSpPr txBox="1"/>
          <p:nvPr/>
        </p:nvSpPr>
        <p:spPr>
          <a:xfrm>
            <a:off x="1066800" y="45339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 b="1">
                <a:solidFill>
                  <a:srgbClr val="F26B5E"/>
                </a:solidFill>
              </a:rPr>
              <a:t>ADDITIONAL CHECKS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8C1A9C-EE7C-4A9D-9374-81052B5A16CF}"/>
              </a:ext>
            </a:extLst>
          </p:cNvPr>
          <p:cNvSpPr txBox="1"/>
          <p:nvPr/>
        </p:nvSpPr>
        <p:spPr>
          <a:xfrm>
            <a:off x="1066800" y="4864100"/>
            <a:ext cx="5842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FAFAFA"/>
                </a:solidFill>
              </a:rPr>
              <a:t>• Code coverage — 50% line threshold (JaCoCo) — Important
• AEM-specific rules — leaked sessions, admin sessions, deprecated APIs, null-unsafe Sling injections
• AEM Analyzer Maven Plugin — AEMaaCS compatibility at Build step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30AD36-3257-4BE6-9640-3C116BDA6E32}"/>
              </a:ext>
            </a:extLst>
          </p:cNvPr>
          <p:cNvSpPr/>
          <p:nvPr/>
        </p:nvSpPr>
        <p:spPr>
          <a:xfrm>
            <a:off x="7137400" y="4381500"/>
            <a:ext cx="4216400" cy="9144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B57D02-2637-4FD0-A385-3172AD199CC0}"/>
              </a:ext>
            </a:extLst>
          </p:cNvPr>
          <p:cNvSpPr txBox="1"/>
          <p:nvPr/>
        </p:nvSpPr>
        <p:spPr>
          <a:xfrm>
            <a:off x="7340600" y="44831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28D3CC-A4E3-4A53-B569-23E26C4A11A0}"/>
              </a:ext>
            </a:extLst>
          </p:cNvPr>
          <p:cNvSpPr txBox="1"/>
          <p:nvPr/>
        </p:nvSpPr>
        <p:spPr>
          <a:xfrm>
            <a:off x="7340600" y="4787900"/>
            <a:ext cx="381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FAFAFA"/>
                </a:solidFill>
              </a:rPr>
              <a:t>Pipeline stops immediately. Cannot be overridden — must be fixed.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95CC3AB-E354-4EA3-B2CA-368FB51E889B}"/>
              </a:ext>
            </a:extLst>
          </p:cNvPr>
          <p:cNvSpPr/>
          <p:nvPr/>
        </p:nvSpPr>
        <p:spPr>
          <a:xfrm>
            <a:off x="7137400" y="5422900"/>
            <a:ext cx="4216400" cy="927100"/>
          </a:xfrm>
          <a:prstGeom prst="rect">
            <a:avLst/>
          </a:prstGeom>
          <a:solidFill>
            <a:srgbClr val="F26B5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A021C8-21C7-4B10-AA07-79421B9E1072}"/>
              </a:ext>
            </a:extLst>
          </p:cNvPr>
          <p:cNvSpPr txBox="1"/>
          <p:nvPr/>
        </p:nvSpPr>
        <p:spPr>
          <a:xfrm>
            <a:off x="7340600" y="55245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FFFFFF"/>
                </a:solidFill>
              </a:rPr>
              <a:t>IMPORTANT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C02C88-51B2-44DB-A954-49B405B595F6}"/>
              </a:ext>
            </a:extLst>
          </p:cNvPr>
          <p:cNvSpPr txBox="1"/>
          <p:nvPr/>
        </p:nvSpPr>
        <p:spPr>
          <a:xfrm>
            <a:off x="7340600" y="5829300"/>
            <a:ext cx="381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FFFFFF"/>
                </a:solidFill>
              </a:rPr>
              <a:t>Pipeline pauses. Deployment Manager or Business Owner can override.</a:t>
            </a:r>
          </a:p>
        </p:txBody>
      </p:sp>
    </p:spTree>
    <p:extLst>
      <p:ext uri="{BB962C8B-B14F-4D97-AF65-F5344CB8AC3E}">
        <p14:creationId xmlns:p14="http://schemas.microsoft.com/office/powerpoint/2010/main" val="2093676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BD930-F632-2CCA-13B1-B5F92E12A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/>
              <a:t>Testing in Pipelines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25B737-E1EE-42D0-A035-35AC2015A1FF}"/>
              </a:ext>
            </a:extLst>
          </p:cNvPr>
          <p:cNvSpPr txBox="1"/>
          <p:nvPr/>
        </p:nvSpPr>
        <p:spPr>
          <a:xfrm>
            <a:off x="838200" y="12700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i="1">
                <a:solidFill>
                  <a:srgbClr val="E1251B"/>
                </a:solidFill>
              </a:rPr>
              <a:t>After Stage deployment, four types of tests can run.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F8F44B-7F74-48E6-898A-4B7656140301}"/>
              </a:ext>
            </a:extLst>
          </p:cNvPr>
          <p:cNvSpPr/>
          <p:nvPr/>
        </p:nvSpPr>
        <p:spPr>
          <a:xfrm>
            <a:off x="838200" y="1841500"/>
            <a:ext cx="5257800" cy="2133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7BAD66-D028-4A08-9A16-D625ABA7566B}"/>
              </a:ext>
            </a:extLst>
          </p:cNvPr>
          <p:cNvSpPr/>
          <p:nvPr/>
        </p:nvSpPr>
        <p:spPr>
          <a:xfrm>
            <a:off x="838200" y="1841500"/>
            <a:ext cx="76200" cy="21336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FE8F9E-9AE3-4C18-9933-28B34C544E7E}"/>
              </a:ext>
            </a:extLst>
          </p:cNvPr>
          <p:cNvSpPr txBox="1"/>
          <p:nvPr/>
        </p:nvSpPr>
        <p:spPr>
          <a:xfrm>
            <a:off x="1117600" y="2044700"/>
            <a:ext cx="4775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>
                <a:solidFill>
                  <a:srgbClr val="E1251B"/>
                </a:solidFill>
              </a:rPr>
              <a:t>Product Functional Tests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DCD9684-40E4-4552-A0DA-D641792137C9}"/>
              </a:ext>
            </a:extLst>
          </p:cNvPr>
          <p:cNvSpPr/>
          <p:nvPr/>
        </p:nvSpPr>
        <p:spPr>
          <a:xfrm>
            <a:off x="1117600" y="2476500"/>
            <a:ext cx="1397000" cy="304800"/>
          </a:xfrm>
          <a:prstGeom prst="round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GB" sz="1200" b="1">
                <a:solidFill>
                  <a:srgbClr val="FFFFFF"/>
                </a:solidFill>
              </a:rPr>
              <a:t>By Adobe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08E04A-9A29-4B9D-B6A1-F16D4FF34ED7}"/>
              </a:ext>
            </a:extLst>
          </p:cNvPr>
          <p:cNvSpPr txBox="1"/>
          <p:nvPr/>
        </p:nvSpPr>
        <p:spPr>
          <a:xfrm>
            <a:off x="1117600" y="2908300"/>
            <a:ext cx="47752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2C2C2C"/>
                </a:solidFill>
              </a:rPr>
              <a:t>Verify core AEM features work correctly after deployment. Always run automatically.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0F85EC-4CAD-425B-964D-423A47658F9C}"/>
              </a:ext>
            </a:extLst>
          </p:cNvPr>
          <p:cNvSpPr/>
          <p:nvPr/>
        </p:nvSpPr>
        <p:spPr>
          <a:xfrm>
            <a:off x="6273800" y="1841500"/>
            <a:ext cx="5257800" cy="2133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63D007-1227-4A25-AEA4-B14C1FB1FC23}"/>
              </a:ext>
            </a:extLst>
          </p:cNvPr>
          <p:cNvSpPr/>
          <p:nvPr/>
        </p:nvSpPr>
        <p:spPr>
          <a:xfrm>
            <a:off x="6273800" y="1841500"/>
            <a:ext cx="76200" cy="2133600"/>
          </a:xfrm>
          <a:prstGeom prst="rect">
            <a:avLst/>
          </a:prstGeom>
          <a:solidFill>
            <a:srgbClr val="F26B5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067397-4F78-407C-B5E3-1F883BBE1AE7}"/>
              </a:ext>
            </a:extLst>
          </p:cNvPr>
          <p:cNvSpPr txBox="1"/>
          <p:nvPr/>
        </p:nvSpPr>
        <p:spPr>
          <a:xfrm>
            <a:off x="6553200" y="2044700"/>
            <a:ext cx="4775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>
                <a:solidFill>
                  <a:srgbClr val="F26B5E"/>
                </a:solidFill>
              </a:rPr>
              <a:t>Custom Functional Tests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7430310-5732-4EE0-A6A2-CB01883E5701}"/>
              </a:ext>
            </a:extLst>
          </p:cNvPr>
          <p:cNvSpPr/>
          <p:nvPr/>
        </p:nvSpPr>
        <p:spPr>
          <a:xfrm>
            <a:off x="6553200" y="2476500"/>
            <a:ext cx="1397000" cy="304800"/>
          </a:xfrm>
          <a:prstGeom prst="roundRect">
            <a:avLst/>
          </a:prstGeom>
          <a:solidFill>
            <a:srgbClr val="F26B5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GB" sz="1200" b="1">
                <a:solidFill>
                  <a:srgbClr val="FFFFFF"/>
                </a:solidFill>
              </a:rPr>
              <a:t>Your team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E9B7E3-C61C-4252-87DF-43DAF083185A}"/>
              </a:ext>
            </a:extLst>
          </p:cNvPr>
          <p:cNvSpPr txBox="1"/>
          <p:nvPr/>
        </p:nvSpPr>
        <p:spPr>
          <a:xfrm>
            <a:off x="6553200" y="2908300"/>
            <a:ext cx="47752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2C2C2C"/>
                </a:solidFill>
              </a:rPr>
              <a:t>HTTP/REST tests against deployed AEM. Packaged as Docker images. Validate app-specific behavior.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78462C-83F5-48FB-92CC-F2716A1212C2}"/>
              </a:ext>
            </a:extLst>
          </p:cNvPr>
          <p:cNvSpPr/>
          <p:nvPr/>
        </p:nvSpPr>
        <p:spPr>
          <a:xfrm>
            <a:off x="838200" y="4152900"/>
            <a:ext cx="5257800" cy="2133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B08ED8-1A0A-4391-BF07-7A42563D5C91}"/>
              </a:ext>
            </a:extLst>
          </p:cNvPr>
          <p:cNvSpPr/>
          <p:nvPr/>
        </p:nvSpPr>
        <p:spPr>
          <a:xfrm>
            <a:off x="838200" y="4152900"/>
            <a:ext cx="76200" cy="2133600"/>
          </a:xfrm>
          <a:prstGeom prst="rect">
            <a:avLst/>
          </a:prstGeom>
          <a:solidFill>
            <a:srgbClr val="4A4A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DA1C38-C792-4D68-A541-81E6B43E0C84}"/>
              </a:ext>
            </a:extLst>
          </p:cNvPr>
          <p:cNvSpPr txBox="1"/>
          <p:nvPr/>
        </p:nvSpPr>
        <p:spPr>
          <a:xfrm>
            <a:off x="1117600" y="4356100"/>
            <a:ext cx="4775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>
                <a:solidFill>
                  <a:srgbClr val="4A4A4A"/>
                </a:solidFill>
              </a:rPr>
              <a:t>Custom UI Tests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3926585-C677-4888-8901-49D763DFBD22}"/>
              </a:ext>
            </a:extLst>
          </p:cNvPr>
          <p:cNvSpPr/>
          <p:nvPr/>
        </p:nvSpPr>
        <p:spPr>
          <a:xfrm>
            <a:off x="1117600" y="4787900"/>
            <a:ext cx="1397000" cy="304800"/>
          </a:xfrm>
          <a:prstGeom prst="roundRect">
            <a:avLst/>
          </a:prstGeom>
          <a:solidFill>
            <a:srgbClr val="4A4A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GB" sz="1200" b="1">
                <a:solidFill>
                  <a:srgbClr val="FFFFFF"/>
                </a:solidFill>
              </a:rPr>
              <a:t>Your team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348A15-BB74-4F28-AF77-C1E0E10F59C0}"/>
              </a:ext>
            </a:extLst>
          </p:cNvPr>
          <p:cNvSpPr txBox="1"/>
          <p:nvPr/>
        </p:nvSpPr>
        <p:spPr>
          <a:xfrm>
            <a:off x="1117600" y="5219700"/>
            <a:ext cx="47752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2C2C2C"/>
                </a:solidFill>
              </a:rPr>
              <a:t>Browser automation. Selenium / Cypress / Playwright / WebdriverIO. Cloud Manager provides Selenium Grid.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CA894D-A326-48B7-8D3F-00A61A11234A}"/>
              </a:ext>
            </a:extLst>
          </p:cNvPr>
          <p:cNvSpPr/>
          <p:nvPr/>
        </p:nvSpPr>
        <p:spPr>
          <a:xfrm>
            <a:off x="6273800" y="4152900"/>
            <a:ext cx="5257800" cy="2133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7041E7-DD4D-4A15-836F-EFC81C1368FA}"/>
              </a:ext>
            </a:extLst>
          </p:cNvPr>
          <p:cNvSpPr/>
          <p:nvPr/>
        </p:nvSpPr>
        <p:spPr>
          <a:xfrm>
            <a:off x="6273800" y="4152900"/>
            <a:ext cx="76200" cy="21336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0B5E11-2DCD-42A0-A146-447A482BB098}"/>
              </a:ext>
            </a:extLst>
          </p:cNvPr>
          <p:cNvSpPr txBox="1"/>
          <p:nvPr/>
        </p:nvSpPr>
        <p:spPr>
          <a:xfrm>
            <a:off x="6553200" y="4356100"/>
            <a:ext cx="4775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>
                <a:solidFill>
                  <a:srgbClr val="1A1A1A"/>
                </a:solidFill>
              </a:rPr>
              <a:t>Performance Tests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4A8DCBC-A556-41C6-8F23-3CCEE23D0047}"/>
              </a:ext>
            </a:extLst>
          </p:cNvPr>
          <p:cNvSpPr/>
          <p:nvPr/>
        </p:nvSpPr>
        <p:spPr>
          <a:xfrm>
            <a:off x="6553200" y="4787900"/>
            <a:ext cx="1397000" cy="304800"/>
          </a:xfrm>
          <a:prstGeom prst="round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GB" sz="1200" b="1">
                <a:solidFill>
                  <a:srgbClr val="FFFFFF"/>
                </a:solidFill>
              </a:rPr>
              <a:t>By Adobe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1EB327-E3FC-4D09-B586-F9F3130ACA0C}"/>
              </a:ext>
            </a:extLst>
          </p:cNvPr>
          <p:cNvSpPr txBox="1"/>
          <p:nvPr/>
        </p:nvSpPr>
        <p:spPr>
          <a:xfrm>
            <a:off x="6553200" y="5219700"/>
            <a:ext cx="47752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2C2C2C"/>
                </a:solidFill>
              </a:rPr>
              <a:t>Simulates real user traffic on Stage. Response time, error rate, CPU, page views — vs. KPI thresholds.</a:t>
            </a:r>
          </a:p>
        </p:txBody>
      </p:sp>
    </p:spTree>
    <p:extLst>
      <p:ext uri="{BB962C8B-B14F-4D97-AF65-F5344CB8AC3E}">
        <p14:creationId xmlns:p14="http://schemas.microsoft.com/office/powerpoint/2010/main" val="2377352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154D1-E6FA-E13C-2727-2B9F482C7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/>
              <a:t>Blue / Green Deployment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ACB418-0AEE-4054-9D23-C59BE75260E5}"/>
              </a:ext>
            </a:extLst>
          </p:cNvPr>
          <p:cNvSpPr txBox="1"/>
          <p:nvPr/>
        </p:nvSpPr>
        <p:spPr>
          <a:xfrm>
            <a:off x="838200" y="12700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i="1">
                <a:solidFill>
                  <a:srgbClr val="E1251B"/>
                </a:solidFill>
              </a:rPr>
              <a:t>How AEMaaCS achieves zero-downtime deployments.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03E4A7-FBBB-4EDE-BCE7-9364CC376E15}"/>
              </a:ext>
            </a:extLst>
          </p:cNvPr>
          <p:cNvSpPr/>
          <p:nvPr/>
        </p:nvSpPr>
        <p:spPr>
          <a:xfrm>
            <a:off x="1016000" y="2794000"/>
            <a:ext cx="1651000" cy="10160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GB" b="1">
                <a:solidFill>
                  <a:srgbClr val="FFFFFF"/>
                </a:solidFill>
              </a:rPr>
              <a:t>USERS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3A31CF7-CAEC-44FE-BBF9-DFDD1F2699BB}"/>
              </a:ext>
            </a:extLst>
          </p:cNvPr>
          <p:cNvSpPr/>
          <p:nvPr/>
        </p:nvSpPr>
        <p:spPr>
          <a:xfrm>
            <a:off x="2730500" y="3149600"/>
            <a:ext cx="952500" cy="304800"/>
          </a:xfrm>
          <a:prstGeom prst="rightArrow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A2710481-360E-449A-B275-D54B989861A7}"/>
              </a:ext>
            </a:extLst>
          </p:cNvPr>
          <p:cNvSpPr/>
          <p:nvPr/>
        </p:nvSpPr>
        <p:spPr>
          <a:xfrm>
            <a:off x="3746500" y="2730500"/>
            <a:ext cx="1651000" cy="1270000"/>
          </a:xfrm>
          <a:prstGeom prst="diamond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GB" sz="1400" b="1">
                <a:solidFill>
                  <a:srgbClr val="FFFFFF"/>
                </a:solidFill>
              </a:rPr>
              <a:t>Traffic
Switch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428AA0B-DB38-4B64-91A8-C4A04E281717}"/>
              </a:ext>
            </a:extLst>
          </p:cNvPr>
          <p:cNvSpPr/>
          <p:nvPr/>
        </p:nvSpPr>
        <p:spPr>
          <a:xfrm>
            <a:off x="5461000" y="1968500"/>
            <a:ext cx="1270000" cy="279400"/>
          </a:xfrm>
          <a:prstGeom prst="rightArrow">
            <a:avLst/>
          </a:prstGeom>
          <a:solidFill>
            <a:srgbClr val="1976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4F7475-B6B3-4FD6-99C3-F65632D853F7}"/>
              </a:ext>
            </a:extLst>
          </p:cNvPr>
          <p:cNvSpPr txBox="1"/>
          <p:nvPr/>
        </p:nvSpPr>
        <p:spPr>
          <a:xfrm>
            <a:off x="5461000" y="1676400"/>
            <a:ext cx="127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100" b="1">
                <a:solidFill>
                  <a:srgbClr val="1976D2"/>
                </a:solidFill>
              </a:rPr>
              <a:t>LIVE TRAFFIC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D0DE74-DA48-48BB-88F6-C51F5CA67007}"/>
              </a:ext>
            </a:extLst>
          </p:cNvPr>
          <p:cNvSpPr/>
          <p:nvPr/>
        </p:nvSpPr>
        <p:spPr>
          <a:xfrm>
            <a:off x="6794500" y="1524000"/>
            <a:ext cx="4064000" cy="1143000"/>
          </a:xfrm>
          <a:prstGeom prst="rect">
            <a:avLst/>
          </a:prstGeom>
          <a:solidFill>
            <a:srgbClr val="1976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A56CEC-A4E9-45AD-8789-0B88C5186452}"/>
              </a:ext>
            </a:extLst>
          </p:cNvPr>
          <p:cNvSpPr txBox="1"/>
          <p:nvPr/>
        </p:nvSpPr>
        <p:spPr>
          <a:xfrm>
            <a:off x="7048500" y="1676400"/>
            <a:ext cx="355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>
                <a:solidFill>
                  <a:srgbClr val="FFFFFF"/>
                </a:solidFill>
              </a:rPr>
              <a:t>BLUE — Currently Live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C04A2A-76BC-4441-98D4-D8AEAAD0CC83}"/>
              </a:ext>
            </a:extLst>
          </p:cNvPr>
          <p:cNvSpPr txBox="1"/>
          <p:nvPr/>
        </p:nvSpPr>
        <p:spPr>
          <a:xfrm>
            <a:off x="7048500" y="2032000"/>
            <a:ext cx="355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FFFFFF"/>
                </a:solidFill>
              </a:rPr>
              <a:t>Previous deployment serving all traffic. Stays available briefly for rollback after switch.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F86DABEA-E9FD-4149-A5EB-52B4999A8FFF}"/>
              </a:ext>
            </a:extLst>
          </p:cNvPr>
          <p:cNvSpPr/>
          <p:nvPr/>
        </p:nvSpPr>
        <p:spPr>
          <a:xfrm>
            <a:off x="5461000" y="4191000"/>
            <a:ext cx="1270000" cy="279400"/>
          </a:xfrm>
          <a:prstGeom prst="rightArrow">
            <a:avLst/>
          </a:prstGeom>
          <a:solidFill>
            <a:srgbClr val="B8B8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9416CC-7E74-4D54-82BC-8993558DFF4D}"/>
              </a:ext>
            </a:extLst>
          </p:cNvPr>
          <p:cNvSpPr txBox="1"/>
          <p:nvPr/>
        </p:nvSpPr>
        <p:spPr>
          <a:xfrm>
            <a:off x="5461000" y="4495800"/>
            <a:ext cx="127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100" b="1">
                <a:solidFill>
                  <a:srgbClr val="4A4A4A"/>
                </a:solidFill>
              </a:rPr>
              <a:t>AFTER SWITCH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9C6868-97B6-4A39-BC51-F317D0A7C5FA}"/>
              </a:ext>
            </a:extLst>
          </p:cNvPr>
          <p:cNvSpPr/>
          <p:nvPr/>
        </p:nvSpPr>
        <p:spPr>
          <a:xfrm>
            <a:off x="6794500" y="3746500"/>
            <a:ext cx="4064000" cy="1143000"/>
          </a:xfrm>
          <a:prstGeom prst="rect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A5DC42-E1E2-4658-869D-2081AB381B91}"/>
              </a:ext>
            </a:extLst>
          </p:cNvPr>
          <p:cNvSpPr txBox="1"/>
          <p:nvPr/>
        </p:nvSpPr>
        <p:spPr>
          <a:xfrm>
            <a:off x="7048500" y="3898900"/>
            <a:ext cx="355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>
                <a:solidFill>
                  <a:srgbClr val="FFFFFF"/>
                </a:solidFill>
              </a:rPr>
              <a:t>GREEN — New Deployment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BB1844-1217-46F4-82F1-9107862ED897}"/>
              </a:ext>
            </a:extLst>
          </p:cNvPr>
          <p:cNvSpPr txBox="1"/>
          <p:nvPr/>
        </p:nvSpPr>
        <p:spPr>
          <a:xfrm>
            <a:off x="7048500" y="4254500"/>
            <a:ext cx="355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FFFFFF"/>
                </a:solidFill>
              </a:rPr>
              <a:t>New code deploys here. Health checks run. Traffic switches once they pass.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B9C9D3-2B36-4EF6-9C19-57F00B1E858D}"/>
              </a:ext>
            </a:extLst>
          </p:cNvPr>
          <p:cNvSpPr/>
          <p:nvPr/>
        </p:nvSpPr>
        <p:spPr>
          <a:xfrm>
            <a:off x="838200" y="5461000"/>
            <a:ext cx="10515600" cy="889000"/>
          </a:xfrm>
          <a:prstGeom prst="rect">
            <a:avLst/>
          </a:prstGeom>
          <a:solidFill>
            <a:srgbClr val="FFF5F4"/>
          </a:solidFill>
          <a:ln w="12700" cap="flat" cmpd="sng" algn="ctr">
            <a:solidFill>
              <a:srgbClr val="E1251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06A45E-56BC-4A7F-A2D8-6FDC2E158D6D}"/>
              </a:ext>
            </a:extLst>
          </p:cNvPr>
          <p:cNvSpPr txBox="1"/>
          <p:nvPr/>
        </p:nvSpPr>
        <p:spPr>
          <a:xfrm>
            <a:off x="1066800" y="56134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E1251B"/>
                </a:solidFill>
              </a:rPr>
              <a:t>AUTOMATIC DISPATCHER CACHE FLUSH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3FC382-26CB-464C-8F8E-3A76B22E9696}"/>
              </a:ext>
            </a:extLst>
          </p:cNvPr>
          <p:cNvSpPr txBox="1"/>
          <p:nvPr/>
        </p:nvSpPr>
        <p:spPr>
          <a:xfrm>
            <a:off x="1066800" y="5892800"/>
            <a:ext cx="1016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1A1A1A"/>
                </a:solidFill>
              </a:rPr>
              <a:t>After every deployment, the Dispatcher cache flushes automatically — users get the new content and code immediately, not stale cached responses.</a:t>
            </a:r>
          </a:p>
        </p:txBody>
      </p:sp>
    </p:spTree>
    <p:extLst>
      <p:ext uri="{BB962C8B-B14F-4D97-AF65-F5344CB8AC3E}">
        <p14:creationId xmlns:p14="http://schemas.microsoft.com/office/powerpoint/2010/main" val="1730603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B23C4-FCAC-1F73-42A1-2E7D60800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/>
              <a:t>Monitoring &amp; Logs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179D16-6072-4B87-B106-C5672553D201}"/>
              </a:ext>
            </a:extLst>
          </p:cNvPr>
          <p:cNvSpPr txBox="1"/>
          <p:nvPr/>
        </p:nvSpPr>
        <p:spPr>
          <a:xfrm>
            <a:off x="838200" y="12700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i="1">
                <a:solidFill>
                  <a:srgbClr val="E1251B"/>
                </a:solidFill>
              </a:rPr>
              <a:t>Cloud Manager observability — dashboards, runtime tools, log access, and APM.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5F037B-2824-41A7-BF9E-7E18A9D4BA15}"/>
              </a:ext>
            </a:extLst>
          </p:cNvPr>
          <p:cNvSpPr/>
          <p:nvPr/>
        </p:nvSpPr>
        <p:spPr>
          <a:xfrm>
            <a:off x="838200" y="1841500"/>
            <a:ext cx="3403600" cy="2095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8D7580-8919-4B0D-B879-DA89C35FB810}"/>
              </a:ext>
            </a:extLst>
          </p:cNvPr>
          <p:cNvSpPr/>
          <p:nvPr/>
        </p:nvSpPr>
        <p:spPr>
          <a:xfrm>
            <a:off x="838200" y="1841500"/>
            <a:ext cx="3403600" cy="762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F99079-05E8-415D-981D-F53124A96D7D}"/>
              </a:ext>
            </a:extLst>
          </p:cNvPr>
          <p:cNvSpPr txBox="1"/>
          <p:nvPr/>
        </p:nvSpPr>
        <p:spPr>
          <a:xfrm>
            <a:off x="1041400" y="2070100"/>
            <a:ext cx="2997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700" b="1">
                <a:solidFill>
                  <a:srgbClr val="E1251B"/>
                </a:solidFill>
              </a:rPr>
              <a:t>Built-in Dashboards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97AA70-0428-4043-A260-671F5A12CA01}"/>
              </a:ext>
            </a:extLst>
          </p:cNvPr>
          <p:cNvSpPr txBox="1"/>
          <p:nvPr/>
        </p:nvSpPr>
        <p:spPr>
          <a:xfrm>
            <a:off x="1041400" y="2730500"/>
            <a:ext cx="29972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2C2C2C"/>
                </a:solidFill>
              </a:rPr>
              <a:t>CPU, memory, disk • HTTP request rate, errors, response time • Environment health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1BC0E6-877A-49CB-A451-EBE17D6688F1}"/>
              </a:ext>
            </a:extLst>
          </p:cNvPr>
          <p:cNvSpPr/>
          <p:nvPr/>
        </p:nvSpPr>
        <p:spPr>
          <a:xfrm>
            <a:off x="4394200" y="1841500"/>
            <a:ext cx="3403600" cy="2095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2EA6F4-ABDA-4EA0-8258-F7EB43813969}"/>
              </a:ext>
            </a:extLst>
          </p:cNvPr>
          <p:cNvSpPr/>
          <p:nvPr/>
        </p:nvSpPr>
        <p:spPr>
          <a:xfrm>
            <a:off x="4394200" y="1841500"/>
            <a:ext cx="3403600" cy="76200"/>
          </a:xfrm>
          <a:prstGeom prst="rect">
            <a:avLst/>
          </a:prstGeom>
          <a:solidFill>
            <a:srgbClr val="F26B5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12FFBB-4BF9-435F-9F6E-884E8C1FF8C6}"/>
              </a:ext>
            </a:extLst>
          </p:cNvPr>
          <p:cNvSpPr txBox="1"/>
          <p:nvPr/>
        </p:nvSpPr>
        <p:spPr>
          <a:xfrm>
            <a:off x="4597400" y="2070100"/>
            <a:ext cx="2997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700" b="1">
                <a:solidFill>
                  <a:srgbClr val="F26B5E"/>
                </a:solidFill>
              </a:rPr>
              <a:t>AEM Developer Console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49B5AB-2A05-423D-A2CD-293F63A2C047}"/>
              </a:ext>
            </a:extLst>
          </p:cNvPr>
          <p:cNvSpPr txBox="1"/>
          <p:nvPr/>
        </p:nvSpPr>
        <p:spPr>
          <a:xfrm>
            <a:off x="4597400" y="2730500"/>
            <a:ext cx="29972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2C2C2C"/>
                </a:solidFill>
              </a:rPr>
              <a:t>OSGi bundles • Sling servlets • Request logs • Query debugging — Developer role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51487D-255F-4F0A-A3AA-554C925BA197}"/>
              </a:ext>
            </a:extLst>
          </p:cNvPr>
          <p:cNvSpPr/>
          <p:nvPr/>
        </p:nvSpPr>
        <p:spPr>
          <a:xfrm>
            <a:off x="7950200" y="1841500"/>
            <a:ext cx="3403600" cy="2095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FB0B5A-4F53-4338-9BB8-0C501023DBCE}"/>
              </a:ext>
            </a:extLst>
          </p:cNvPr>
          <p:cNvSpPr/>
          <p:nvPr/>
        </p:nvSpPr>
        <p:spPr>
          <a:xfrm>
            <a:off x="7950200" y="1841500"/>
            <a:ext cx="3403600" cy="76200"/>
          </a:xfrm>
          <a:prstGeom prst="rect">
            <a:avLst/>
          </a:prstGeom>
          <a:solidFill>
            <a:srgbClr val="4A4A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131364-CCCC-47E3-8678-82CAE029B0A9}"/>
              </a:ext>
            </a:extLst>
          </p:cNvPr>
          <p:cNvSpPr txBox="1"/>
          <p:nvPr/>
        </p:nvSpPr>
        <p:spPr>
          <a:xfrm>
            <a:off x="8153400" y="2070100"/>
            <a:ext cx="2997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700" b="1">
                <a:solidFill>
                  <a:srgbClr val="4A4A4A"/>
                </a:solidFill>
              </a:rPr>
              <a:t>Log Access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838679-C1BE-45C3-B6E8-C8C4782257FE}"/>
              </a:ext>
            </a:extLst>
          </p:cNvPr>
          <p:cNvSpPr txBox="1"/>
          <p:nvPr/>
        </p:nvSpPr>
        <p:spPr>
          <a:xfrm>
            <a:off x="8153400" y="2730500"/>
            <a:ext cx="29972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2C2C2C"/>
                </a:solidFill>
              </a:rPr>
              <a:t>UI download • CLI/API • Dev Console • Streaming to Splunk, Datadog, S3, Azure Blob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2F77C3-9301-441F-8E4B-BF8F2F6A32B8}"/>
              </a:ext>
            </a:extLst>
          </p:cNvPr>
          <p:cNvSpPr/>
          <p:nvPr/>
        </p:nvSpPr>
        <p:spPr>
          <a:xfrm>
            <a:off x="838200" y="4089400"/>
            <a:ext cx="3403600" cy="2095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580DF5-E359-436D-9E34-06ADF0084DB5}"/>
              </a:ext>
            </a:extLst>
          </p:cNvPr>
          <p:cNvSpPr/>
          <p:nvPr/>
        </p:nvSpPr>
        <p:spPr>
          <a:xfrm>
            <a:off x="838200" y="4089400"/>
            <a:ext cx="3403600" cy="762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6F133E-ABFB-4364-B579-80D2435E3D88}"/>
              </a:ext>
            </a:extLst>
          </p:cNvPr>
          <p:cNvSpPr txBox="1"/>
          <p:nvPr/>
        </p:nvSpPr>
        <p:spPr>
          <a:xfrm>
            <a:off x="1041400" y="4318000"/>
            <a:ext cx="2997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700" b="1">
                <a:solidFill>
                  <a:srgbClr val="1A1A1A"/>
                </a:solidFill>
              </a:rPr>
              <a:t>Custom Alerts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FABD3D-C70A-47BA-A2EB-4CC88FCCB7E2}"/>
              </a:ext>
            </a:extLst>
          </p:cNvPr>
          <p:cNvSpPr txBox="1"/>
          <p:nvPr/>
        </p:nvSpPr>
        <p:spPr>
          <a:xfrm>
            <a:off x="1041400" y="4978400"/>
            <a:ext cx="29972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2C2C2C"/>
                </a:solidFill>
              </a:rPr>
              <a:t>Notify when KPI thresholds breached — error rate %, response time targets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AEAAD9-B7A3-43D9-B125-D9E22C10C0A9}"/>
              </a:ext>
            </a:extLst>
          </p:cNvPr>
          <p:cNvSpPr/>
          <p:nvPr/>
        </p:nvSpPr>
        <p:spPr>
          <a:xfrm>
            <a:off x="4394200" y="4089400"/>
            <a:ext cx="3403600" cy="2095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C8DE49-C8AA-4CFE-9ABD-14C7C84FE03F}"/>
              </a:ext>
            </a:extLst>
          </p:cNvPr>
          <p:cNvSpPr/>
          <p:nvPr/>
        </p:nvSpPr>
        <p:spPr>
          <a:xfrm>
            <a:off x="4394200" y="4089400"/>
            <a:ext cx="3403600" cy="76200"/>
          </a:xfrm>
          <a:prstGeom prst="rect">
            <a:avLst/>
          </a:prstGeom>
          <a:solidFill>
            <a:srgbClr val="8C1A1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C051EA-8566-4F33-B0D9-F02CD8660EDD}"/>
              </a:ext>
            </a:extLst>
          </p:cNvPr>
          <p:cNvSpPr txBox="1"/>
          <p:nvPr/>
        </p:nvSpPr>
        <p:spPr>
          <a:xfrm>
            <a:off x="4597400" y="4318000"/>
            <a:ext cx="2997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700" b="1">
                <a:solidFill>
                  <a:srgbClr val="8C1A12"/>
                </a:solidFill>
              </a:rPr>
              <a:t>Experience Audit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08380B-5227-4F8C-8972-0052640B7C50}"/>
              </a:ext>
            </a:extLst>
          </p:cNvPr>
          <p:cNvSpPr txBox="1"/>
          <p:nvPr/>
        </p:nvSpPr>
        <p:spPr>
          <a:xfrm>
            <a:off x="4597400" y="4978400"/>
            <a:ext cx="29972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2C2C2C"/>
                </a:solidFill>
              </a:rPr>
              <a:t>Google Lighthouse on Stage URLs • Performance, SEO, A11y, Best Practices • Trends per run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1B16D8-812E-4F8A-A3F1-C3CF54129CAF}"/>
              </a:ext>
            </a:extLst>
          </p:cNvPr>
          <p:cNvSpPr/>
          <p:nvPr/>
        </p:nvSpPr>
        <p:spPr>
          <a:xfrm>
            <a:off x="7950200" y="4089400"/>
            <a:ext cx="3403600" cy="2095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298718-B83D-4106-A36B-AFDD8E7F72A9}"/>
              </a:ext>
            </a:extLst>
          </p:cNvPr>
          <p:cNvSpPr/>
          <p:nvPr/>
        </p:nvSpPr>
        <p:spPr>
          <a:xfrm>
            <a:off x="7950200" y="4089400"/>
            <a:ext cx="3403600" cy="762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08AA32-4F04-4075-A17F-804CF41E236B}"/>
              </a:ext>
            </a:extLst>
          </p:cNvPr>
          <p:cNvSpPr txBox="1"/>
          <p:nvPr/>
        </p:nvSpPr>
        <p:spPr>
          <a:xfrm>
            <a:off x="8153400" y="4318000"/>
            <a:ext cx="2997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700" b="1">
                <a:solidFill>
                  <a:srgbClr val="E1251B"/>
                </a:solidFill>
              </a:rPr>
              <a:t>New Relic Integration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72C0B1-6882-406E-A7A3-B301D8B22AE0}"/>
              </a:ext>
            </a:extLst>
          </p:cNvPr>
          <p:cNvSpPr txBox="1"/>
          <p:nvPr/>
        </p:nvSpPr>
        <p:spPr>
          <a:xfrm>
            <a:off x="8153400" y="4978400"/>
            <a:ext cx="29972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2C2C2C"/>
                </a:solidFill>
              </a:rPr>
              <a:t>Provisioned by Adobe — JVM heap, GC, Sling traces, APM. No separate subscription.</a:t>
            </a:r>
          </a:p>
        </p:txBody>
      </p:sp>
    </p:spTree>
    <p:extLst>
      <p:ext uri="{BB962C8B-B14F-4D97-AF65-F5344CB8AC3E}">
        <p14:creationId xmlns:p14="http://schemas.microsoft.com/office/powerpoint/2010/main" val="4114334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4FAB5-1F97-4C3F-2098-BD4FCF725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/>
              <a:t>Cloud Manager API &amp; CLI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377748-1980-4527-92C2-B299446AAA6C}"/>
              </a:ext>
            </a:extLst>
          </p:cNvPr>
          <p:cNvSpPr txBox="1"/>
          <p:nvPr/>
        </p:nvSpPr>
        <p:spPr>
          <a:xfrm>
            <a:off x="838200" y="12700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i="1">
                <a:solidFill>
                  <a:srgbClr val="E1251B"/>
                </a:solidFill>
              </a:rPr>
              <a:t>Cloud Manager is fully operable via REST API and command line.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0B2F-E6FA-44EA-93FD-00B63B7C4E14}"/>
              </a:ext>
            </a:extLst>
          </p:cNvPr>
          <p:cNvSpPr/>
          <p:nvPr/>
        </p:nvSpPr>
        <p:spPr>
          <a:xfrm>
            <a:off x="838200" y="1778000"/>
            <a:ext cx="5207000" cy="3683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E1251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7C0347-1A7F-4878-9DAF-89BB84B47C47}"/>
              </a:ext>
            </a:extLst>
          </p:cNvPr>
          <p:cNvSpPr/>
          <p:nvPr/>
        </p:nvSpPr>
        <p:spPr>
          <a:xfrm>
            <a:off x="838200" y="1778000"/>
            <a:ext cx="5207000" cy="4826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GB" sz="1700" b="1">
                <a:solidFill>
                  <a:srgbClr val="FFFFFF"/>
                </a:solidFill>
              </a:rPr>
              <a:t>REST API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B217EF-65C3-481D-ACD1-87703CFE55A4}"/>
              </a:ext>
            </a:extLst>
          </p:cNvPr>
          <p:cNvSpPr txBox="1"/>
          <p:nvPr/>
        </p:nvSpPr>
        <p:spPr>
          <a:xfrm>
            <a:off x="1092200" y="2438400"/>
            <a:ext cx="469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A1A1A"/>
                </a:solidFill>
                <a:latin typeface="Consolas"/>
              </a:rPr>
              <a:t>cloudmanager.adobe.io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5B32FA-0DEA-4A82-9F6A-3DA6D62B220E}"/>
              </a:ext>
            </a:extLst>
          </p:cNvPr>
          <p:cNvSpPr txBox="1"/>
          <p:nvPr/>
        </p:nvSpPr>
        <p:spPr>
          <a:xfrm>
            <a:off x="1092200" y="2819400"/>
            <a:ext cx="4699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 i="1">
                <a:solidFill>
                  <a:srgbClr val="4A4A4A"/>
                </a:solidFill>
              </a:rPr>
              <a:t>Auth: Adobe IMS — Service Account from Adobe Developer Console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C1EC16-7AE5-4D22-84F3-33786823C73E}"/>
              </a:ext>
            </a:extLst>
          </p:cNvPr>
          <p:cNvSpPr txBox="1"/>
          <p:nvPr/>
        </p:nvSpPr>
        <p:spPr>
          <a:xfrm>
            <a:off x="1092200" y="3403600"/>
            <a:ext cx="469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 b="1">
                <a:solidFill>
                  <a:srgbClr val="E1251B"/>
                </a:solidFill>
              </a:rPr>
              <a:t>USE CASES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30CA92-97CA-413E-BC5D-E3C731E5E1C7}"/>
              </a:ext>
            </a:extLst>
          </p:cNvPr>
          <p:cNvSpPr txBox="1"/>
          <p:nvPr/>
        </p:nvSpPr>
        <p:spPr>
          <a:xfrm>
            <a:off x="1092200" y="3683000"/>
            <a:ext cx="4699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2C2C2C"/>
                </a:solidFill>
              </a:rPr>
              <a:t>• Trigger pipeline runs from Jenkins, GitHub Actions
• Poll execution status, download logs
• Manage variables &amp; secrets (rotation)
• Approve Go Live via Advance endpoint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2BBB3C-A504-419F-A45F-9F61F1641CFA}"/>
              </a:ext>
            </a:extLst>
          </p:cNvPr>
          <p:cNvSpPr/>
          <p:nvPr/>
        </p:nvSpPr>
        <p:spPr>
          <a:xfrm>
            <a:off x="6146800" y="1778000"/>
            <a:ext cx="5207000" cy="3683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1A1A1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C75CC7-C1B8-428B-ABF1-EB6441176FC9}"/>
              </a:ext>
            </a:extLst>
          </p:cNvPr>
          <p:cNvSpPr/>
          <p:nvPr/>
        </p:nvSpPr>
        <p:spPr>
          <a:xfrm>
            <a:off x="6146800" y="1778000"/>
            <a:ext cx="5207000" cy="4826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GB" sz="1700" b="1">
                <a:solidFill>
                  <a:srgbClr val="FFFFFF"/>
                </a:solidFill>
              </a:rPr>
              <a:t>Adobe I/O CLI  (aio)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0184FD-8339-4F73-98D9-EA9203F5E100}"/>
              </a:ext>
            </a:extLst>
          </p:cNvPr>
          <p:cNvSpPr/>
          <p:nvPr/>
        </p:nvSpPr>
        <p:spPr>
          <a:xfrm>
            <a:off x="6400800" y="2438400"/>
            <a:ext cx="4699000" cy="8890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081296-D4EA-4078-BB92-B3069008E11D}"/>
              </a:ext>
            </a:extLst>
          </p:cNvPr>
          <p:cNvSpPr txBox="1"/>
          <p:nvPr/>
        </p:nvSpPr>
        <p:spPr>
          <a:xfrm>
            <a:off x="6527800" y="2540000"/>
            <a:ext cx="4445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F26B5E"/>
                </a:solidFill>
                <a:latin typeface="Consolas"/>
              </a:rPr>
              <a:t>$ npm install -g @adobe/aio-cli
$ aio plugins:install @adobe/aio-cli-plugin-cloudmanager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824DE8-420F-4440-AB89-DB9C6E4AE46C}"/>
              </a:ext>
            </a:extLst>
          </p:cNvPr>
          <p:cNvSpPr txBox="1"/>
          <p:nvPr/>
        </p:nvSpPr>
        <p:spPr>
          <a:xfrm>
            <a:off x="6400800" y="3479800"/>
            <a:ext cx="469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 b="1">
                <a:solidFill>
                  <a:srgbClr val="E1251B"/>
                </a:solidFill>
              </a:rPr>
              <a:t>COMMON COMMANDS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B9648C-666F-4D5C-8B1F-27F1CD2A3F56}"/>
              </a:ext>
            </a:extLst>
          </p:cNvPr>
          <p:cNvSpPr txBox="1"/>
          <p:nvPr/>
        </p:nvSpPr>
        <p:spPr>
          <a:xfrm>
            <a:off x="6400800" y="3759200"/>
            <a:ext cx="4699000" cy="157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2C2C2C"/>
                </a:solidFill>
              </a:rPr>
              <a:t>• List programs and environments
• Trigger pipelines
• Tail logs in real time
• Manage variables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D87E7C-5D69-43CC-98DC-ED0A31EAA849}"/>
              </a:ext>
            </a:extLst>
          </p:cNvPr>
          <p:cNvSpPr/>
          <p:nvPr/>
        </p:nvSpPr>
        <p:spPr>
          <a:xfrm>
            <a:off x="838200" y="5651500"/>
            <a:ext cx="10515600" cy="6985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B911EE-C539-4DC3-BE21-C060A5291C03}"/>
              </a:ext>
            </a:extLst>
          </p:cNvPr>
          <p:cNvSpPr txBox="1"/>
          <p:nvPr/>
        </p:nvSpPr>
        <p:spPr>
          <a:xfrm>
            <a:off x="1066800" y="5778500"/>
            <a:ext cx="45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200" b="1">
                <a:solidFill>
                  <a:srgbClr val="F26B5E"/>
                </a:solidFill>
              </a:rPr>
              <a:t>!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250278-BA33-465D-AE99-E57D7C9C6D1A}"/>
              </a:ext>
            </a:extLst>
          </p:cNvPr>
          <p:cNvSpPr txBox="1"/>
          <p:nvPr/>
        </p:nvSpPr>
        <p:spPr>
          <a:xfrm>
            <a:off x="1574800" y="5829300"/>
            <a:ext cx="965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GB" sz="1400" b="1">
                <a:solidFill>
                  <a:srgbClr val="FAFAFA"/>
                </a:solidFill>
              </a:rPr>
              <a:t>Authentication uses OAuth Server-to-Server credentials. JWT credentials were fully removed in January 2025.</a:t>
            </a:r>
          </a:p>
        </p:txBody>
      </p:sp>
    </p:spTree>
    <p:extLst>
      <p:ext uri="{BB962C8B-B14F-4D97-AF65-F5344CB8AC3E}">
        <p14:creationId xmlns:p14="http://schemas.microsoft.com/office/powerpoint/2010/main" val="3742104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C4528-7891-8027-14EE-831FAE065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/>
              <a:t>Key Connections to Remember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8C2377-A934-44B2-8FEA-40452237CACF}"/>
              </a:ext>
            </a:extLst>
          </p:cNvPr>
          <p:cNvSpPr txBox="1"/>
          <p:nvPr/>
        </p:nvSpPr>
        <p:spPr>
          <a:xfrm>
            <a:off x="838200" y="12700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i="1">
                <a:solidFill>
                  <a:srgbClr val="E1251B"/>
                </a:solidFill>
              </a:rPr>
              <a:t>Cloud Manager is the operational backbone of AEM as a Cloud Service.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E2362A-BC63-41CC-8F91-8298EBC788E7}"/>
              </a:ext>
            </a:extLst>
          </p:cNvPr>
          <p:cNvSpPr/>
          <p:nvPr/>
        </p:nvSpPr>
        <p:spPr>
          <a:xfrm>
            <a:off x="838200" y="1841500"/>
            <a:ext cx="3429000" cy="1397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9D55E6-8219-48DD-9DF0-4E7DDE5FA2B9}"/>
              </a:ext>
            </a:extLst>
          </p:cNvPr>
          <p:cNvSpPr/>
          <p:nvPr/>
        </p:nvSpPr>
        <p:spPr>
          <a:xfrm>
            <a:off x="838200" y="1841500"/>
            <a:ext cx="63500" cy="13970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96CF6D-1E79-4588-BC76-1047A11224A7}"/>
              </a:ext>
            </a:extLst>
          </p:cNvPr>
          <p:cNvSpPr txBox="1"/>
          <p:nvPr/>
        </p:nvSpPr>
        <p:spPr>
          <a:xfrm>
            <a:off x="1041400" y="19939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E1251B"/>
                </a:solidFill>
              </a:rPr>
              <a:t>AEMaaCS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425307-189D-42F8-BE89-AB0F8D26EEC3}"/>
              </a:ext>
            </a:extLst>
          </p:cNvPr>
          <p:cNvSpPr txBox="1"/>
          <p:nvPr/>
        </p:nvSpPr>
        <p:spPr>
          <a:xfrm>
            <a:off x="1041400" y="23241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A1A1A"/>
                </a:solidFill>
              </a:rPr>
              <a:t>→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362442-C0F8-45DC-AC27-ED601E916202}"/>
              </a:ext>
            </a:extLst>
          </p:cNvPr>
          <p:cNvSpPr txBox="1"/>
          <p:nvPr/>
        </p:nvSpPr>
        <p:spPr>
          <a:xfrm>
            <a:off x="1346200" y="2324100"/>
            <a:ext cx="27686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2C2C2C"/>
                </a:solidFill>
              </a:rPr>
              <a:t>Immutable code + mutable content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63D4F-EE5C-4DD2-9E64-A39B880B45CA}"/>
              </a:ext>
            </a:extLst>
          </p:cNvPr>
          <p:cNvSpPr/>
          <p:nvPr/>
        </p:nvSpPr>
        <p:spPr>
          <a:xfrm>
            <a:off x="4445000" y="1841500"/>
            <a:ext cx="3429000" cy="1397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12D147-431C-4104-929D-09482A54E6CC}"/>
              </a:ext>
            </a:extLst>
          </p:cNvPr>
          <p:cNvSpPr/>
          <p:nvPr/>
        </p:nvSpPr>
        <p:spPr>
          <a:xfrm>
            <a:off x="4445000" y="1841500"/>
            <a:ext cx="63500" cy="13970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88A42B-4A41-47BE-B604-D02370440FD0}"/>
              </a:ext>
            </a:extLst>
          </p:cNvPr>
          <p:cNvSpPr txBox="1"/>
          <p:nvPr/>
        </p:nvSpPr>
        <p:spPr>
          <a:xfrm>
            <a:off x="4648200" y="19939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E1251B"/>
                </a:solidFill>
              </a:rPr>
              <a:t>Admin Console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DDE3CA-18D1-4960-AEA1-BC76069345E1}"/>
              </a:ext>
            </a:extLst>
          </p:cNvPr>
          <p:cNvSpPr txBox="1"/>
          <p:nvPr/>
        </p:nvSpPr>
        <p:spPr>
          <a:xfrm>
            <a:off x="4648200" y="23241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A1A1A"/>
                </a:solidFill>
              </a:rPr>
              <a:t>→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D78F8C-D470-4F27-925B-8D338FC83715}"/>
              </a:ext>
            </a:extLst>
          </p:cNvPr>
          <p:cNvSpPr txBox="1"/>
          <p:nvPr/>
        </p:nvSpPr>
        <p:spPr>
          <a:xfrm>
            <a:off x="4953000" y="2324100"/>
            <a:ext cx="27686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2C2C2C"/>
                </a:solidFill>
              </a:rPr>
              <a:t>All roles via product profiles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B7FE4E-F49C-4056-B381-2D4A9A25BA78}"/>
              </a:ext>
            </a:extLst>
          </p:cNvPr>
          <p:cNvSpPr/>
          <p:nvPr/>
        </p:nvSpPr>
        <p:spPr>
          <a:xfrm>
            <a:off x="8051800" y="1841500"/>
            <a:ext cx="3429000" cy="1397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EC6899-EFD1-4993-9E4E-58708AE90762}"/>
              </a:ext>
            </a:extLst>
          </p:cNvPr>
          <p:cNvSpPr/>
          <p:nvPr/>
        </p:nvSpPr>
        <p:spPr>
          <a:xfrm>
            <a:off x="8051800" y="1841500"/>
            <a:ext cx="63500" cy="13970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154CDA-8E9F-4A40-894A-3FEB93AA6EA0}"/>
              </a:ext>
            </a:extLst>
          </p:cNvPr>
          <p:cNvSpPr txBox="1"/>
          <p:nvPr/>
        </p:nvSpPr>
        <p:spPr>
          <a:xfrm>
            <a:off x="8255000" y="19939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E1251B"/>
                </a:solidFill>
              </a:rPr>
              <a:t>Programs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8B667A-0AC3-4198-A4B1-EA0A870F0984}"/>
              </a:ext>
            </a:extLst>
          </p:cNvPr>
          <p:cNvSpPr txBox="1"/>
          <p:nvPr/>
        </p:nvSpPr>
        <p:spPr>
          <a:xfrm>
            <a:off x="8255000" y="23241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A1A1A"/>
                </a:solidFill>
              </a:rPr>
              <a:t>→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815724-C4DB-4CB7-A029-794300257D66}"/>
              </a:ext>
            </a:extLst>
          </p:cNvPr>
          <p:cNvSpPr txBox="1"/>
          <p:nvPr/>
        </p:nvSpPr>
        <p:spPr>
          <a:xfrm>
            <a:off x="8559800" y="2324100"/>
            <a:ext cx="27686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2C2C2C"/>
                </a:solidFill>
              </a:rPr>
              <a:t>Sandbox vs Production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F107E1-8FC4-4EB3-A15A-FD0739D94258}"/>
              </a:ext>
            </a:extLst>
          </p:cNvPr>
          <p:cNvSpPr/>
          <p:nvPr/>
        </p:nvSpPr>
        <p:spPr>
          <a:xfrm>
            <a:off x="838200" y="3390900"/>
            <a:ext cx="3429000" cy="1397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7E2E54-9375-4FD2-B0C0-0B61CD46A02B}"/>
              </a:ext>
            </a:extLst>
          </p:cNvPr>
          <p:cNvSpPr/>
          <p:nvPr/>
        </p:nvSpPr>
        <p:spPr>
          <a:xfrm>
            <a:off x="838200" y="3390900"/>
            <a:ext cx="63500" cy="13970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632CC7-7B4E-402A-AE2F-4E57DED9F95B}"/>
              </a:ext>
            </a:extLst>
          </p:cNvPr>
          <p:cNvSpPr txBox="1"/>
          <p:nvPr/>
        </p:nvSpPr>
        <p:spPr>
          <a:xfrm>
            <a:off x="1041400" y="35433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E1251B"/>
                </a:solidFill>
              </a:rPr>
              <a:t>Pipelines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ADBD81-32D0-4945-AAAC-B78F693EA249}"/>
              </a:ext>
            </a:extLst>
          </p:cNvPr>
          <p:cNvSpPr txBox="1"/>
          <p:nvPr/>
        </p:nvSpPr>
        <p:spPr>
          <a:xfrm>
            <a:off x="1041400" y="38735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A1A1A"/>
                </a:solidFill>
              </a:rPr>
              <a:t>→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70BCE6-99A4-4204-859C-F62A5CC8E719}"/>
              </a:ext>
            </a:extLst>
          </p:cNvPr>
          <p:cNvSpPr txBox="1"/>
          <p:nvPr/>
        </p:nvSpPr>
        <p:spPr>
          <a:xfrm>
            <a:off x="1346200" y="3873500"/>
            <a:ext cx="27686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2C2C2C"/>
                </a:solidFill>
              </a:rPr>
              <a:t>Full Stack • Front End • Config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4F2223-8CAB-4FD3-A2A5-6DD5039EE939}"/>
              </a:ext>
            </a:extLst>
          </p:cNvPr>
          <p:cNvSpPr/>
          <p:nvPr/>
        </p:nvSpPr>
        <p:spPr>
          <a:xfrm>
            <a:off x="4445000" y="3390900"/>
            <a:ext cx="3429000" cy="1397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3D29EB-B1AF-49D0-8CED-04F756C908ED}"/>
              </a:ext>
            </a:extLst>
          </p:cNvPr>
          <p:cNvSpPr/>
          <p:nvPr/>
        </p:nvSpPr>
        <p:spPr>
          <a:xfrm>
            <a:off x="4445000" y="3390900"/>
            <a:ext cx="63500" cy="13970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BBE5CE-F0C7-4817-9F38-3507980339FE}"/>
              </a:ext>
            </a:extLst>
          </p:cNvPr>
          <p:cNvSpPr txBox="1"/>
          <p:nvPr/>
        </p:nvSpPr>
        <p:spPr>
          <a:xfrm>
            <a:off x="4648200" y="35433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E1251B"/>
                </a:solidFill>
              </a:rPr>
              <a:t>Production Flow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63C9FF-A22B-4F62-8A74-F0EA5FBBC07B}"/>
              </a:ext>
            </a:extLst>
          </p:cNvPr>
          <p:cNvSpPr txBox="1"/>
          <p:nvPr/>
        </p:nvSpPr>
        <p:spPr>
          <a:xfrm>
            <a:off x="4648200" y="38735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A1A1A"/>
                </a:solidFill>
              </a:rPr>
              <a:t>→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27CBA4-6DE9-44B6-836E-F8CE6A7313FB}"/>
              </a:ext>
            </a:extLst>
          </p:cNvPr>
          <p:cNvSpPr txBox="1"/>
          <p:nvPr/>
        </p:nvSpPr>
        <p:spPr>
          <a:xfrm>
            <a:off x="4953000" y="3873500"/>
            <a:ext cx="27686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2C2C2C"/>
                </a:solidFill>
              </a:rPr>
              <a:t>Build → CQ → Stage → Test → GoLive → Prod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481241-C9E1-4867-9101-D60D08D37D37}"/>
              </a:ext>
            </a:extLst>
          </p:cNvPr>
          <p:cNvSpPr/>
          <p:nvPr/>
        </p:nvSpPr>
        <p:spPr>
          <a:xfrm>
            <a:off x="8051800" y="3390900"/>
            <a:ext cx="3429000" cy="1397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BAD298-5608-44B5-923C-905956D6C28B}"/>
              </a:ext>
            </a:extLst>
          </p:cNvPr>
          <p:cNvSpPr/>
          <p:nvPr/>
        </p:nvSpPr>
        <p:spPr>
          <a:xfrm>
            <a:off x="8051800" y="3390900"/>
            <a:ext cx="63500" cy="13970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2FE841-30F2-40EA-BCF4-8AEBE91A7E74}"/>
              </a:ext>
            </a:extLst>
          </p:cNvPr>
          <p:cNvSpPr txBox="1"/>
          <p:nvPr/>
        </p:nvSpPr>
        <p:spPr>
          <a:xfrm>
            <a:off x="8255000" y="35433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E1251B"/>
                </a:solidFill>
              </a:rPr>
              <a:t>Code Quality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9C60B5-531B-4C54-9068-33F7F14E48B4}"/>
              </a:ext>
            </a:extLst>
          </p:cNvPr>
          <p:cNvSpPr txBox="1"/>
          <p:nvPr/>
        </p:nvSpPr>
        <p:spPr>
          <a:xfrm>
            <a:off x="8255000" y="38735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A1A1A"/>
                </a:solidFill>
              </a:rPr>
              <a:t>→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7C98AE-1D0B-4C8B-A2B3-F3B68A14E7B0}"/>
              </a:ext>
            </a:extLst>
          </p:cNvPr>
          <p:cNvSpPr txBox="1"/>
          <p:nvPr/>
        </p:nvSpPr>
        <p:spPr>
          <a:xfrm>
            <a:off x="8559800" y="3873500"/>
            <a:ext cx="27686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2C2C2C"/>
                </a:solidFill>
              </a:rPr>
              <a:t>SonarQube • Critical vs Important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087ECED-D506-4498-A73C-D395CC6ACF28}"/>
              </a:ext>
            </a:extLst>
          </p:cNvPr>
          <p:cNvSpPr/>
          <p:nvPr/>
        </p:nvSpPr>
        <p:spPr>
          <a:xfrm>
            <a:off x="838200" y="4940300"/>
            <a:ext cx="3429000" cy="1397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690AE9-5EAF-4EE5-9604-E80872860FE4}"/>
              </a:ext>
            </a:extLst>
          </p:cNvPr>
          <p:cNvSpPr/>
          <p:nvPr/>
        </p:nvSpPr>
        <p:spPr>
          <a:xfrm>
            <a:off x="838200" y="4940300"/>
            <a:ext cx="63500" cy="13970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CE6616-649B-4F87-A9C6-2E96123DAE2C}"/>
              </a:ext>
            </a:extLst>
          </p:cNvPr>
          <p:cNvSpPr txBox="1"/>
          <p:nvPr/>
        </p:nvSpPr>
        <p:spPr>
          <a:xfrm>
            <a:off x="1041400" y="50927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E1251B"/>
                </a:solidFill>
              </a:rPr>
              <a:t>Blue/Green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683386-98F6-4048-AF53-D8F4DABD8123}"/>
              </a:ext>
            </a:extLst>
          </p:cNvPr>
          <p:cNvSpPr txBox="1"/>
          <p:nvPr/>
        </p:nvSpPr>
        <p:spPr>
          <a:xfrm>
            <a:off x="1041400" y="54229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A1A1A"/>
                </a:solidFill>
              </a:rPr>
              <a:t>→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F15433-0399-4368-BBAB-07199A9F5843}"/>
              </a:ext>
            </a:extLst>
          </p:cNvPr>
          <p:cNvSpPr txBox="1"/>
          <p:nvPr/>
        </p:nvSpPr>
        <p:spPr>
          <a:xfrm>
            <a:off x="1346200" y="5422900"/>
            <a:ext cx="27686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2C2C2C"/>
                </a:solidFill>
              </a:rPr>
              <a:t>Zero-downtime + auto cache flush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51A364F-7661-4FC9-AC77-00C84CE11AB9}"/>
              </a:ext>
            </a:extLst>
          </p:cNvPr>
          <p:cNvSpPr/>
          <p:nvPr/>
        </p:nvSpPr>
        <p:spPr>
          <a:xfrm>
            <a:off x="4445000" y="4940300"/>
            <a:ext cx="3429000" cy="1397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B21505D-3563-48A6-8360-AFA56F8A8B43}"/>
              </a:ext>
            </a:extLst>
          </p:cNvPr>
          <p:cNvSpPr/>
          <p:nvPr/>
        </p:nvSpPr>
        <p:spPr>
          <a:xfrm>
            <a:off x="4445000" y="4940300"/>
            <a:ext cx="63500" cy="13970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230384C-6616-4057-B0EB-58F853B37519}"/>
              </a:ext>
            </a:extLst>
          </p:cNvPr>
          <p:cNvSpPr txBox="1"/>
          <p:nvPr/>
        </p:nvSpPr>
        <p:spPr>
          <a:xfrm>
            <a:off x="4648200" y="50927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E1251B"/>
                </a:solidFill>
              </a:rPr>
              <a:t>Monitoring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1091C2-7419-4027-9FD3-ADF1F74F56B2}"/>
              </a:ext>
            </a:extLst>
          </p:cNvPr>
          <p:cNvSpPr txBox="1"/>
          <p:nvPr/>
        </p:nvSpPr>
        <p:spPr>
          <a:xfrm>
            <a:off x="4648200" y="54229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A1A1A"/>
                </a:solidFill>
              </a:rPr>
              <a:t>→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AF2AE7-E5F6-4339-B996-73CD29432A07}"/>
              </a:ext>
            </a:extLst>
          </p:cNvPr>
          <p:cNvSpPr txBox="1"/>
          <p:nvPr/>
        </p:nvSpPr>
        <p:spPr>
          <a:xfrm>
            <a:off x="4953000" y="5422900"/>
            <a:ext cx="27686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2C2C2C"/>
                </a:solidFill>
              </a:rPr>
              <a:t>Dev Console • Log Forwarding • New Relic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D309B49-37DD-4833-B119-A8E58CBA242B}"/>
              </a:ext>
            </a:extLst>
          </p:cNvPr>
          <p:cNvSpPr/>
          <p:nvPr/>
        </p:nvSpPr>
        <p:spPr>
          <a:xfrm>
            <a:off x="8051800" y="4940300"/>
            <a:ext cx="3429000" cy="1397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ED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4D99D51-8B2C-451E-942D-AA1342718313}"/>
              </a:ext>
            </a:extLst>
          </p:cNvPr>
          <p:cNvSpPr/>
          <p:nvPr/>
        </p:nvSpPr>
        <p:spPr>
          <a:xfrm>
            <a:off x="8051800" y="4940300"/>
            <a:ext cx="63500" cy="1397000"/>
          </a:xfrm>
          <a:prstGeom prst="rect">
            <a:avLst/>
          </a:prstGeom>
          <a:solidFill>
            <a:srgbClr val="E1251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EC3450-678F-42AB-9DAC-5EE19539337A}"/>
              </a:ext>
            </a:extLst>
          </p:cNvPr>
          <p:cNvSpPr txBox="1"/>
          <p:nvPr/>
        </p:nvSpPr>
        <p:spPr>
          <a:xfrm>
            <a:off x="8255000" y="50927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E1251B"/>
                </a:solidFill>
              </a:rPr>
              <a:t>API &amp; CLI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EF5549-5B78-4603-BEFF-2FABA90583CE}"/>
              </a:ext>
            </a:extLst>
          </p:cNvPr>
          <p:cNvSpPr txBox="1"/>
          <p:nvPr/>
        </p:nvSpPr>
        <p:spPr>
          <a:xfrm>
            <a:off x="8255000" y="54229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A1A1A"/>
                </a:solidFill>
              </a:rPr>
              <a:t>→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55B4ABD-336F-49A0-B65A-370CE3D91DAF}"/>
              </a:ext>
            </a:extLst>
          </p:cNvPr>
          <p:cNvSpPr txBox="1"/>
          <p:nvPr/>
        </p:nvSpPr>
        <p:spPr>
          <a:xfrm>
            <a:off x="8559800" y="5422900"/>
            <a:ext cx="27686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>
                <a:solidFill>
                  <a:srgbClr val="2C2C2C"/>
                </a:solidFill>
              </a:rPr>
              <a:t>REST API + aio CLI — full control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7A07AE3-F25B-441A-8150-3B185BCBAD25}"/>
              </a:ext>
            </a:extLst>
          </p:cNvPr>
          <p:cNvSpPr/>
          <p:nvPr/>
        </p:nvSpPr>
        <p:spPr>
          <a:xfrm>
            <a:off x="838200" y="6223000"/>
            <a:ext cx="10515600" cy="5080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B4BFBB1-3B36-4B33-9774-7E3AC5CA17A5}"/>
              </a:ext>
            </a:extLst>
          </p:cNvPr>
          <p:cNvSpPr txBox="1"/>
          <p:nvPr/>
        </p:nvSpPr>
        <p:spPr>
          <a:xfrm>
            <a:off x="838200" y="6223000"/>
            <a:ext cx="105156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500" b="1">
                <a:solidFill>
                  <a:srgbClr val="FFFFFF"/>
                </a:solidFill>
              </a:rPr>
              <a:t>Connect these nine categories — you're well prepared for the Cloud Manager exam.</a:t>
            </a:r>
          </a:p>
        </p:txBody>
      </p:sp>
    </p:spTree>
    <p:extLst>
      <p:ext uri="{BB962C8B-B14F-4D97-AF65-F5344CB8AC3E}">
        <p14:creationId xmlns:p14="http://schemas.microsoft.com/office/powerpoint/2010/main" val="3800221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7829491793]">
  <a:themeElements>
    <a:clrScheme name="Office">
      <a:dk1>
        <a:srgbClr val="1A1A1A"/>
      </a:dk1>
      <a:lt1>
        <a:srgbClr val="FAFAFA"/>
      </a:lt1>
      <a:dk2>
        <a:srgbClr val="2C2C2C"/>
      </a:dk2>
      <a:lt2>
        <a:srgbClr val="EDEDED"/>
      </a:lt2>
      <a:accent1>
        <a:srgbClr val="E1251B"/>
      </a:accent1>
      <a:accent2>
        <a:srgbClr val="2C2C2C"/>
      </a:accent2>
      <a:accent3>
        <a:srgbClr val="F26B5E"/>
      </a:accent3>
      <a:accent4>
        <a:srgbClr val="4A4A4A"/>
      </a:accent4>
      <a:accent5>
        <a:srgbClr val="B8B8B8"/>
      </a:accent5>
      <a:accent6>
        <a:srgbClr val="8C1A12"/>
      </a:accent6>
      <a:hlink>
        <a:srgbClr val="467886"/>
      </a:hlink>
      <a:folHlink>
        <a:srgbClr val="96607D"/>
      </a:folHlink>
    </a:clrScheme>
    <a:fontScheme name="Office">
      <a:majorFont>
        <a:latin typeface="Segoe U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048D69A-93B4-4E7C-962D-6302EAD56067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093ec933-724d-41a3-9c00-a260f6aa6e7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1594</Words>
  <Application>Microsoft Office PowerPoint</Application>
  <PresentationFormat>Widescreen</PresentationFormat>
  <Paragraphs>262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Consolas</vt:lpstr>
      <vt:lpstr>Segoe UI</vt:lpstr>
      <vt:lpstr>Office Theme [1777829491793]</vt:lpstr>
      <vt:lpstr>AEM Cloud Manager Complete Recap</vt:lpstr>
      <vt:lpstr>Agenda</vt:lpstr>
      <vt:lpstr>AEM as a Cloud Service</vt:lpstr>
      <vt:lpstr>AEMaaCS — Key Services &amp; Tools</vt:lpstr>
      <vt:lpstr>Adobe Admin Console</vt:lpstr>
      <vt:lpstr>Cloud Manager — The Operational Hub</vt:lpstr>
      <vt:lpstr>Roles &amp; Permissions</vt:lpstr>
      <vt:lpstr>Pipeline Types</vt:lpstr>
      <vt:lpstr>Production Pipeline — Step by Step</vt:lpstr>
      <vt:lpstr>Pipeline Triggers &amp; Variables</vt:lpstr>
      <vt:lpstr>Code Quality Gates</vt:lpstr>
      <vt:lpstr>Testing in Pipelines</vt:lpstr>
      <vt:lpstr>Blue / Green Deployment</vt:lpstr>
      <vt:lpstr>Monitoring &amp; Logs</vt:lpstr>
      <vt:lpstr>Cloud Manager API &amp; CLI</vt:lpstr>
      <vt:lpstr>Key Connections to Remember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Ramiro Ocampo Rodriguez</dc:creator>
  <cp:lastModifiedBy>Ramiro Ocampo Rodriguez</cp:lastModifiedBy>
  <cp:revision>2</cp:revision>
  <dcterms:created xsi:type="dcterms:W3CDTF">2026-05-03T17:31:31Z</dcterms:created>
  <dcterms:modified xsi:type="dcterms:W3CDTF">2026-05-03T18:10:36Z</dcterms:modified>
</cp:coreProperties>
</file>