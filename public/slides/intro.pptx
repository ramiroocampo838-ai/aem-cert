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96" r:id="rId3"/>
    <p:sldId id="301" r:id="rId4"/>
    <p:sldId id="266" r:id="rId5"/>
    <p:sldId id="298" r:id="rId6"/>
    <p:sldId id="270" r:id="rId7"/>
    <p:sldId id="293" r:id="rId8"/>
    <p:sldId id="294" r:id="rId9"/>
    <p:sldId id="276" r:id="rId10"/>
    <p:sldId id="278" r:id="rId11"/>
    <p:sldId id="280" r:id="rId12"/>
    <p:sldId id="282" r:id="rId13"/>
    <p:sldId id="284" r:id="rId14"/>
    <p:sldId id="295" r:id="rId15"/>
    <p:sldId id="288" r:id="rId16"/>
    <p:sldId id="290" r:id="rId17"/>
    <p:sldId id="29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6B6C-BC1F-06B9-92EB-2FCC04F5A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5E454-19B4-42ED-B50D-31EB943CE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57FEA-FF4B-80E1-B957-9C60AFD6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0A03-33FD-006E-99A1-62E293C0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769C-C60C-089A-CE31-31039179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24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4953-36B3-2482-8B4C-007C81434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836F1-3EBD-3E2E-4F37-52D223234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D463A-4991-EB91-1C31-2CD064B2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4643-DB9C-A36A-C7DA-EEE20379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7EB52-01FB-5579-53EE-F9B1E159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63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2CB0-AB22-9D65-D346-F45A7266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2D1F4-1071-C257-8D18-A0F8A55F1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90C2A-84A2-C183-1D72-2E59DE4A4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C19F8-9A35-6E81-E647-A3F9898E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36D1C-DFA0-7F83-CED8-984D73F10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801E5-6F71-3739-A932-3CA549F5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96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0E4D-4067-404D-A17A-77ABB068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196FE-57C0-B5AC-3C56-5860B8384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E301C-934D-0AA6-9ABA-C0FF22CDD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8707D-0F6D-FE6B-7CDA-AB9F741DA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57757-22F9-9082-6D15-488B67B1F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DB5240-7230-37F3-F200-FF0D20FC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76C1A-A704-FE98-A00A-01AE1FB3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8822E-58BE-0B35-0535-9CDB6F92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18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7832-29F8-E7A6-5E6B-5DB4271B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F44CF-E149-FEE0-7E9A-8FAC1F89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04970-EDD7-6849-FC80-FB4D4423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B2ED6-9BE4-B046-96BD-3E9EE4CE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54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051B8-D08E-CFC9-E48A-9F6CBEB3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E6FBD-E7A8-D9F3-B32B-B2994144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F8200-D9E4-B26A-2BF9-DF9E3F37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86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CC1A-0FC5-295C-9958-4C871290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EEBF-F774-DA45-4542-662AEB785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A8C90-BFBA-162A-1EB0-762ADE458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E54CE-25D8-70AC-8301-5607DDAA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C2D86-0AB4-CF2B-24D4-F3DA109D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25C54-2181-B88D-CE52-246F25C0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03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C49B-0A79-40BC-53CE-C3E4BFF8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593E2-2806-DF75-94B8-E0B407171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D370E-07C6-B86C-5935-CA7000230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A080-D621-CDF6-3F39-321C6E11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EC577-8E3B-C83F-D193-FDE15F24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245A2-A08F-3684-CB5F-3AFD4A9A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3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385A-2F64-F8DB-5184-DF855164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1E8FF-B085-CA5F-2E11-819458792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FF2CA-B8AA-A000-A3C9-8FBD2A35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A7AF-97AC-8156-D8C5-9EB3A01D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003F2-6191-1192-9940-714FA651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30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86309-B72B-0FB5-3B13-75367DED2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18465D-B67A-8073-6FD7-76FE532C9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AF15C-A567-5082-D116-DEB5ABCD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EF5AD-8DEB-0BC3-650A-AC77B9391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CABC5-7075-253A-FF07-35711CEC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66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C8971-71C8-6B34-18BC-4284ABC0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D5F80-5BB4-B9C2-1D53-BFE1E30C9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F95-3040-69C4-692B-CEB72C3E8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B831D-14B1-4434-8AFE-F8A2710852F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83B3-2F6F-2191-1E45-A1A9A4721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DFA2-84B4-7C23-CAC6-7EA70BACF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32F4B-9F76-48D4-B431-14E107C91B6E}" type="slidenum">
              <a:rPr lang="en-GB" smtClean="0"/>
              <a:t>‹#›</a:t>
            </a:fld>
            <a:endParaRPr lang="en-GB"/>
          </a:p>
        </p:txBody>
      </p:sp>
      <p:sp>
        <p:nvSpPr>
          <p:cNvPr id="100" name="Accent Bar"/>
          <p:cNvSpPr/>
          <p:nvPr userDrawn="1"/>
        </p:nvSpPr>
        <p:spPr>
          <a:xfrm>
            <a:off x="0" y="6610350"/>
            <a:ext cx="9144000" cy="4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Footer Brand"/>
          <p:cNvSpPr txBox="1"/>
          <p:nvPr userDrawn="1"/>
        </p:nvSpPr>
        <p:spPr>
          <a:xfrm>
            <a:off x="457200" y="6400800"/>
            <a:ext cx="3000000" cy="20000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algn="l">
              <a:buNone/>
            </a:pPr>
            <a:r>
              <a:rPr lang="en-US" sz="1000" b="0" dirty="0">
                <a:solidFill>
                  <a:srgbClr val="8A95A5"/>
                </a:solidFill>
                <a:latin typeface="Calibri"/>
              </a:rPr>
              <a:t>AEM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7796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832F-CD10-A618-D908-C8046284F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5400" b="1" dirty="0">
                <a:solidFill>
                  <a:srgbClr val="1F4E79"/>
                </a:solidFill>
              </a:rPr>
              <a:t>Adobe Experience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C10D0-4DCF-F02F-86F0-615D8EB95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0" dirty="0">
                <a:solidFill>
                  <a:srgbClr val="2C3E50"/>
                </a:solidFill>
              </a:rPr>
              <a:t>An Introduction to AEM Architecture &amp; Core Concepts</a:t>
            </a:r>
          </a:p>
        </p:txBody>
      </p:sp>
      <p:sp>
        <p:nvSpPr>
          <p:cNvPr id="4" name="TitleAccent">
            <a:extLst>
              <a:ext uri="{FF2B5EF4-FFF2-40B4-BE49-F238E27FC236}">
                <a16:creationId xmlns:a16="http://schemas.microsoft.com/office/drawing/2014/main" id="{15D547B6-8C28-4453-8EA7-0AA20AAB2CD2}"/>
              </a:ext>
            </a:extLst>
          </p:cNvPr>
          <p:cNvSpPr/>
          <p:nvPr/>
        </p:nvSpPr>
        <p:spPr>
          <a:xfrm>
            <a:off x="762000" y="5969000"/>
            <a:ext cx="1016000" cy="508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7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7E65-F85B-003A-C325-C0805C5E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What is AEM?</a:t>
            </a:r>
          </a:p>
        </p:txBody>
      </p:sp>
      <p:sp>
        <p:nvSpPr>
          <p:cNvPr id="200" name="Lede"/>
          <p:cNvSpPr txBox="1"/>
          <p:nvPr/>
        </p:nvSpPr>
        <p:spPr>
          <a:xfrm>
            <a:off x="838200" y="1700000"/>
            <a:ext cx="7467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800" b="0" dirty="0">
                <a:solidFill>
                  <a:srgbClr val="2C3E50"/>
                </a:solidFill>
              </a:rPr>
              <a:t>An </a:t>
            </a:r>
            <a:r>
              <a:rPr lang="en-US" sz="1800" b="1" dirty="0">
                <a:solidFill>
                  <a:srgbClr val="1F4E79"/>
                </a:solidFill>
              </a:rPr>
              <a:t>enterprise CMS</a:t>
            </a:r>
            <a:r>
              <a:rPr lang="en-US" sz="1800" b="0" dirty="0">
                <a:solidFill>
                  <a:srgbClr val="2C3E50"/>
                </a:solidFill>
              </a:rPr>
              <a:t> for managing and delivering digital content across channels.</a:t>
            </a:r>
          </a:p>
        </p:txBody>
      </p:sp>
      <p:sp>
        <p:nvSpPr>
          <p:cNvPr id="201" name="PillarsHdr"/>
          <p:cNvSpPr txBox="1"/>
          <p:nvPr/>
        </p:nvSpPr>
        <p:spPr>
          <a:xfrm>
            <a:off x="838200" y="2380000"/>
            <a:ext cx="7467600" cy="2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400" b="1" dirty="0">
                <a:solidFill>
                  <a:srgbClr val="6B7785"/>
                </a:solidFill>
              </a:rPr>
              <a:t>FOUR CORE PILLARS</a:t>
            </a:r>
          </a:p>
        </p:txBody>
      </p:sp>
      <p:sp>
        <p:nvSpPr>
          <p:cNvPr id="300" name="Card0"/>
          <p:cNvSpPr/>
          <p:nvPr/>
        </p:nvSpPr>
        <p:spPr>
          <a:xfrm>
            <a:off x="838200" y="2750000"/>
            <a:ext cx="1716900" cy="2300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1E5EB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1" name="Bar0"/>
          <p:cNvSpPr/>
          <p:nvPr/>
        </p:nvSpPr>
        <p:spPr>
          <a:xfrm>
            <a:off x="838200" y="2750000"/>
            <a:ext cx="1716900" cy="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Txt0"/>
          <p:cNvSpPr txBox="1"/>
          <p:nvPr/>
        </p:nvSpPr>
        <p:spPr>
          <a:xfrm>
            <a:off x="988200" y="3000000"/>
            <a:ext cx="1416900" cy="1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F4E79"/>
                </a:solidFill>
              </a:rPr>
              <a:t>Web Content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Manage pages and digital content</a:t>
            </a:r>
          </a:p>
        </p:txBody>
      </p:sp>
      <p:sp>
        <p:nvSpPr>
          <p:cNvPr id="303" name="Card1"/>
          <p:cNvSpPr/>
          <p:nvPr/>
        </p:nvSpPr>
        <p:spPr>
          <a:xfrm>
            <a:off x="2755100" y="2750000"/>
            <a:ext cx="1716900" cy="2300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1E5EB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4" name="Bar1"/>
          <p:cNvSpPr/>
          <p:nvPr/>
        </p:nvSpPr>
        <p:spPr>
          <a:xfrm>
            <a:off x="2755100" y="2750000"/>
            <a:ext cx="1716900" cy="6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Txt1"/>
          <p:cNvSpPr txBox="1"/>
          <p:nvPr/>
        </p:nvSpPr>
        <p:spPr>
          <a:xfrm>
            <a:off x="2905100" y="3000000"/>
            <a:ext cx="1416900" cy="1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F4E79"/>
                </a:solidFill>
              </a:rPr>
              <a:t>Digital Assets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Images, videos, documents (DAM)</a:t>
            </a:r>
          </a:p>
        </p:txBody>
      </p:sp>
      <p:sp>
        <p:nvSpPr>
          <p:cNvPr id="306" name="Card2"/>
          <p:cNvSpPr/>
          <p:nvPr/>
        </p:nvSpPr>
        <p:spPr>
          <a:xfrm>
            <a:off x="4672000" y="2750000"/>
            <a:ext cx="1716900" cy="2300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1E5EB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7" name="Bar2"/>
          <p:cNvSpPr/>
          <p:nvPr/>
        </p:nvSpPr>
        <p:spPr>
          <a:xfrm>
            <a:off x="4672000" y="2750000"/>
            <a:ext cx="1716900" cy="6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Txt2"/>
          <p:cNvSpPr txBox="1"/>
          <p:nvPr/>
        </p:nvSpPr>
        <p:spPr>
          <a:xfrm>
            <a:off x="4822000" y="3000000"/>
            <a:ext cx="1416900" cy="1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F4E79"/>
                </a:solidFill>
              </a:rPr>
              <a:t>Forms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Build and manage interactive forms</a:t>
            </a:r>
          </a:p>
        </p:txBody>
      </p:sp>
      <p:sp>
        <p:nvSpPr>
          <p:cNvPr id="309" name="Card3"/>
          <p:cNvSpPr/>
          <p:nvPr/>
        </p:nvSpPr>
        <p:spPr>
          <a:xfrm>
            <a:off x="6588900" y="2750000"/>
            <a:ext cx="1716900" cy="2300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1E5EB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0" name="Bar3"/>
          <p:cNvSpPr/>
          <p:nvPr/>
        </p:nvSpPr>
        <p:spPr>
          <a:xfrm>
            <a:off x="6588900" y="2750000"/>
            <a:ext cx="1716900" cy="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Txt3"/>
          <p:cNvSpPr txBox="1"/>
          <p:nvPr/>
        </p:nvSpPr>
        <p:spPr>
          <a:xfrm>
            <a:off x="6738900" y="3000000"/>
            <a:ext cx="1416900" cy="1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F4E79"/>
                </a:solidFill>
              </a:rPr>
              <a:t>Marketing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Personalize and target customer experiences</a:t>
            </a:r>
          </a:p>
        </p:txBody>
      </p:sp>
    </p:spTree>
    <p:extLst>
      <p:ext uri="{BB962C8B-B14F-4D97-AF65-F5344CB8AC3E}">
        <p14:creationId xmlns:p14="http://schemas.microsoft.com/office/powerpoint/2010/main" val="83452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F1B-8D68-C7F2-E0D6-34DE4CE1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Part of the Adobe Experience Cloud</a:t>
            </a:r>
          </a:p>
        </p:txBody>
      </p:sp>
      <p:sp>
        <p:nvSpPr>
          <p:cNvPr id="200" name="LeftHdr"/>
          <p:cNvSpPr txBox="1"/>
          <p:nvPr/>
        </p:nvSpPr>
        <p:spPr>
          <a:xfrm>
            <a:off x="838200" y="1500000"/>
            <a:ext cx="3700000" cy="28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6B7785"/>
                </a:solidFill>
              </a:rPr>
              <a:t>INTEGRATES WITH</a:t>
            </a:r>
          </a:p>
        </p:txBody>
      </p:sp>
      <p:sp>
        <p:nvSpPr>
          <p:cNvPr id="210" name="Dot0"/>
          <p:cNvSpPr/>
          <p:nvPr/>
        </p:nvSpPr>
        <p:spPr>
          <a:xfrm>
            <a:off x="838200" y="1930000"/>
            <a:ext cx="120000" cy="12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EcoTxt0"/>
          <p:cNvSpPr txBox="1"/>
          <p:nvPr/>
        </p:nvSpPr>
        <p:spPr>
          <a:xfrm>
            <a:off x="1050000" y="1850000"/>
            <a:ext cx="3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Adobe Analytics</a:t>
            </a:r>
          </a:p>
          <a:p>
            <a:pPr>
              <a:buNone/>
            </a:pPr>
            <a:r>
              <a:rPr lang="en-US" sz="1400" b="0" dirty="0">
                <a:solidFill>
                  <a:srgbClr val="2C3E50"/>
                </a:solidFill>
              </a:rPr>
              <a:t>Behavioral data and reporting</a:t>
            </a:r>
          </a:p>
        </p:txBody>
      </p:sp>
      <p:sp>
        <p:nvSpPr>
          <p:cNvPr id="212" name="Dot1"/>
          <p:cNvSpPr/>
          <p:nvPr/>
        </p:nvSpPr>
        <p:spPr>
          <a:xfrm>
            <a:off x="838200" y="2730000"/>
            <a:ext cx="120000" cy="12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EcoTxt1"/>
          <p:cNvSpPr txBox="1"/>
          <p:nvPr/>
        </p:nvSpPr>
        <p:spPr>
          <a:xfrm>
            <a:off x="1050000" y="2650000"/>
            <a:ext cx="3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Adobe Target</a:t>
            </a:r>
          </a:p>
          <a:p>
            <a:pPr>
              <a:buNone/>
            </a:pPr>
            <a:r>
              <a:rPr lang="en-US" sz="1400" b="0" dirty="0">
                <a:solidFill>
                  <a:srgbClr val="2C3E50"/>
                </a:solidFill>
              </a:rPr>
              <a:t>Personalization and A/B testing</a:t>
            </a:r>
          </a:p>
        </p:txBody>
      </p:sp>
      <p:sp>
        <p:nvSpPr>
          <p:cNvPr id="214" name="Dot2"/>
          <p:cNvSpPr/>
          <p:nvPr/>
        </p:nvSpPr>
        <p:spPr>
          <a:xfrm>
            <a:off x="838200" y="3530000"/>
            <a:ext cx="120000" cy="12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EcoTxt2"/>
          <p:cNvSpPr txBox="1"/>
          <p:nvPr/>
        </p:nvSpPr>
        <p:spPr>
          <a:xfrm>
            <a:off x="1050000" y="3450000"/>
            <a:ext cx="3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Adobe Campaign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Cross-channel campaigns</a:t>
            </a:r>
          </a:p>
        </p:txBody>
      </p:sp>
      <p:sp>
        <p:nvSpPr>
          <p:cNvPr id="216" name="Dot3"/>
          <p:cNvSpPr/>
          <p:nvPr/>
        </p:nvSpPr>
        <p:spPr>
          <a:xfrm>
            <a:off x="838200" y="4330000"/>
            <a:ext cx="120000" cy="12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EcoTxt3"/>
          <p:cNvSpPr txBox="1"/>
          <p:nvPr/>
        </p:nvSpPr>
        <p:spPr>
          <a:xfrm>
            <a:off x="1050000" y="4250000"/>
            <a:ext cx="3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Adobe Commerce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Unified commerce experiences</a:t>
            </a:r>
          </a:p>
        </p:txBody>
      </p:sp>
      <p:sp>
        <p:nvSpPr>
          <p:cNvPr id="250" name="VDiv"/>
          <p:cNvSpPr/>
          <p:nvPr/>
        </p:nvSpPr>
        <p:spPr>
          <a:xfrm>
            <a:off x="4750000" y="1500000"/>
            <a:ext cx="20000" cy="3800000"/>
          </a:xfrm>
          <a:prstGeom prst="rect">
            <a:avLst/>
          </a:prstGeom>
          <a:solidFill>
            <a:srgbClr val="E1E5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RightHdr"/>
          <p:cNvSpPr txBox="1"/>
          <p:nvPr/>
        </p:nvSpPr>
        <p:spPr>
          <a:xfrm>
            <a:off x="5050000" y="1500000"/>
            <a:ext cx="3300000" cy="28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6B7785"/>
                </a:solidFill>
              </a:rPr>
              <a:t>USED IN INDUSTRIES</a:t>
            </a:r>
          </a:p>
        </p:txBody>
      </p:sp>
      <p:sp>
        <p:nvSpPr>
          <p:cNvPr id="270" name="Ind0"/>
          <p:cNvSpPr/>
          <p:nvPr/>
        </p:nvSpPr>
        <p:spPr>
          <a:xfrm>
            <a:off x="5050000" y="1900000"/>
            <a:ext cx="1550000" cy="8000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Banking</a:t>
            </a:r>
          </a:p>
        </p:txBody>
      </p:sp>
      <p:sp>
        <p:nvSpPr>
          <p:cNvPr id="271" name="Ind1"/>
          <p:cNvSpPr/>
          <p:nvPr/>
        </p:nvSpPr>
        <p:spPr>
          <a:xfrm>
            <a:off x="6750000" y="1900000"/>
            <a:ext cx="1550000" cy="80000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Retail</a:t>
            </a:r>
          </a:p>
        </p:txBody>
      </p:sp>
      <p:sp>
        <p:nvSpPr>
          <p:cNvPr id="272" name="Ind2"/>
          <p:cNvSpPr/>
          <p:nvPr/>
        </p:nvSpPr>
        <p:spPr>
          <a:xfrm>
            <a:off x="5050000" y="2850000"/>
            <a:ext cx="1550000" cy="80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Healthcare</a:t>
            </a:r>
          </a:p>
        </p:txBody>
      </p:sp>
      <p:sp>
        <p:nvSpPr>
          <p:cNvPr id="273" name="Ind3"/>
          <p:cNvSpPr/>
          <p:nvPr/>
        </p:nvSpPr>
        <p:spPr>
          <a:xfrm>
            <a:off x="6750000" y="2850000"/>
            <a:ext cx="1550000" cy="8000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118399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9A46-B81B-59E6-7FC3-433F20EA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6000" b="1" dirty="0">
                <a:solidFill>
                  <a:srgbClr val="1F4E79"/>
                </a:solidFill>
              </a:rPr>
              <a:t>Architecture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6B7785"/>
                </a:solidFill>
              </a:rPr>
              <a:t>How AEM is built — three layers and a request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D0821-EAF1-C54D-448A-C83759BCD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b="1" dirty="0">
                <a:solidFill>
                  <a:srgbClr val="5B9BD5"/>
                </a:solidFill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86267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2142A-7C97-E523-1837-977AECC8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The Three-Layer Stack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AEM is built on three foundational technologies, each with a distinct role.</a:t>
            </a:r>
          </a:p>
        </p:txBody>
      </p:sp>
      <p:sp>
        <p:nvSpPr>
          <p:cNvPr id="300" name="Layer0"/>
          <p:cNvSpPr/>
          <p:nvPr/>
        </p:nvSpPr>
        <p:spPr>
          <a:xfrm>
            <a:off x="1822000" y="1950000"/>
            <a:ext cx="5500000" cy="950000"/>
          </a:xfrm>
          <a:prstGeom prst="roundRect">
            <a:avLst>
              <a:gd name="adj" fmla="val 8000"/>
            </a:avLst>
          </a:prstGeom>
          <a:solidFill>
            <a:srgbClr val="FDF1E8"/>
          </a:solidFill>
          <a:ln w="12700">
            <a:solidFill>
              <a:srgbClr val="ED7D3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1" name="Num0"/>
          <p:cNvSpPr/>
          <p:nvPr/>
        </p:nvSpPr>
        <p:spPr>
          <a:xfrm>
            <a:off x="2022000" y="2125000"/>
            <a:ext cx="600000" cy="6000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2" name="LayerTxt0"/>
          <p:cNvSpPr txBox="1"/>
          <p:nvPr/>
        </p:nvSpPr>
        <p:spPr>
          <a:xfrm>
            <a:off x="2772000" y="2080000"/>
            <a:ext cx="440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2200" b="1" dirty="0">
                <a:solidFill>
                  <a:srgbClr val="ED7D31"/>
                </a:solidFill>
              </a:rPr>
              <a:t>OSGi</a:t>
            </a:r>
          </a:p>
          <a:p>
            <a:pPr>
              <a:spcBef>
                <a:spcPts val="2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Modular runtime — wires bundles together</a:t>
            </a:r>
          </a:p>
        </p:txBody>
      </p:sp>
      <p:sp>
        <p:nvSpPr>
          <p:cNvPr id="304" name="Layer1"/>
          <p:cNvSpPr/>
          <p:nvPr/>
        </p:nvSpPr>
        <p:spPr>
          <a:xfrm>
            <a:off x="1822000" y="2980000"/>
            <a:ext cx="5500000" cy="950000"/>
          </a:xfrm>
          <a:prstGeom prst="roundRect">
            <a:avLst>
              <a:gd name="adj" fmla="val 8000"/>
            </a:avLst>
          </a:prstGeom>
          <a:solidFill>
            <a:srgbClr val="EDF5E5"/>
          </a:solidFill>
          <a:ln w="12700">
            <a:solidFill>
              <a:srgbClr val="70AD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Num1"/>
          <p:cNvSpPr/>
          <p:nvPr/>
        </p:nvSpPr>
        <p:spPr>
          <a:xfrm>
            <a:off x="2022000" y="3155000"/>
            <a:ext cx="600000" cy="6000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6" name="LayerTxt1"/>
          <p:cNvSpPr txBox="1"/>
          <p:nvPr/>
        </p:nvSpPr>
        <p:spPr>
          <a:xfrm>
            <a:off x="2772000" y="3110000"/>
            <a:ext cx="440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2200" b="1" dirty="0">
                <a:solidFill>
                  <a:srgbClr val="70AD47"/>
                </a:solidFill>
              </a:rPr>
              <a:t>Apache Sling</a:t>
            </a:r>
          </a:p>
          <a:p>
            <a:pPr>
              <a:spcBef>
                <a:spcPts val="2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Web framework — maps URLs to content</a:t>
            </a:r>
          </a:p>
        </p:txBody>
      </p:sp>
      <p:sp>
        <p:nvSpPr>
          <p:cNvPr id="308" name="Layer2"/>
          <p:cNvSpPr/>
          <p:nvPr/>
        </p:nvSpPr>
        <p:spPr>
          <a:xfrm>
            <a:off x="1822000" y="4010000"/>
            <a:ext cx="5500000" cy="95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9" name="Num2"/>
          <p:cNvSpPr/>
          <p:nvPr/>
        </p:nvSpPr>
        <p:spPr>
          <a:xfrm>
            <a:off x="2022000" y="4185000"/>
            <a:ext cx="600000" cy="6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0" name="LayerTxt2"/>
          <p:cNvSpPr txBox="1"/>
          <p:nvPr/>
        </p:nvSpPr>
        <p:spPr>
          <a:xfrm>
            <a:off x="2772000" y="4140000"/>
            <a:ext cx="440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2200" b="1" dirty="0">
                <a:solidFill>
                  <a:srgbClr val="1F4E79"/>
                </a:solidFill>
              </a:rPr>
              <a:t>JCR</a:t>
            </a:r>
          </a:p>
          <a:p>
            <a:pPr>
              <a:spcBef>
                <a:spcPts val="2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Content repository — stores everything</a:t>
            </a:r>
          </a:p>
        </p:txBody>
      </p:sp>
      <p:sp>
        <p:nvSpPr>
          <p:cNvPr id="400" name="Footnote"/>
          <p:cNvSpPr txBox="1"/>
          <p:nvPr/>
        </p:nvSpPr>
        <p:spPr>
          <a:xfrm>
            <a:off x="838200" y="5300000"/>
            <a:ext cx="7400000" cy="300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1400" i="1" dirty="0">
                <a:solidFill>
                  <a:srgbClr val="6B7785"/>
                </a:solidFill>
              </a:rPr>
              <a:t>JCR provides the data, Sling routes the request, OSGi runs the logic.</a:t>
            </a:r>
          </a:p>
        </p:txBody>
      </p:sp>
    </p:spTree>
    <p:extLst>
      <p:ext uri="{BB962C8B-B14F-4D97-AF65-F5344CB8AC3E}">
        <p14:creationId xmlns:p14="http://schemas.microsoft.com/office/powerpoint/2010/main" val="378110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3D1B-7D78-49A9-4475-B235215E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Request Flow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From HTTP request to rendered response — six steps.</a:t>
            </a:r>
          </a:p>
        </p:txBody>
      </p:sp>
      <p:sp>
        <p:nvSpPr>
          <p:cNvPr id="300" name="Step0"/>
          <p:cNvSpPr/>
          <p:nvPr/>
        </p:nvSpPr>
        <p:spPr>
          <a:xfrm>
            <a:off x="800000" y="2000000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1" name="StepN0"/>
          <p:cNvSpPr/>
          <p:nvPr/>
        </p:nvSpPr>
        <p:spPr>
          <a:xfrm>
            <a:off x="980000" y="2180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2" name="StepT0"/>
          <p:cNvSpPr txBox="1"/>
          <p:nvPr/>
        </p:nvSpPr>
        <p:spPr>
          <a:xfrm>
            <a:off x="1550000" y="2200000"/>
            <a:ext cx="1650000" cy="12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A2332"/>
                </a:solidFill>
              </a:rPr>
              <a:t>HTTP Request</a:t>
            </a:r>
          </a:p>
          <a:p>
            <a:pPr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6B7785"/>
                </a:solidFill>
              </a:rPr>
              <a:t>Incoming request hits AEM</a:t>
            </a:r>
          </a:p>
        </p:txBody>
      </p:sp>
      <p:sp>
        <p:nvSpPr>
          <p:cNvPr id="303" name="Step1"/>
          <p:cNvSpPr/>
          <p:nvPr/>
        </p:nvSpPr>
        <p:spPr>
          <a:xfrm>
            <a:off x="3530000" y="2000000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4" name="StepN1"/>
          <p:cNvSpPr/>
          <p:nvPr/>
        </p:nvSpPr>
        <p:spPr>
          <a:xfrm>
            <a:off x="3710000" y="2180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5" name="StepT1"/>
          <p:cNvSpPr txBox="1"/>
          <p:nvPr/>
        </p:nvSpPr>
        <p:spPr>
          <a:xfrm>
            <a:off x="4280000" y="2200000"/>
            <a:ext cx="1650000" cy="12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A2332"/>
                </a:solidFill>
              </a:rPr>
              <a:t>Sling Resolves URL</a:t>
            </a:r>
          </a:p>
          <a:p>
            <a:pPr>
              <a:spcBef>
                <a:spcPts val="300"/>
              </a:spcBef>
              <a:buNone/>
            </a:pPr>
            <a:endParaRPr lang="en-US" sz="1600" b="1" dirty="0">
              <a:solidFill>
                <a:srgbClr val="1A2332"/>
              </a:solidFill>
            </a:endParaRPr>
          </a:p>
        </p:txBody>
      </p:sp>
      <p:sp>
        <p:nvSpPr>
          <p:cNvPr id="306" name="Step2"/>
          <p:cNvSpPr/>
          <p:nvPr/>
        </p:nvSpPr>
        <p:spPr>
          <a:xfrm>
            <a:off x="6260000" y="2000000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StepN2"/>
          <p:cNvSpPr/>
          <p:nvPr/>
        </p:nvSpPr>
        <p:spPr>
          <a:xfrm>
            <a:off x="6440000" y="2180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8" name="StepT2"/>
          <p:cNvSpPr txBox="1"/>
          <p:nvPr/>
        </p:nvSpPr>
        <p:spPr>
          <a:xfrm>
            <a:off x="7010000" y="2200000"/>
            <a:ext cx="1650000" cy="12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A2332"/>
                </a:solidFill>
              </a:rPr>
              <a:t>Resource Lookup</a:t>
            </a:r>
          </a:p>
          <a:p>
            <a:pPr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6B7785"/>
                </a:solidFill>
              </a:rPr>
              <a:t>Found in JCR repository</a:t>
            </a:r>
          </a:p>
        </p:txBody>
      </p:sp>
      <p:sp>
        <p:nvSpPr>
          <p:cNvPr id="309" name="Step3"/>
          <p:cNvSpPr/>
          <p:nvPr/>
        </p:nvSpPr>
        <p:spPr>
          <a:xfrm>
            <a:off x="800000" y="3780000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0" name="StepN3"/>
          <p:cNvSpPr/>
          <p:nvPr/>
        </p:nvSpPr>
        <p:spPr>
          <a:xfrm>
            <a:off x="980000" y="3960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1" name="StepT3"/>
          <p:cNvSpPr txBox="1"/>
          <p:nvPr/>
        </p:nvSpPr>
        <p:spPr>
          <a:xfrm>
            <a:off x="1550000" y="3980000"/>
            <a:ext cx="1650000" cy="12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A2332"/>
                </a:solidFill>
              </a:rPr>
              <a:t>Component Picked</a:t>
            </a:r>
          </a:p>
          <a:p>
            <a:pPr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6B7785"/>
                </a:solidFill>
              </a:rPr>
              <a:t>Renderer identified by resourceType</a:t>
            </a:r>
          </a:p>
        </p:txBody>
      </p:sp>
      <p:sp>
        <p:nvSpPr>
          <p:cNvPr id="312" name="Step4"/>
          <p:cNvSpPr/>
          <p:nvPr/>
        </p:nvSpPr>
        <p:spPr>
          <a:xfrm>
            <a:off x="3530000" y="3780000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3" name="StepN4"/>
          <p:cNvSpPr/>
          <p:nvPr/>
        </p:nvSpPr>
        <p:spPr>
          <a:xfrm>
            <a:off x="3710000" y="3960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4" name="StepT4"/>
          <p:cNvSpPr txBox="1"/>
          <p:nvPr/>
        </p:nvSpPr>
        <p:spPr>
          <a:xfrm>
            <a:off x="4280000" y="3980000"/>
            <a:ext cx="1650000" cy="12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A2332"/>
                </a:solidFill>
              </a:rPr>
              <a:t>OSGi Logic Runs</a:t>
            </a:r>
          </a:p>
          <a:p>
            <a:pPr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6B7785"/>
                </a:solidFill>
              </a:rPr>
              <a:t>Business logic executes</a:t>
            </a:r>
          </a:p>
        </p:txBody>
      </p:sp>
      <p:sp>
        <p:nvSpPr>
          <p:cNvPr id="315" name="Step5"/>
          <p:cNvSpPr/>
          <p:nvPr/>
        </p:nvSpPr>
        <p:spPr>
          <a:xfrm>
            <a:off x="6260000" y="3780000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6" name="StepN5"/>
          <p:cNvSpPr/>
          <p:nvPr/>
        </p:nvSpPr>
        <p:spPr>
          <a:xfrm>
            <a:off x="6440000" y="3960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7" name="StepT5"/>
          <p:cNvSpPr txBox="1"/>
          <p:nvPr/>
        </p:nvSpPr>
        <p:spPr>
          <a:xfrm>
            <a:off x="7010000" y="3980000"/>
            <a:ext cx="1650000" cy="12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A2332"/>
                </a:solidFill>
              </a:rPr>
              <a:t>Response Returned</a:t>
            </a:r>
          </a:p>
          <a:p>
            <a:pPr>
              <a:spcBef>
                <a:spcPts val="300"/>
              </a:spcBef>
              <a:buNone/>
            </a:pPr>
            <a:r>
              <a:rPr lang="en-US" sz="1400" b="0" dirty="0">
                <a:solidFill>
                  <a:srgbClr val="6B7785"/>
                </a:solidFill>
              </a:rPr>
              <a:t>HTML/JSON sent to client</a:t>
            </a:r>
          </a:p>
        </p:txBody>
      </p:sp>
    </p:spTree>
    <p:extLst>
      <p:ext uri="{BB962C8B-B14F-4D97-AF65-F5344CB8AC3E}">
        <p14:creationId xmlns:p14="http://schemas.microsoft.com/office/powerpoint/2010/main" val="535586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AB41-F5BD-02F6-80F1-4D30F184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JCR</a:t>
            </a:r>
            <a:r>
              <a:rPr lang="en-US" sz="3200" b="0" dirty="0">
                <a:solidFill>
                  <a:srgbClr val="6B7785"/>
                </a:solidFill>
              </a:rPr>
              <a:t>  —  Content Repository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Content lives in a tree — like a file system. </a:t>
            </a:r>
            <a:r>
              <a:rPr lang="en-US" sz="1800" b="1" dirty="0">
                <a:solidFill>
                  <a:srgbClr val="1F4E79"/>
                </a:solidFill>
              </a:rPr>
              <a:t>Everything is a node.</a:t>
            </a:r>
          </a:p>
        </p:txBody>
      </p:sp>
      <p:sp>
        <p:nvSpPr>
          <p:cNvPr id="200" name="TreeBox"/>
          <p:cNvSpPr/>
          <p:nvPr/>
        </p:nvSpPr>
        <p:spPr>
          <a:xfrm>
            <a:off x="838200" y="2000000"/>
            <a:ext cx="3700000" cy="3300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>
            <a:noFill/>
          </a:ln>
        </p:spPr>
        <p:txBody>
          <a:bodyPr wrap="square" lIns="180000" tIns="180000" rIns="180000" bIns="180000" anchor="t"/>
          <a:lstStyle/>
          <a:p>
            <a:pPr>
              <a:buNone/>
            </a:pPr>
            <a:r>
              <a:rPr lang="en-US" sz="1500" b="1" dirty="0">
                <a:solidFill>
                  <a:srgbClr val="5B9BD5"/>
                </a:solidFill>
                <a:latin typeface="Courier New"/>
              </a:rPr>
              <a:t>/  </a:t>
            </a:r>
            <a:r>
              <a:rPr lang="en-US" sz="1300" b="0" dirty="0">
                <a:solidFill>
                  <a:srgbClr val="A8B0BC"/>
                </a:solidFill>
                <a:latin typeface="Courier New"/>
              </a:rPr>
              <a:t>(root)</a:t>
            </a:r>
          </a:p>
          <a:p>
            <a:pPr>
              <a:buNone/>
            </a:pPr>
            <a:r>
              <a:rPr lang="en-US" sz="1500" b="1" dirty="0">
                <a:solidFill>
                  <a:srgbClr val="70AD47"/>
                </a:solidFill>
                <a:latin typeface="Courier New"/>
              </a:rPr>
              <a:t>+- /content   </a:t>
            </a:r>
            <a:r>
              <a:rPr lang="en-US" sz="1300" b="0" dirty="0">
                <a:solidFill>
                  <a:srgbClr val="FFFFFF"/>
                </a:solidFill>
                <a:latin typeface="Courier New"/>
              </a:rPr>
              <a:t>website pages</a:t>
            </a:r>
          </a:p>
          <a:p>
            <a:pPr>
              <a:buNone/>
            </a:pPr>
            <a:r>
              <a:rPr lang="en-US" sz="1500" b="1" dirty="0">
                <a:solidFill>
                  <a:srgbClr val="70AD47"/>
                </a:solidFill>
                <a:latin typeface="Courier New"/>
              </a:rPr>
              <a:t>+- /apps      </a:t>
            </a:r>
            <a:r>
              <a:rPr lang="en-US" sz="1300" b="0" dirty="0">
                <a:solidFill>
                  <a:srgbClr val="FFFFFF"/>
                </a:solidFill>
                <a:latin typeface="Courier New"/>
              </a:rPr>
              <a:t>your code</a:t>
            </a:r>
          </a:p>
          <a:p>
            <a:pPr>
              <a:buNone/>
            </a:pPr>
            <a:r>
              <a:rPr lang="en-US" sz="1500" b="1" dirty="0">
                <a:solidFill>
                  <a:srgbClr val="ED7D31"/>
                </a:solidFill>
                <a:latin typeface="Courier New"/>
              </a:rPr>
              <a:t>+- /libs      </a:t>
            </a:r>
            <a:r>
              <a:rPr lang="en-US" sz="1300" b="0" dirty="0">
                <a:solidFill>
                  <a:srgbClr val="FFC080"/>
                </a:solidFill>
                <a:latin typeface="Courier New"/>
              </a:rPr>
              <a:t>AEM internal (read-only)</a:t>
            </a:r>
          </a:p>
          <a:p>
            <a:pPr>
              <a:buNone/>
            </a:pPr>
            <a:r>
              <a:rPr lang="en-US" sz="1500" b="1" dirty="0">
                <a:solidFill>
                  <a:srgbClr val="70AD47"/>
                </a:solidFill>
                <a:latin typeface="Courier New"/>
              </a:rPr>
              <a:t>+- /conf      </a:t>
            </a:r>
            <a:r>
              <a:rPr lang="en-US" sz="1300" b="0" dirty="0">
                <a:solidFill>
                  <a:srgbClr val="FFFFFF"/>
                </a:solidFill>
                <a:latin typeface="Courier New"/>
              </a:rPr>
              <a:t>configuration</a:t>
            </a:r>
          </a:p>
          <a:p>
            <a:pPr>
              <a:buNone/>
            </a:pPr>
            <a:r>
              <a:rPr lang="en-US" sz="1500" b="1" dirty="0">
                <a:solidFill>
                  <a:srgbClr val="70AD47"/>
                </a:solidFill>
                <a:latin typeface="Courier New"/>
              </a:rPr>
              <a:t>+- /var       </a:t>
            </a:r>
            <a:r>
              <a:rPr lang="en-US" sz="1300" b="0" dirty="0">
                <a:solidFill>
                  <a:srgbClr val="FFFFFF"/>
                </a:solidFill>
                <a:latin typeface="Courier New"/>
              </a:rPr>
              <a:t>runtime data</a:t>
            </a:r>
          </a:p>
          <a:p>
            <a:pPr>
              <a:buNone/>
            </a:pPr>
            <a:r>
              <a:rPr lang="en-US" sz="1500" b="1" dirty="0">
                <a:solidFill>
                  <a:srgbClr val="70AD47"/>
                </a:solidFill>
                <a:latin typeface="Courier New"/>
              </a:rPr>
              <a:t>\- /home      </a:t>
            </a:r>
            <a:r>
              <a:rPr lang="en-US" sz="1300" b="0" dirty="0">
                <a:solidFill>
                  <a:srgbClr val="FFFFFF"/>
                </a:solidFill>
                <a:latin typeface="Courier New"/>
              </a:rPr>
              <a:t>users / groups</a:t>
            </a:r>
          </a:p>
        </p:txBody>
      </p:sp>
      <p:sp>
        <p:nvSpPr>
          <p:cNvPr id="220" name="RHdr1"/>
          <p:cNvSpPr txBox="1"/>
          <p:nvPr/>
        </p:nvSpPr>
        <p:spPr>
          <a:xfrm>
            <a:off x="4750000" y="2000000"/>
            <a:ext cx="36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6B7785"/>
                </a:solidFill>
              </a:rPr>
              <a:t>WHAT TO REMEMBER</a:t>
            </a:r>
          </a:p>
        </p:txBody>
      </p:sp>
      <p:sp>
        <p:nvSpPr>
          <p:cNvPr id="230" name="PtT0"/>
          <p:cNvSpPr txBox="1"/>
          <p:nvPr/>
        </p:nvSpPr>
        <p:spPr>
          <a:xfrm>
            <a:off x="4750000" y="2400000"/>
            <a:ext cx="36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F4E79"/>
                </a:solidFill>
              </a:rPr>
              <a:t>Tree structure</a:t>
            </a:r>
          </a:p>
          <a:p>
            <a:pPr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Everything organized as parent → child nodes</a:t>
            </a:r>
          </a:p>
        </p:txBody>
      </p:sp>
      <p:sp>
        <p:nvSpPr>
          <p:cNvPr id="232" name="PtT1"/>
          <p:cNvSpPr txBox="1"/>
          <p:nvPr/>
        </p:nvSpPr>
        <p:spPr>
          <a:xfrm>
            <a:off x="4750000" y="3100000"/>
            <a:ext cx="36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F4E79"/>
                </a:solidFill>
              </a:rPr>
              <a:t>jcr:content node</a:t>
            </a:r>
          </a:p>
          <a:p>
            <a:pPr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Holds each page's actual properties</a:t>
            </a:r>
          </a:p>
        </p:txBody>
      </p:sp>
      <p:sp>
        <p:nvSpPr>
          <p:cNvPr id="234" name="PtT2"/>
          <p:cNvSpPr txBox="1"/>
          <p:nvPr/>
        </p:nvSpPr>
        <p:spPr>
          <a:xfrm>
            <a:off x="4750000" y="3800000"/>
            <a:ext cx="36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F4E79"/>
                </a:solidFill>
              </a:rPr>
              <a:t>Don't touch /libs</a:t>
            </a:r>
          </a:p>
          <a:p>
            <a:pPr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Always extend through /apps instead</a:t>
            </a:r>
          </a:p>
        </p:txBody>
      </p:sp>
      <p:sp>
        <p:nvSpPr>
          <p:cNvPr id="236" name="PtT3"/>
          <p:cNvSpPr txBox="1"/>
          <p:nvPr/>
        </p:nvSpPr>
        <p:spPr>
          <a:xfrm>
            <a:off x="4750000" y="4500000"/>
            <a:ext cx="36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1F4E79"/>
                </a:solidFill>
              </a:rPr>
              <a:t>Content-centric</a:t>
            </a:r>
          </a:p>
          <a:p>
            <a:pPr>
              <a:spcBef>
                <a:spcPts val="2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Pages, components, even configs are content</a:t>
            </a:r>
          </a:p>
        </p:txBody>
      </p:sp>
    </p:spTree>
    <p:extLst>
      <p:ext uri="{BB962C8B-B14F-4D97-AF65-F5344CB8AC3E}">
        <p14:creationId xmlns:p14="http://schemas.microsoft.com/office/powerpoint/2010/main" val="317733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8265-3594-FA73-5054-F11FD361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Apache Sling</a:t>
            </a:r>
            <a:r>
              <a:rPr lang="en-US" sz="3200" b="0" dirty="0">
                <a:solidFill>
                  <a:srgbClr val="6B7785"/>
                </a:solidFill>
              </a:rPr>
              <a:t>  —  URL Routing Engine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Maps URLs to content. RESTful by design — every URL points to a resource.</a:t>
            </a:r>
          </a:p>
        </p:txBody>
      </p:sp>
      <p:sp>
        <p:nvSpPr>
          <p:cNvPr id="200" name="UrlHdr"/>
          <p:cNvSpPr txBox="1"/>
          <p:nvPr/>
        </p:nvSpPr>
        <p:spPr>
          <a:xfrm>
            <a:off x="838200" y="1950000"/>
            <a:ext cx="7400000" cy="28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6B7785"/>
                </a:solidFill>
              </a:rPr>
              <a:t>URL ANATOMY</a:t>
            </a:r>
          </a:p>
        </p:txBody>
      </p:sp>
      <p:sp>
        <p:nvSpPr>
          <p:cNvPr id="201" name="UrlBox"/>
          <p:cNvSpPr/>
          <p:nvPr/>
        </p:nvSpPr>
        <p:spPr>
          <a:xfrm>
            <a:off x="838200" y="2300000"/>
            <a:ext cx="7467600" cy="70000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</p:spPr>
        <p:txBody>
          <a:bodyPr wrap="square" lIns="180000" tIns="100000" rIns="180000" bIns="100000" anchor="ctr"/>
          <a:lstStyle/>
          <a:p>
            <a:pPr algn="ctr">
              <a:buNone/>
            </a:pPr>
            <a:r>
              <a:rPr lang="en-US" sz="2200" b="1" dirty="0">
                <a:solidFill>
                  <a:srgbClr val="5B9BD5"/>
                </a:solidFill>
                <a:latin typeface="Courier New"/>
              </a:rPr>
              <a:t>/content/mysite/en.mobile.html</a:t>
            </a:r>
          </a:p>
        </p:txBody>
      </p:sp>
      <p:sp>
        <p:nvSpPr>
          <p:cNvPr id="300" name="Part0"/>
          <p:cNvSpPr/>
          <p:nvPr/>
        </p:nvSpPr>
        <p:spPr>
          <a:xfrm>
            <a:off x="838200" y="3200000"/>
            <a:ext cx="2400000" cy="15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6350">
            <a:solidFill>
              <a:srgbClr val="5B9BD5"/>
            </a:solidFill>
          </a:ln>
        </p:spPr>
        <p:txBody>
          <a:bodyPr wrap="square" lIns="200000" tIns="160000" rIns="200000" bIns="160000" anchor="t"/>
          <a:lstStyle/>
          <a:p>
            <a:pPr>
              <a:buNone/>
            </a:pPr>
            <a:r>
              <a:rPr lang="en-US" sz="1300" b="1" dirty="0">
                <a:solidFill>
                  <a:srgbClr val="5B9BD5"/>
                </a:solidFill>
              </a:rPr>
              <a:t>PATH</a:t>
            </a:r>
          </a:p>
          <a:p>
            <a:pPr>
              <a:spcBef>
                <a:spcPts val="300"/>
              </a:spcBef>
              <a:buNone/>
            </a:pPr>
            <a:r>
              <a:rPr lang="en-US" sz="1700" b="1" dirty="0">
                <a:latin typeface="Consolas"/>
              </a:rPr>
              <a:t>/content/mysite/en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Resource location in JCR</a:t>
            </a:r>
          </a:p>
        </p:txBody>
      </p:sp>
      <p:sp>
        <p:nvSpPr>
          <p:cNvPr id="303" name="Part1"/>
          <p:cNvSpPr/>
          <p:nvPr/>
        </p:nvSpPr>
        <p:spPr>
          <a:xfrm>
            <a:off x="3472000" y="3200000"/>
            <a:ext cx="2400000" cy="15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6350">
            <a:solidFill>
              <a:srgbClr val="ED7D31"/>
            </a:solidFill>
          </a:ln>
        </p:spPr>
        <p:txBody>
          <a:bodyPr wrap="square" lIns="200000" tIns="160000" rIns="200000" bIns="160000" anchor="t"/>
          <a:lstStyle/>
          <a:p>
            <a:pPr>
              <a:buNone/>
            </a:pPr>
            <a:r>
              <a:rPr lang="en-US" sz="1300" b="1" dirty="0">
                <a:solidFill>
                  <a:srgbClr val="ED7D31"/>
                </a:solidFill>
              </a:rPr>
              <a:t>SELECTOR</a:t>
            </a:r>
          </a:p>
          <a:p>
            <a:pPr>
              <a:spcBef>
                <a:spcPts val="300"/>
              </a:spcBef>
              <a:buNone/>
            </a:pPr>
            <a:r>
              <a:rPr lang="en-US" sz="1700" b="1" dirty="0">
                <a:latin typeface="Consolas"/>
              </a:rPr>
              <a:t>.mobile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Render variation hint</a:t>
            </a:r>
          </a:p>
        </p:txBody>
      </p:sp>
      <p:sp>
        <p:nvSpPr>
          <p:cNvPr id="306" name="Part2"/>
          <p:cNvSpPr/>
          <p:nvPr/>
        </p:nvSpPr>
        <p:spPr>
          <a:xfrm>
            <a:off x="6105800" y="3200000"/>
            <a:ext cx="2400000" cy="15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6350">
            <a:solidFill>
              <a:srgbClr val="70AD47"/>
            </a:solidFill>
          </a:ln>
        </p:spPr>
        <p:txBody>
          <a:bodyPr wrap="square" lIns="200000" tIns="160000" rIns="200000" bIns="160000" anchor="t"/>
          <a:lstStyle/>
          <a:p>
            <a:pPr>
              <a:buNone/>
            </a:pPr>
            <a:r>
              <a:rPr lang="en-US" sz="1300" b="1" dirty="0">
                <a:solidFill>
                  <a:srgbClr val="70AD47"/>
                </a:solidFill>
              </a:rPr>
              <a:t>EXTENSION</a:t>
            </a:r>
          </a:p>
          <a:p>
            <a:pPr>
              <a:spcBef>
                <a:spcPts val="300"/>
              </a:spcBef>
              <a:buNone/>
            </a:pPr>
            <a:r>
              <a:rPr lang="en-US" sz="1700" b="1" dirty="0">
                <a:latin typeface="Consolas"/>
              </a:rPr>
              <a:t>.html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Output format</a:t>
            </a:r>
          </a:p>
        </p:txBody>
      </p:sp>
      <p:sp>
        <p:nvSpPr>
          <p:cNvPr id="400" name="Note"/>
          <p:cNvSpPr txBox="1"/>
          <p:nvPr/>
        </p:nvSpPr>
        <p:spPr>
          <a:xfrm>
            <a:off x="838200" y="5000000"/>
            <a:ext cx="7467600" cy="500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1500" b="0" i="1" dirty="0">
                <a:solidFill>
                  <a:srgbClr val="6B7785"/>
                </a:solidFill>
              </a:rPr>
              <a:t>The </a:t>
            </a:r>
            <a:r>
              <a:rPr lang="en-US" sz="1500" b="1" dirty="0">
                <a:latin typeface="Consolas"/>
              </a:rPr>
              <a:t>sling:resourceType</a:t>
            </a:r>
            <a:r>
              <a:rPr lang="en-US" sz="1500" b="0" i="1" dirty="0">
                <a:solidFill>
                  <a:srgbClr val="6B7785"/>
                </a:solidFill>
              </a:rPr>
              <a:t> property tells AEM which component should render the resource.</a:t>
            </a:r>
          </a:p>
        </p:txBody>
      </p:sp>
    </p:spTree>
    <p:extLst>
      <p:ext uri="{BB962C8B-B14F-4D97-AF65-F5344CB8AC3E}">
        <p14:creationId xmlns:p14="http://schemas.microsoft.com/office/powerpoint/2010/main" val="340328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BBF9-6A93-5C8C-0CCE-B94203DC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F4E79"/>
                </a:solidFill>
              </a:rPr>
              <a:t>OSGi</a:t>
            </a:r>
            <a:r>
              <a:rPr lang="en-US" sz="3200" b="0" dirty="0">
                <a:solidFill>
                  <a:srgbClr val="6B7785"/>
                </a:solidFill>
              </a:rPr>
              <a:t>  —  Service Container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Where business logic lives. Manages services, configurations and modular code.</a:t>
            </a:r>
          </a:p>
        </p:txBody>
      </p:sp>
      <p:sp>
        <p:nvSpPr>
          <p:cNvPr id="200" name="Highlight"/>
          <p:cNvSpPr/>
          <p:nvPr/>
        </p:nvSpPr>
        <p:spPr>
          <a:xfrm>
            <a:off x="838200" y="1980000"/>
            <a:ext cx="7467600" cy="1100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 w="6350">
            <a:solidFill>
              <a:srgbClr val="1F4E79"/>
            </a:solidFill>
          </a:ln>
        </p:spPr>
        <p:txBody>
          <a:bodyPr wrap="square" lIns="300000" tIns="200000" rIns="300000" bIns="200000" anchor="ctr"/>
          <a:lstStyle/>
          <a:p>
            <a:pPr algn="l">
              <a:buNone/>
            </a:pPr>
            <a:r>
              <a:rPr lang="en-US" sz="2400" b="1" dirty="0">
                <a:solidFill>
                  <a:srgbClr val="1F4E79"/>
                </a:solidFill>
              </a:rPr>
              <a:t>Bundles can be installed, updated or removed without restarting the server.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500" b="0" dirty="0">
                <a:solidFill>
                  <a:srgbClr val="6B7785"/>
                </a:solidFill>
              </a:rPr>
              <a:t>That's what makes AEM highly dynamic.</a:t>
            </a:r>
          </a:p>
        </p:txBody>
      </p:sp>
      <p:sp>
        <p:nvSpPr>
          <p:cNvPr id="300" name="Feat0"/>
          <p:cNvSpPr/>
          <p:nvPr/>
        </p:nvSpPr>
        <p:spPr>
          <a:xfrm>
            <a:off x="838200" y="3300000"/>
            <a:ext cx="2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1" name="Stripe0"/>
          <p:cNvSpPr/>
          <p:nvPr/>
        </p:nvSpPr>
        <p:spPr>
          <a:xfrm>
            <a:off x="838200" y="3300000"/>
            <a:ext cx="2400000" cy="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FeatT0"/>
          <p:cNvSpPr txBox="1"/>
          <p:nvPr/>
        </p:nvSpPr>
        <p:spPr>
          <a:xfrm>
            <a:off x="1038200" y="3550000"/>
            <a:ext cx="2000000" cy="13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900" b="1" dirty="0">
                <a:solidFill>
                  <a:srgbClr val="1F4E79"/>
                </a:solidFill>
              </a:rPr>
              <a:t>Bundles</a:t>
            </a:r>
          </a:p>
          <a:p>
            <a:pPr>
              <a:spcBef>
                <a:spcPts val="5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Modular units of code (JARs)</a:t>
            </a:r>
          </a:p>
        </p:txBody>
      </p:sp>
      <p:sp>
        <p:nvSpPr>
          <p:cNvPr id="303" name="Feat1"/>
          <p:cNvSpPr/>
          <p:nvPr/>
        </p:nvSpPr>
        <p:spPr>
          <a:xfrm>
            <a:off x="3472000" y="3300000"/>
            <a:ext cx="2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4" name="Stripe1"/>
          <p:cNvSpPr/>
          <p:nvPr/>
        </p:nvSpPr>
        <p:spPr>
          <a:xfrm>
            <a:off x="3472000" y="3300000"/>
            <a:ext cx="2400000" cy="6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FeatT1"/>
          <p:cNvSpPr txBox="1"/>
          <p:nvPr/>
        </p:nvSpPr>
        <p:spPr>
          <a:xfrm>
            <a:off x="3672000" y="3550000"/>
            <a:ext cx="2000000" cy="13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900" b="1" dirty="0">
                <a:solidFill>
                  <a:srgbClr val="1F4E79"/>
                </a:solidFill>
              </a:rPr>
              <a:t>Services</a:t>
            </a:r>
          </a:p>
          <a:p>
            <a:pPr>
              <a:spcBef>
                <a:spcPts val="5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Reusable, injectable components</a:t>
            </a:r>
          </a:p>
        </p:txBody>
      </p:sp>
      <p:sp>
        <p:nvSpPr>
          <p:cNvPr id="306" name="Feat2"/>
          <p:cNvSpPr/>
          <p:nvPr/>
        </p:nvSpPr>
        <p:spPr>
          <a:xfrm>
            <a:off x="6105800" y="3300000"/>
            <a:ext cx="24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Stripe2"/>
          <p:cNvSpPr/>
          <p:nvPr/>
        </p:nvSpPr>
        <p:spPr>
          <a:xfrm>
            <a:off x="6105800" y="3300000"/>
            <a:ext cx="2400000" cy="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FeatT2"/>
          <p:cNvSpPr txBox="1"/>
          <p:nvPr/>
        </p:nvSpPr>
        <p:spPr>
          <a:xfrm>
            <a:off x="6305800" y="3550000"/>
            <a:ext cx="2000000" cy="13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900" b="1" dirty="0">
                <a:solidFill>
                  <a:srgbClr val="1F4E79"/>
                </a:solidFill>
              </a:rPr>
              <a:t>Configuration</a:t>
            </a:r>
          </a:p>
          <a:p>
            <a:pPr>
              <a:spcBef>
                <a:spcPts val="5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Per-environment via OSGi configs</a:t>
            </a:r>
          </a:p>
        </p:txBody>
      </p:sp>
    </p:spTree>
    <p:extLst>
      <p:ext uri="{BB962C8B-B14F-4D97-AF65-F5344CB8AC3E}">
        <p14:creationId xmlns:p14="http://schemas.microsoft.com/office/powerpoint/2010/main" val="7200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ABB8-81BE-C212-3193-014C82AB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6000" b="1" dirty="0">
                <a:solidFill>
                  <a:srgbClr val="1F4E79"/>
                </a:solidFill>
              </a:rPr>
              <a:t>Building Blocks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6B7785"/>
                </a:solidFill>
              </a:rPr>
              <a:t>Components, templates, fragments and Sling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4FED4-98EC-5C37-0BCD-B575D7E4D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b="1" dirty="0">
                <a:solidFill>
                  <a:srgbClr val="70AD47"/>
                </a:solidFill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323653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7D92-A8EE-EB12-F902-F8180C60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Components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The basic building blocks of any AEM page — like LEGO pieces.</a:t>
            </a:r>
          </a:p>
        </p:txBody>
      </p:sp>
      <p:sp>
        <p:nvSpPr>
          <p:cNvPr id="200" name="LHdr"/>
          <p:cNvSpPr txBox="1"/>
          <p:nvPr/>
        </p:nvSpPr>
        <p:spPr>
          <a:xfrm>
            <a:off x="838200" y="2000000"/>
            <a:ext cx="3700000" cy="28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6B7785"/>
                </a:solidFill>
              </a:rPr>
              <a:t>ANATOMY</a:t>
            </a:r>
          </a:p>
        </p:txBody>
      </p:sp>
      <p:sp>
        <p:nvSpPr>
          <p:cNvPr id="210" name="PSq0"/>
          <p:cNvSpPr/>
          <p:nvPr/>
        </p:nvSpPr>
        <p:spPr>
          <a:xfrm>
            <a:off x="838200" y="2490000"/>
            <a:ext cx="180000" cy="18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PT0"/>
          <p:cNvSpPr txBox="1"/>
          <p:nvPr/>
        </p:nvSpPr>
        <p:spPr>
          <a:xfrm>
            <a:off x="1100000" y="2370000"/>
            <a:ext cx="34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Definition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Component metadata in JCR</a:t>
            </a:r>
          </a:p>
        </p:txBody>
      </p:sp>
      <p:sp>
        <p:nvSpPr>
          <p:cNvPr id="212" name="PSq1"/>
          <p:cNvSpPr/>
          <p:nvPr/>
        </p:nvSpPr>
        <p:spPr>
          <a:xfrm>
            <a:off x="838200" y="3190000"/>
            <a:ext cx="180000" cy="18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PT1"/>
          <p:cNvSpPr txBox="1"/>
          <p:nvPr/>
        </p:nvSpPr>
        <p:spPr>
          <a:xfrm>
            <a:off x="1100000" y="3070000"/>
            <a:ext cx="34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HTL Template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Markup with logic (replaces JSP)</a:t>
            </a:r>
          </a:p>
        </p:txBody>
      </p:sp>
      <p:sp>
        <p:nvSpPr>
          <p:cNvPr id="214" name="PSq2"/>
          <p:cNvSpPr/>
          <p:nvPr/>
        </p:nvSpPr>
        <p:spPr>
          <a:xfrm>
            <a:off x="838200" y="3890000"/>
            <a:ext cx="180000" cy="18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PT2"/>
          <p:cNvSpPr txBox="1"/>
          <p:nvPr/>
        </p:nvSpPr>
        <p:spPr>
          <a:xfrm>
            <a:off x="1100000" y="3770000"/>
            <a:ext cx="34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Author Dialog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Editing UI for content authors</a:t>
            </a:r>
          </a:p>
        </p:txBody>
      </p:sp>
      <p:sp>
        <p:nvSpPr>
          <p:cNvPr id="216" name="PSq3"/>
          <p:cNvSpPr/>
          <p:nvPr/>
        </p:nvSpPr>
        <p:spPr>
          <a:xfrm>
            <a:off x="838200" y="4590000"/>
            <a:ext cx="180000" cy="18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PT3"/>
          <p:cNvSpPr txBox="1"/>
          <p:nvPr/>
        </p:nvSpPr>
        <p:spPr>
          <a:xfrm>
            <a:off x="1100000" y="4470000"/>
            <a:ext cx="34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CSS / JS</a:t>
            </a:r>
          </a:p>
          <a:p>
            <a:pPr>
              <a:buNone/>
            </a:pPr>
            <a:endParaRPr lang="en-US" sz="1700" b="1" dirty="0">
              <a:solidFill>
                <a:srgbClr val="1A2332"/>
              </a:solidFill>
            </a:endParaRPr>
          </a:p>
        </p:txBody>
      </p:sp>
      <p:sp>
        <p:nvSpPr>
          <p:cNvPr id="250" name="VDiv"/>
          <p:cNvSpPr/>
          <p:nvPr/>
        </p:nvSpPr>
        <p:spPr>
          <a:xfrm>
            <a:off x="4750000" y="2000000"/>
            <a:ext cx="20000" cy="3300000"/>
          </a:xfrm>
          <a:prstGeom prst="rect">
            <a:avLst/>
          </a:prstGeom>
          <a:solidFill>
            <a:srgbClr val="E1E5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HTLBox"/>
          <p:cNvSpPr/>
          <p:nvPr/>
        </p:nvSpPr>
        <p:spPr>
          <a:xfrm>
            <a:off x="5050000" y="2000000"/>
            <a:ext cx="3300000" cy="1600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</p:spPr>
        <p:txBody>
          <a:bodyPr wrap="square" lIns="250000" tIns="200000" rIns="250000" bIns="200000" anchor="t"/>
          <a:lstStyle/>
          <a:p>
            <a:pPr>
              <a:buNone/>
            </a:pPr>
            <a:r>
              <a:rPr lang="en-US" sz="2400" b="1" dirty="0">
                <a:solidFill>
                  <a:srgbClr val="1F4E79"/>
                </a:solidFill>
              </a:rPr>
              <a:t>HTL</a:t>
            </a:r>
            <a:r>
              <a:rPr lang="en-US" sz="1500" b="0" dirty="0">
                <a:solidFill>
                  <a:srgbClr val="6B7785"/>
                </a:solidFill>
              </a:rPr>
              <a:t>  HTML Template Language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Modern templating standard. Secure by default — protects against XSS — and replaces older JSP.</a:t>
            </a:r>
          </a:p>
        </p:txBody>
      </p:sp>
      <p:sp>
        <p:nvSpPr>
          <p:cNvPr id="270" name="CoreBox"/>
          <p:cNvSpPr/>
          <p:nvPr/>
        </p:nvSpPr>
        <p:spPr>
          <a:xfrm>
            <a:off x="5050000" y="3700000"/>
            <a:ext cx="3300000" cy="1600000"/>
          </a:xfrm>
          <a:prstGeom prst="roundRect">
            <a:avLst>
              <a:gd name="adj" fmla="val 6000"/>
            </a:avLst>
          </a:prstGeom>
          <a:solidFill>
            <a:srgbClr val="EDF5E5"/>
          </a:solidFill>
          <a:ln>
            <a:noFill/>
          </a:ln>
        </p:spPr>
        <p:txBody>
          <a:bodyPr wrap="square" lIns="250000" tIns="200000" rIns="250000" bIns="200000" anchor="t"/>
          <a:lstStyle/>
          <a:p>
            <a:pPr>
              <a:buNone/>
            </a:pPr>
            <a:r>
              <a:rPr lang="en-US" sz="2200" b="1" dirty="0">
                <a:solidFill>
                  <a:srgbClr val="70AD47"/>
                </a:solidFill>
              </a:rPr>
              <a:t>Core Components</a:t>
            </a:r>
          </a:p>
          <a:p>
            <a:pPr>
              <a:spcBef>
                <a:spcPts val="500"/>
              </a:spcBef>
              <a:buNone/>
            </a:pPr>
            <a:r>
              <a:rPr lang="en-US" sz="1400" b="0" dirty="0">
                <a:solidFill>
                  <a:srgbClr val="2C3E50"/>
                </a:solidFill>
              </a:rPr>
              <a:t>Production-quality, ready-to-use components from Adobe. Start with these — extend or override as needed.</a:t>
            </a:r>
          </a:p>
        </p:txBody>
      </p:sp>
    </p:spTree>
    <p:extLst>
      <p:ext uri="{BB962C8B-B14F-4D97-AF65-F5344CB8AC3E}">
        <p14:creationId xmlns:p14="http://schemas.microsoft.com/office/powerpoint/2010/main" val="135957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8041-479B-F242-A5FB-E7A1B21E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Editable Templates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Templates define page structure — clear separation between developers and authors.</a:t>
            </a:r>
          </a:p>
        </p:txBody>
      </p:sp>
      <p:sp>
        <p:nvSpPr>
          <p:cNvPr id="300" name="Mode0"/>
          <p:cNvSpPr/>
          <p:nvPr/>
        </p:nvSpPr>
        <p:spPr>
          <a:xfrm>
            <a:off x="838200" y="1980000"/>
            <a:ext cx="3550000" cy="20500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 w="9525">
            <a:solidFill>
              <a:srgbClr val="1F4E79"/>
            </a:solidFill>
          </a:ln>
        </p:spPr>
        <p:txBody>
          <a:bodyPr wrap="square" lIns="300000" tIns="280000" rIns="300000" bIns="280000" anchor="t"/>
          <a:lstStyle/>
          <a:p>
            <a:pPr>
              <a:buNone/>
            </a:pPr>
            <a:r>
              <a:rPr lang="en-US" sz="1300" b="1" dirty="0">
                <a:solidFill>
                  <a:srgbClr val="1F4E79"/>
                </a:solidFill>
              </a:rPr>
              <a:t>MODE</a:t>
            </a:r>
          </a:p>
          <a:p>
            <a:pPr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A2332"/>
                </a:solidFill>
              </a:rPr>
              <a:t>Structure</a:t>
            </a:r>
          </a:p>
          <a:p>
            <a:pPr>
              <a:spcBef>
                <a:spcPts val="5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Locked areas — header, footer, navigation. Defined by developers, can't be edited by authors.</a:t>
            </a:r>
          </a:p>
        </p:txBody>
      </p:sp>
      <p:sp>
        <p:nvSpPr>
          <p:cNvPr id="303" name="Mode1"/>
          <p:cNvSpPr/>
          <p:nvPr/>
        </p:nvSpPr>
        <p:spPr>
          <a:xfrm>
            <a:off x="4708200" y="1980000"/>
            <a:ext cx="3550000" cy="2050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 w="9525">
            <a:solidFill>
              <a:srgbClr val="ED7D31"/>
            </a:solidFill>
          </a:ln>
        </p:spPr>
        <p:txBody>
          <a:bodyPr wrap="square" lIns="300000" tIns="280000" rIns="300000" bIns="280000" anchor="t"/>
          <a:lstStyle/>
          <a:p>
            <a:pPr>
              <a:buNone/>
            </a:pPr>
            <a:r>
              <a:rPr lang="en-US" sz="1300" b="1" dirty="0">
                <a:solidFill>
                  <a:srgbClr val="ED7D31"/>
                </a:solidFill>
              </a:rPr>
              <a:t>MODE</a:t>
            </a:r>
          </a:p>
          <a:p>
            <a:pPr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A2332"/>
                </a:solidFill>
              </a:rPr>
              <a:t>Initial Content</a:t>
            </a:r>
          </a:p>
          <a:p>
            <a:pPr>
              <a:spcBef>
                <a:spcPts val="5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Default editable content. Authors can modify, replace or extend per page.</a:t>
            </a:r>
          </a:p>
        </p:txBody>
      </p:sp>
      <p:sp>
        <p:nvSpPr>
          <p:cNvPr id="400" name="Policies"/>
          <p:cNvSpPr/>
          <p:nvPr/>
        </p:nvSpPr>
        <p:spPr>
          <a:xfrm>
            <a:off x="838200" y="4200000"/>
            <a:ext cx="7467600" cy="11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6350">
            <a:solidFill>
              <a:srgbClr val="E1E5EB"/>
            </a:solidFill>
          </a:ln>
        </p:spPr>
        <p:txBody>
          <a:bodyPr wrap="square" lIns="300000" tIns="200000" rIns="300000" bIns="200000" anchor="ctr"/>
          <a:lstStyle/>
          <a:p>
            <a:pPr>
              <a:buNone/>
            </a:pPr>
            <a:r>
              <a:rPr lang="en-US" sz="1700" b="1" dirty="0">
                <a:solidFill>
                  <a:srgbClr val="1F4E79"/>
                </a:solidFill>
              </a:rPr>
              <a:t>Policies   </a:t>
            </a:r>
            <a:r>
              <a:rPr lang="en-US" sz="1500" b="0" dirty="0">
                <a:solidFill>
                  <a:srgbClr val="2C3E50"/>
                </a:solidFill>
              </a:rPr>
              <a:t>define which components are allowed and which styles are available — creating clear guardrails for authors while keeping developers in control of design.</a:t>
            </a:r>
          </a:p>
        </p:txBody>
      </p:sp>
    </p:spTree>
    <p:extLst>
      <p:ext uri="{BB962C8B-B14F-4D97-AF65-F5344CB8AC3E}">
        <p14:creationId xmlns:p14="http://schemas.microsoft.com/office/powerpoint/2010/main" val="1147451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650A-AD70-C7E2-B224-0B046F88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Content vs Experience Fragments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Two reusable units in AEM — easily confused, but very different roles.</a:t>
            </a:r>
          </a:p>
        </p:txBody>
      </p:sp>
      <p:sp>
        <p:nvSpPr>
          <p:cNvPr id="300" name="FCard0"/>
          <p:cNvSpPr/>
          <p:nvPr/>
        </p:nvSpPr>
        <p:spPr>
          <a:xfrm>
            <a:off x="838200" y="1980000"/>
            <a:ext cx="3600000" cy="3320000"/>
          </a:xfrm>
          <a:prstGeom prst="roundRect">
            <a:avLst>
              <a:gd name="adj" fmla="val 5000"/>
            </a:avLst>
          </a:prstGeom>
          <a:solidFill>
            <a:srgbClr val="E8EEF5"/>
          </a:solidFill>
          <a:ln w="952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1" name="FHdr0"/>
          <p:cNvSpPr txBox="1"/>
          <p:nvPr/>
        </p:nvSpPr>
        <p:spPr>
          <a:xfrm>
            <a:off x="1118200" y="2230000"/>
            <a:ext cx="304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300" b="1" dirty="0">
                <a:solidFill>
                  <a:srgbClr val="1F4E79"/>
                </a:solidFill>
              </a:rPr>
              <a:t>DATA</a:t>
            </a:r>
          </a:p>
        </p:txBody>
      </p:sp>
      <p:sp>
        <p:nvSpPr>
          <p:cNvPr id="302" name="FTitle0"/>
          <p:cNvSpPr txBox="1"/>
          <p:nvPr/>
        </p:nvSpPr>
        <p:spPr>
          <a:xfrm>
            <a:off x="1118200" y="2628900"/>
            <a:ext cx="3040000" cy="70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1A2332"/>
                </a:solidFill>
              </a:rPr>
              <a:t>Content Fragment</a:t>
            </a:r>
          </a:p>
          <a:p>
            <a:pPr>
              <a:spcBef>
                <a:spcPts val="200"/>
              </a:spcBef>
              <a:buNone/>
            </a:pPr>
            <a:r>
              <a:rPr lang="en-US" sz="1500" b="1" i="1" dirty="0">
                <a:solidFill>
                  <a:srgbClr val="1F4E79"/>
                </a:solidFill>
              </a:rPr>
              <a:t>= content</a:t>
            </a:r>
          </a:p>
        </p:txBody>
      </p:sp>
      <p:sp>
        <p:nvSpPr>
          <p:cNvPr id="310" name="FB00"/>
          <p:cNvSpPr txBox="1"/>
          <p:nvPr/>
        </p:nvSpPr>
        <p:spPr>
          <a:xfrm>
            <a:off x="1118200" y="348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Pure data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Title, body, fields, etc.</a:t>
            </a:r>
          </a:p>
        </p:txBody>
      </p:sp>
      <p:sp>
        <p:nvSpPr>
          <p:cNvPr id="311" name="FB01"/>
          <p:cNvSpPr txBox="1"/>
          <p:nvPr/>
        </p:nvSpPr>
        <p:spPr>
          <a:xfrm>
            <a:off x="1118200" y="406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No design or layout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Presentation-agnostic</a:t>
            </a:r>
          </a:p>
        </p:txBody>
      </p:sp>
      <p:sp>
        <p:nvSpPr>
          <p:cNvPr id="312" name="FB02"/>
          <p:cNvSpPr txBox="1"/>
          <p:nvPr/>
        </p:nvSpPr>
        <p:spPr>
          <a:xfrm>
            <a:off x="1118200" y="464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Ideal for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APIs and headless delivery</a:t>
            </a:r>
          </a:p>
        </p:txBody>
      </p:sp>
      <p:sp>
        <p:nvSpPr>
          <p:cNvPr id="3" name="FCard1"/>
          <p:cNvSpPr/>
          <p:nvPr/>
        </p:nvSpPr>
        <p:spPr>
          <a:xfrm>
            <a:off x="4705800" y="1980000"/>
            <a:ext cx="3600000" cy="3320000"/>
          </a:xfrm>
          <a:prstGeom prst="roundRect">
            <a:avLst>
              <a:gd name="adj" fmla="val 5000"/>
            </a:avLst>
          </a:prstGeom>
          <a:solidFill>
            <a:srgbClr val="FDF1E8"/>
          </a:solidFill>
          <a:ln w="9525">
            <a:solidFill>
              <a:srgbClr val="ED7D3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FHdr1"/>
          <p:cNvSpPr txBox="1"/>
          <p:nvPr/>
        </p:nvSpPr>
        <p:spPr>
          <a:xfrm>
            <a:off x="4985800" y="2230000"/>
            <a:ext cx="304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300" b="1" dirty="0">
                <a:solidFill>
                  <a:srgbClr val="ED7D31"/>
                </a:solidFill>
              </a:rPr>
              <a:t>PRESENTATION</a:t>
            </a:r>
          </a:p>
        </p:txBody>
      </p:sp>
      <p:sp>
        <p:nvSpPr>
          <p:cNvPr id="5" name="FTitle1"/>
          <p:cNvSpPr txBox="1"/>
          <p:nvPr/>
        </p:nvSpPr>
        <p:spPr>
          <a:xfrm>
            <a:off x="4985800" y="2628900"/>
            <a:ext cx="3040000" cy="70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1A2332"/>
                </a:solidFill>
              </a:rPr>
              <a:t>Experience Fragment</a:t>
            </a:r>
          </a:p>
          <a:p>
            <a:pPr>
              <a:spcBef>
                <a:spcPts val="200"/>
              </a:spcBef>
              <a:buNone/>
            </a:pPr>
            <a:endParaRPr lang="en-US" sz="2400" b="1" dirty="0">
              <a:solidFill>
                <a:srgbClr val="1A2332"/>
              </a:solidFill>
            </a:endParaRPr>
          </a:p>
        </p:txBody>
      </p:sp>
      <p:sp>
        <p:nvSpPr>
          <p:cNvPr id="320" name="FB10"/>
          <p:cNvSpPr txBox="1"/>
          <p:nvPr/>
        </p:nvSpPr>
        <p:spPr>
          <a:xfrm>
            <a:off x="4985800" y="348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Includes design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Components + styling</a:t>
            </a:r>
          </a:p>
        </p:txBody>
      </p:sp>
      <p:sp>
        <p:nvSpPr>
          <p:cNvPr id="321" name="FB11"/>
          <p:cNvSpPr txBox="1"/>
          <p:nvPr/>
        </p:nvSpPr>
        <p:spPr>
          <a:xfrm>
            <a:off x="4985800" y="406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Reusable visual section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Banner, hero, promo</a:t>
            </a:r>
          </a:p>
        </p:txBody>
      </p:sp>
      <p:sp>
        <p:nvSpPr>
          <p:cNvPr id="322" name="FB12"/>
          <p:cNvSpPr txBox="1"/>
          <p:nvPr/>
        </p:nvSpPr>
        <p:spPr>
          <a:xfrm>
            <a:off x="4985800" y="464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Ideal for</a:t>
            </a:r>
          </a:p>
          <a:p>
            <a:pPr>
              <a:buNone/>
            </a:pPr>
            <a:endParaRPr lang="en-US" sz="1500" b="1" dirty="0">
              <a:solidFill>
                <a:srgbClr val="1A23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9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0DF3-E5F7-11FD-E75D-150E1AB2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Sling Models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The bridge between content (JCR) and rendering (HTL).</a:t>
            </a:r>
          </a:p>
        </p:txBody>
      </p:sp>
      <p:sp>
        <p:nvSpPr>
          <p:cNvPr id="200" name="CodeBox"/>
          <p:cNvSpPr/>
          <p:nvPr/>
        </p:nvSpPr>
        <p:spPr>
          <a:xfrm>
            <a:off x="838200" y="2000000"/>
            <a:ext cx="4400000" cy="3300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>
            <a:noFill/>
          </a:ln>
        </p:spPr>
        <p:txBody>
          <a:bodyPr wrap="square" lIns="280000" tIns="220000" rIns="280000" bIns="220000" anchor="t"/>
          <a:lstStyle/>
          <a:p>
            <a:pPr>
              <a:buNone/>
            </a:pPr>
            <a:r>
              <a:rPr lang="en-US" sz="1300" b="1" dirty="0">
                <a:solidFill>
                  <a:srgbClr val="A8B0BC"/>
                </a:solidFill>
              </a:rPr>
              <a:t>EXAMPLE</a:t>
            </a:r>
          </a:p>
          <a:p>
            <a:pPr>
              <a:spcBef>
                <a:spcPts val="400"/>
              </a:spcBef>
              <a:buNone/>
            </a:pPr>
            <a:r>
              <a:rPr lang="en-US" sz="1300" b="0" dirty="0">
                <a:solidFill>
                  <a:srgbClr val="ED7D31"/>
                </a:solidFill>
                <a:latin typeface="Courier New"/>
              </a:rPr>
              <a:t>@Model</a:t>
            </a:r>
            <a:r>
              <a:rPr lang="en-US" sz="1300" b="0" dirty="0">
                <a:solidFill>
                  <a:srgbClr val="E8EEF5"/>
                </a:solidFill>
                <a:latin typeface="Courier New"/>
              </a:rPr>
              <a:t>(adaptables = </a:t>
            </a:r>
            <a:r>
              <a:rPr lang="en-US" sz="1300" b="0" dirty="0">
                <a:solidFill>
                  <a:srgbClr val="5B9BD5"/>
                </a:solidFill>
                <a:latin typeface="Courier New"/>
              </a:rPr>
              <a:t>Resource.class</a:t>
            </a:r>
            <a:r>
              <a:rPr lang="en-US" sz="1300" b="0" dirty="0">
                <a:solidFill>
                  <a:srgbClr val="E8EEF5"/>
                </a:solidFill>
                <a:latin typeface="Courier New"/>
              </a:rPr>
              <a:t>)</a:t>
            </a:r>
          </a:p>
          <a:p>
            <a:pPr>
              <a:buNone/>
            </a:pPr>
            <a:r>
              <a:rPr lang="en-US" sz="1300" b="0" dirty="0">
                <a:solidFill>
                  <a:srgbClr val="5B9BD5"/>
                </a:solidFill>
                <a:latin typeface="Courier New"/>
              </a:rPr>
              <a:t>public class </a:t>
            </a:r>
            <a:r>
              <a:rPr lang="en-US" sz="1300" b="1" dirty="0">
                <a:solidFill>
                  <a:srgbClr val="70AD47"/>
                </a:solidFill>
                <a:latin typeface="Courier New"/>
              </a:rPr>
              <a:t>HeroModel</a:t>
            </a:r>
            <a:r>
              <a:rPr lang="en-US" sz="1300" b="0" dirty="0">
                <a:solidFill>
                  <a:srgbClr val="E8EEF5"/>
                </a:solidFill>
                <a:latin typeface="Courier New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ED7D31"/>
                </a:solidFill>
                <a:latin typeface="Courier New"/>
              </a:rPr>
              <a:t>    @ValueMapValue</a:t>
            </a:r>
          </a:p>
          <a:p>
            <a:pPr>
              <a:buNone/>
            </a:pPr>
            <a:r>
              <a:rPr lang="en-US" sz="1300" b="0" dirty="0">
                <a:solidFill>
                  <a:srgbClr val="5B9BD5"/>
                </a:solidFill>
                <a:latin typeface="Courier New"/>
              </a:rPr>
              <a:t>    private String</a:t>
            </a:r>
            <a:r>
              <a:rPr lang="en-US" sz="1300" b="0" dirty="0">
                <a:solidFill>
                  <a:srgbClr val="E8EEF5"/>
                </a:solidFill>
                <a:latin typeface="Courier New"/>
              </a:rPr>
              <a:t> title;</a:t>
            </a:r>
          </a:p>
          <a:p>
            <a:pPr>
              <a:buNone/>
            </a:pPr>
            <a:endParaRPr lang="en-US" sz="1300" b="0" dirty="0">
              <a:solidFill>
                <a:srgbClr val="E8EEF5"/>
              </a:solidFill>
              <a:latin typeface="Courier New"/>
            </a:endParaRPr>
          </a:p>
          <a:p>
            <a:pPr>
              <a:buNone/>
            </a:pPr>
            <a:r>
              <a:rPr lang="en-US" sz="1300" b="0" dirty="0">
                <a:solidFill>
                  <a:srgbClr val="5B9BD5"/>
                </a:solidFill>
                <a:latin typeface="Courier New"/>
              </a:rPr>
              <a:t>    public String </a:t>
            </a:r>
            <a:r>
              <a:rPr lang="en-US" sz="1300" b="0" dirty="0">
                <a:solidFill>
                  <a:srgbClr val="FFC080"/>
                </a:solidFill>
                <a:latin typeface="Courier New"/>
              </a:rPr>
              <a:t>getTitle</a:t>
            </a:r>
            <a:r>
              <a:rPr lang="en-US" sz="1300" b="0" dirty="0">
                <a:solidFill>
                  <a:srgbClr val="E8EEF5"/>
                </a:solidFill>
                <a:latin typeface="Courier New"/>
              </a:rPr>
              <a:t>() {</a:t>
            </a:r>
          </a:p>
          <a:p>
            <a:pPr>
              <a:buNone/>
            </a:pPr>
            <a:r>
              <a:rPr lang="en-US" sz="1300" b="0" dirty="0">
                <a:solidFill>
                  <a:srgbClr val="5B9BD5"/>
                </a:solidFill>
                <a:latin typeface="Courier New"/>
              </a:rPr>
              <a:t>        return</a:t>
            </a:r>
            <a:r>
              <a:rPr lang="en-US" sz="1300" b="0" dirty="0">
                <a:solidFill>
                  <a:srgbClr val="E8EEF5"/>
                </a:solidFill>
                <a:latin typeface="Courier New"/>
              </a:rPr>
              <a:t> title;</a:t>
            </a:r>
          </a:p>
          <a:p>
            <a:pPr>
              <a:buNone/>
            </a:pPr>
            <a:r>
              <a:rPr lang="en-US" sz="1300" b="0" dirty="0">
                <a:solidFill>
                  <a:srgbClr val="E8EEF5"/>
                </a:solidFill>
                <a:latin typeface="Courier New"/>
              </a:rPr>
              <a:t>    }</a:t>
            </a:r>
          </a:p>
          <a:p>
            <a:pPr>
              <a:buNone/>
            </a:pPr>
            <a:r>
              <a:rPr lang="en-US" sz="1300" b="0" dirty="0">
                <a:solidFill>
                  <a:srgbClr val="E8EEF5"/>
                </a:solidFill>
                <a:latin typeface="Courier New"/>
              </a:rPr>
              <a:t>}</a:t>
            </a:r>
          </a:p>
        </p:txBody>
      </p:sp>
      <p:sp>
        <p:nvSpPr>
          <p:cNvPr id="300" name="RHdr"/>
          <p:cNvSpPr txBox="1"/>
          <p:nvPr/>
        </p:nvSpPr>
        <p:spPr>
          <a:xfrm>
            <a:off x="5450000" y="2000000"/>
            <a:ext cx="2900000" cy="28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6B7785"/>
                </a:solidFill>
              </a:rPr>
              <a:t>WHAT THEY DO</a:t>
            </a:r>
          </a:p>
        </p:txBody>
      </p:sp>
      <p:sp>
        <p:nvSpPr>
          <p:cNvPr id="310" name="PtBox0"/>
          <p:cNvSpPr/>
          <p:nvPr/>
        </p:nvSpPr>
        <p:spPr>
          <a:xfrm>
            <a:off x="5450000" y="2400000"/>
            <a:ext cx="50000" cy="6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PtT0"/>
          <p:cNvSpPr txBox="1"/>
          <p:nvPr/>
        </p:nvSpPr>
        <p:spPr>
          <a:xfrm>
            <a:off x="5600000" y="2370000"/>
            <a:ext cx="275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Map content to Java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JCR properties → POJO fields</a:t>
            </a:r>
          </a:p>
        </p:txBody>
      </p:sp>
      <p:sp>
        <p:nvSpPr>
          <p:cNvPr id="312" name="PtBox1"/>
          <p:cNvSpPr/>
          <p:nvPr/>
        </p:nvSpPr>
        <p:spPr>
          <a:xfrm>
            <a:off x="5450000" y="3120000"/>
            <a:ext cx="50000" cy="6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3" name="PtT1"/>
          <p:cNvSpPr txBox="1"/>
          <p:nvPr/>
        </p:nvSpPr>
        <p:spPr>
          <a:xfrm>
            <a:off x="5600000" y="3090000"/>
            <a:ext cx="275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Annotation-driven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@ValueMapValue, @Inject, @Self</a:t>
            </a:r>
          </a:p>
        </p:txBody>
      </p:sp>
      <p:sp>
        <p:nvSpPr>
          <p:cNvPr id="314" name="PtBox2"/>
          <p:cNvSpPr/>
          <p:nvPr/>
        </p:nvSpPr>
        <p:spPr>
          <a:xfrm>
            <a:off x="5450000" y="3840000"/>
            <a:ext cx="50000" cy="6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PtT2"/>
          <p:cNvSpPr txBox="1"/>
          <p:nvPr/>
        </p:nvSpPr>
        <p:spPr>
          <a:xfrm>
            <a:off x="5600000" y="3810000"/>
            <a:ext cx="275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Used by HTL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Templates call model getters</a:t>
            </a:r>
          </a:p>
        </p:txBody>
      </p:sp>
      <p:sp>
        <p:nvSpPr>
          <p:cNvPr id="316" name="PtBox3"/>
          <p:cNvSpPr/>
          <p:nvPr/>
        </p:nvSpPr>
        <p:spPr>
          <a:xfrm>
            <a:off x="5450000" y="4560000"/>
            <a:ext cx="50000" cy="6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7" name="PtT3"/>
          <p:cNvSpPr txBox="1"/>
          <p:nvPr/>
        </p:nvSpPr>
        <p:spPr>
          <a:xfrm>
            <a:off x="5600000" y="4530000"/>
            <a:ext cx="275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500" b="1" dirty="0">
                <a:solidFill>
                  <a:srgbClr val="1A2332"/>
                </a:solidFill>
              </a:rPr>
              <a:t>Testable</a:t>
            </a:r>
          </a:p>
          <a:p>
            <a:pPr>
              <a:buNone/>
            </a:pPr>
            <a:r>
              <a:rPr lang="en-US" sz="1400" b="0" dirty="0">
                <a:solidFill>
                  <a:srgbClr val="6B7785"/>
                </a:solidFill>
              </a:rPr>
              <a:t>Plain Java — easy to unit test</a:t>
            </a:r>
          </a:p>
        </p:txBody>
      </p:sp>
    </p:spTree>
    <p:extLst>
      <p:ext uri="{BB962C8B-B14F-4D97-AF65-F5344CB8AC3E}">
        <p14:creationId xmlns:p14="http://schemas.microsoft.com/office/powerpoint/2010/main" val="125848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B3D0-E8AF-8210-DE49-FFEEDE78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AEM as a Cloud Service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The modern, fully managed AEM — Adobe runs the infrastructure on the cloud.</a:t>
            </a:r>
          </a:p>
        </p:txBody>
      </p:sp>
      <p:sp>
        <p:nvSpPr>
          <p:cNvPr id="300" name="Bn0"/>
          <p:cNvSpPr/>
          <p:nvPr/>
        </p:nvSpPr>
        <p:spPr>
          <a:xfrm>
            <a:off x="838200" y="1980000"/>
            <a:ext cx="36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1" name="BnB0"/>
          <p:cNvSpPr/>
          <p:nvPr/>
        </p:nvSpPr>
        <p:spPr>
          <a:xfrm>
            <a:off x="838200" y="1980000"/>
            <a:ext cx="80000" cy="1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BnT0"/>
          <p:cNvSpPr txBox="1"/>
          <p:nvPr/>
        </p:nvSpPr>
        <p:spPr>
          <a:xfrm>
            <a:off x="1118200" y="2230000"/>
            <a:ext cx="3200000" cy="11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1" dirty="0">
                <a:solidFill>
                  <a:srgbClr val="1F4E79"/>
                </a:solidFill>
              </a:rPr>
              <a:t>Auto-Scaling</a:t>
            </a:r>
          </a:p>
          <a:p>
            <a:pPr>
              <a:spcBef>
                <a:spcPts val="4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Capacity adjusts automatically to traffic</a:t>
            </a:r>
          </a:p>
        </p:txBody>
      </p:sp>
      <p:sp>
        <p:nvSpPr>
          <p:cNvPr id="303" name="Bn1"/>
          <p:cNvSpPr/>
          <p:nvPr/>
        </p:nvSpPr>
        <p:spPr>
          <a:xfrm>
            <a:off x="4705800" y="1980000"/>
            <a:ext cx="36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4" name="BnB1"/>
          <p:cNvSpPr/>
          <p:nvPr/>
        </p:nvSpPr>
        <p:spPr>
          <a:xfrm>
            <a:off x="4705800" y="1980000"/>
            <a:ext cx="80000" cy="150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BnT1"/>
          <p:cNvSpPr txBox="1"/>
          <p:nvPr/>
        </p:nvSpPr>
        <p:spPr>
          <a:xfrm>
            <a:off x="4985800" y="2230000"/>
            <a:ext cx="3200000" cy="11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1" dirty="0">
                <a:solidFill>
                  <a:srgbClr val="1F4E79"/>
                </a:solidFill>
              </a:rPr>
              <a:t>Continuous Updates</a:t>
            </a:r>
          </a:p>
          <a:p>
            <a:pPr>
              <a:spcBef>
                <a:spcPts val="400"/>
              </a:spcBef>
              <a:buNone/>
            </a:pPr>
            <a:endParaRPr lang="en-US" sz="2000" b="1" dirty="0">
              <a:solidFill>
                <a:srgbClr val="1F4E79"/>
              </a:solidFill>
            </a:endParaRPr>
          </a:p>
        </p:txBody>
      </p:sp>
      <p:sp>
        <p:nvSpPr>
          <p:cNvPr id="306" name="Bn2"/>
          <p:cNvSpPr/>
          <p:nvPr/>
        </p:nvSpPr>
        <p:spPr>
          <a:xfrm>
            <a:off x="838200" y="3680000"/>
            <a:ext cx="36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BnB2"/>
          <p:cNvSpPr/>
          <p:nvPr/>
        </p:nvSpPr>
        <p:spPr>
          <a:xfrm>
            <a:off x="838200" y="3680000"/>
            <a:ext cx="80000" cy="15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BnT2"/>
          <p:cNvSpPr txBox="1"/>
          <p:nvPr/>
        </p:nvSpPr>
        <p:spPr>
          <a:xfrm>
            <a:off x="1118200" y="3930000"/>
            <a:ext cx="3200000" cy="11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1" dirty="0">
                <a:solidFill>
                  <a:srgbClr val="1F4E79"/>
                </a:solidFill>
              </a:rPr>
              <a:t>Cloud Manager CI/CD</a:t>
            </a:r>
          </a:p>
          <a:p>
            <a:pPr>
              <a:spcBef>
                <a:spcPts val="4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Built-in pipeline for code deployment</a:t>
            </a:r>
          </a:p>
        </p:txBody>
      </p:sp>
      <p:sp>
        <p:nvSpPr>
          <p:cNvPr id="309" name="Bn3"/>
          <p:cNvSpPr/>
          <p:nvPr/>
        </p:nvSpPr>
        <p:spPr>
          <a:xfrm>
            <a:off x="4705800" y="3680000"/>
            <a:ext cx="3600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1E5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0" name="BnB3"/>
          <p:cNvSpPr/>
          <p:nvPr/>
        </p:nvSpPr>
        <p:spPr>
          <a:xfrm>
            <a:off x="4705800" y="3680000"/>
            <a:ext cx="80000" cy="15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BnT3"/>
          <p:cNvSpPr txBox="1"/>
          <p:nvPr/>
        </p:nvSpPr>
        <p:spPr>
          <a:xfrm>
            <a:off x="4985800" y="3930000"/>
            <a:ext cx="3200000" cy="115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2000" b="1" dirty="0">
                <a:solidFill>
                  <a:srgbClr val="1F4E79"/>
                </a:solidFill>
              </a:rPr>
              <a:t>High Availability</a:t>
            </a:r>
          </a:p>
          <a:p>
            <a:pPr>
              <a:spcBef>
                <a:spcPts val="400"/>
              </a:spcBef>
              <a:buNone/>
            </a:pPr>
            <a:r>
              <a:rPr lang="en-US" sz="1500" b="0" dirty="0">
                <a:solidFill>
                  <a:srgbClr val="2C3E50"/>
                </a:solidFill>
              </a:rPr>
              <a:t>Adobe SLA — backups, monitoring, redundancy</a:t>
            </a:r>
          </a:p>
        </p:txBody>
      </p:sp>
      <p:sp>
        <p:nvSpPr>
          <p:cNvPr id="500" name="Note"/>
          <p:cNvSpPr txBox="1"/>
          <p:nvPr/>
        </p:nvSpPr>
        <p:spPr>
          <a:xfrm>
            <a:off x="838200" y="5200000"/>
            <a:ext cx="7467600" cy="350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1400" i="1" dirty="0">
                <a:solidFill>
                  <a:srgbClr val="6B7785"/>
                </a:solidFill>
              </a:rPr>
              <a:t>Other deployment models: AEM On-Premise (self-hosted) and AMS (Adobe Managed Services).</a:t>
            </a:r>
          </a:p>
        </p:txBody>
      </p:sp>
    </p:spTree>
    <p:extLst>
      <p:ext uri="{BB962C8B-B14F-4D97-AF65-F5344CB8AC3E}">
        <p14:creationId xmlns:p14="http://schemas.microsoft.com/office/powerpoint/2010/main" val="890926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B96E-62A8-2FC2-DC7C-C3FE22F7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Author vs Publish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Two separate environments — content moves from one to the other on demand.</a:t>
            </a:r>
          </a:p>
        </p:txBody>
      </p:sp>
      <p:sp>
        <p:nvSpPr>
          <p:cNvPr id="300" name="ECard0"/>
          <p:cNvSpPr/>
          <p:nvPr/>
        </p:nvSpPr>
        <p:spPr>
          <a:xfrm>
            <a:off x="838200" y="1980000"/>
            <a:ext cx="3600000" cy="2700000"/>
          </a:xfrm>
          <a:prstGeom prst="roundRect">
            <a:avLst>
              <a:gd name="adj" fmla="val 5000"/>
            </a:avLst>
          </a:prstGeom>
          <a:solidFill>
            <a:srgbClr val="E8EE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EBand0"/>
          <p:cNvSpPr/>
          <p:nvPr/>
        </p:nvSpPr>
        <p:spPr>
          <a:xfrm>
            <a:off x="838200" y="1980000"/>
            <a:ext cx="3600000" cy="8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300000" tIns="100000" rIns="300000" bIns="100000" anchor="ctr"/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</a:rPr>
              <a:t>Author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</a:rPr>
              <a:t>Internal — content creation</a:t>
            </a:r>
          </a:p>
        </p:txBody>
      </p:sp>
      <p:sp>
        <p:nvSpPr>
          <p:cNvPr id="310" name="EI00"/>
          <p:cNvSpPr txBox="1"/>
          <p:nvPr/>
        </p:nvSpPr>
        <p:spPr>
          <a:xfrm>
            <a:off x="1118200" y="293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400" b="1" dirty="0">
                <a:solidFill>
                  <a:srgbClr val="1F4E79"/>
                </a:solidFill>
              </a:rPr>
              <a:t>Who</a:t>
            </a:r>
          </a:p>
          <a:p>
            <a:pPr>
              <a:buNone/>
            </a:pPr>
            <a:r>
              <a:rPr lang="en-US" sz="1500" b="0" dirty="0">
                <a:solidFill>
                  <a:srgbClr val="2C3E50"/>
                </a:solidFill>
              </a:rPr>
              <a:t>Internal users — editors, marketers</a:t>
            </a:r>
          </a:p>
        </p:txBody>
      </p:sp>
      <p:sp>
        <p:nvSpPr>
          <p:cNvPr id="311" name="EI01"/>
          <p:cNvSpPr txBox="1"/>
          <p:nvPr/>
        </p:nvSpPr>
        <p:spPr>
          <a:xfrm>
            <a:off x="1118200" y="351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400" b="1" dirty="0">
                <a:solidFill>
                  <a:srgbClr val="1F4E79"/>
                </a:solidFill>
              </a:rPr>
              <a:t>What</a:t>
            </a:r>
          </a:p>
          <a:p>
            <a:pPr>
              <a:buNone/>
            </a:pPr>
            <a:r>
              <a:rPr lang="en-US" sz="1500" b="0" dirty="0">
                <a:solidFill>
                  <a:srgbClr val="2C3E50"/>
                </a:solidFill>
              </a:rPr>
              <a:t>Create, edit and preview content</a:t>
            </a:r>
          </a:p>
        </p:txBody>
      </p:sp>
      <p:sp>
        <p:nvSpPr>
          <p:cNvPr id="312" name="EI02"/>
          <p:cNvSpPr txBox="1"/>
          <p:nvPr/>
        </p:nvSpPr>
        <p:spPr>
          <a:xfrm>
            <a:off x="1118200" y="409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400" b="1" dirty="0">
                <a:solidFill>
                  <a:srgbClr val="1F4E79"/>
                </a:solidFill>
              </a:rPr>
              <a:t>Access</a:t>
            </a:r>
          </a:p>
          <a:p>
            <a:pPr>
              <a:buNone/>
            </a:pPr>
            <a:r>
              <a:rPr lang="en-US" sz="1500" b="0" dirty="0">
                <a:solidFill>
                  <a:srgbClr val="2C3E50"/>
                </a:solidFill>
              </a:rPr>
              <a:t>Behind firewall, login required</a:t>
            </a:r>
          </a:p>
        </p:txBody>
      </p:sp>
      <p:sp>
        <p:nvSpPr>
          <p:cNvPr id="315" name="ECard1"/>
          <p:cNvSpPr/>
          <p:nvPr/>
        </p:nvSpPr>
        <p:spPr>
          <a:xfrm>
            <a:off x="4705800" y="1980000"/>
            <a:ext cx="3600000" cy="2700000"/>
          </a:xfrm>
          <a:prstGeom prst="roundRect">
            <a:avLst>
              <a:gd name="adj" fmla="val 5000"/>
            </a:avLst>
          </a:prstGeom>
          <a:solidFill>
            <a:srgbClr val="EDF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EBand1"/>
          <p:cNvSpPr/>
          <p:nvPr/>
        </p:nvSpPr>
        <p:spPr>
          <a:xfrm>
            <a:off x="4705800" y="1980000"/>
            <a:ext cx="3600000" cy="80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square" lIns="300000" tIns="100000" rIns="300000" bIns="100000" anchor="ctr"/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</a:rPr>
              <a:t>Publish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</a:rPr>
              <a:t>Public — content delivery</a:t>
            </a:r>
          </a:p>
        </p:txBody>
      </p:sp>
      <p:sp>
        <p:nvSpPr>
          <p:cNvPr id="325" name="EI10"/>
          <p:cNvSpPr txBox="1"/>
          <p:nvPr/>
        </p:nvSpPr>
        <p:spPr>
          <a:xfrm>
            <a:off x="4985800" y="293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400" b="1" dirty="0">
                <a:solidFill>
                  <a:srgbClr val="70AD47"/>
                </a:solidFill>
              </a:rPr>
              <a:t>Who</a:t>
            </a:r>
          </a:p>
          <a:p>
            <a:pPr>
              <a:buNone/>
            </a:pPr>
            <a:r>
              <a:rPr lang="en-US" sz="1500" b="0" dirty="0">
                <a:solidFill>
                  <a:srgbClr val="2C3E50"/>
                </a:solidFill>
              </a:rPr>
              <a:t>End-users — site visitors</a:t>
            </a:r>
          </a:p>
        </p:txBody>
      </p:sp>
      <p:sp>
        <p:nvSpPr>
          <p:cNvPr id="326" name="EI11"/>
          <p:cNvSpPr txBox="1"/>
          <p:nvPr/>
        </p:nvSpPr>
        <p:spPr>
          <a:xfrm>
            <a:off x="4985800" y="351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400" b="1" dirty="0">
                <a:solidFill>
                  <a:srgbClr val="70AD47"/>
                </a:solidFill>
              </a:rPr>
              <a:t>What</a:t>
            </a:r>
          </a:p>
          <a:p>
            <a:pPr>
              <a:buNone/>
            </a:pPr>
            <a:r>
              <a:rPr lang="en-US" sz="1500" b="0" dirty="0">
                <a:solidFill>
                  <a:srgbClr val="2C3E50"/>
                </a:solidFill>
              </a:rPr>
              <a:t>Renders the live, public site</a:t>
            </a:r>
          </a:p>
        </p:txBody>
      </p:sp>
      <p:sp>
        <p:nvSpPr>
          <p:cNvPr id="327" name="EI12"/>
          <p:cNvSpPr txBox="1"/>
          <p:nvPr/>
        </p:nvSpPr>
        <p:spPr>
          <a:xfrm>
            <a:off x="4985800" y="4090000"/>
            <a:ext cx="304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buNone/>
            </a:pPr>
            <a:r>
              <a:rPr lang="en-US" sz="1400" b="1" dirty="0">
                <a:solidFill>
                  <a:srgbClr val="70AD47"/>
                </a:solidFill>
              </a:rPr>
              <a:t>Access</a:t>
            </a:r>
          </a:p>
          <a:p>
            <a:pPr>
              <a:buNone/>
            </a:pPr>
            <a:r>
              <a:rPr lang="en-US" sz="1500" b="0" dirty="0">
                <a:solidFill>
                  <a:srgbClr val="2C3E50"/>
                </a:solidFill>
              </a:rPr>
              <a:t>Public, optimized for performance</a:t>
            </a:r>
          </a:p>
        </p:txBody>
      </p:sp>
      <p:sp>
        <p:nvSpPr>
          <p:cNvPr id="500" name="ReplBox"/>
          <p:cNvSpPr/>
          <p:nvPr/>
        </p:nvSpPr>
        <p:spPr>
          <a:xfrm>
            <a:off x="838200" y="4830000"/>
            <a:ext cx="7467600" cy="500000"/>
          </a:xfrm>
          <a:prstGeom prst="roundRect">
            <a:avLst>
              <a:gd name="adj" fmla="val 25000"/>
            </a:avLst>
          </a:prstGeom>
          <a:solidFill>
            <a:srgbClr val="F4F6F8"/>
          </a:solidFill>
          <a:ln w="6350">
            <a:solidFill>
              <a:srgbClr val="E1E5EB"/>
            </a:solidFill>
          </a:ln>
        </p:spPr>
        <p:txBody>
          <a:bodyPr wrap="square" lIns="280000" tIns="80000" rIns="280000" bIns="80000" anchor="ctr"/>
          <a:lstStyle/>
          <a:p>
            <a:pPr algn="ctr">
              <a:buNone/>
            </a:pPr>
            <a:r>
              <a:rPr lang="en-US" sz="1500" b="1" dirty="0">
                <a:solidFill>
                  <a:srgbClr val="1F4E79"/>
                </a:solidFill>
              </a:rPr>
              <a:t>Replication</a:t>
            </a:r>
            <a:r>
              <a:rPr lang="en-US" sz="1500" b="0" dirty="0">
                <a:solidFill>
                  <a:srgbClr val="2C3E50"/>
                </a:solidFill>
              </a:rPr>
              <a:t>  →  Author "activates" content, which is sent to Publish for delivery.</a:t>
            </a:r>
          </a:p>
        </p:txBody>
      </p:sp>
    </p:spTree>
    <p:extLst>
      <p:ext uri="{BB962C8B-B14F-4D97-AF65-F5344CB8AC3E}">
        <p14:creationId xmlns:p14="http://schemas.microsoft.com/office/powerpoint/2010/main" val="200399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E611-18DF-CFD5-454E-080AAABD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F4E79"/>
                </a:solidFill>
              </a:rPr>
              <a:t>Key Takeaways</a:t>
            </a:r>
          </a:p>
        </p:txBody>
      </p:sp>
      <p:sp>
        <p:nvSpPr>
          <p:cNvPr id="190" name="Sub"/>
          <p:cNvSpPr txBox="1"/>
          <p:nvPr/>
        </p:nvSpPr>
        <p:spPr>
          <a:xfrm>
            <a:off x="838200" y="1447800"/>
            <a:ext cx="7400000" cy="35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800" b="0" dirty="0">
                <a:solidFill>
                  <a:srgbClr val="2C3E50"/>
                </a:solidFill>
              </a:rPr>
              <a:t>What to remember about AEM in one slide.</a:t>
            </a:r>
          </a:p>
        </p:txBody>
      </p:sp>
      <p:sp>
        <p:nvSpPr>
          <p:cNvPr id="300" name="TBox0"/>
          <p:cNvSpPr/>
          <p:nvPr/>
        </p:nvSpPr>
        <p:spPr>
          <a:xfrm>
            <a:off x="838200" y="1980000"/>
            <a:ext cx="7467600" cy="75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TNum0"/>
          <p:cNvSpPr/>
          <p:nvPr/>
        </p:nvSpPr>
        <p:spPr>
          <a:xfrm>
            <a:off x="1038200" y="210500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02" name="TT0"/>
          <p:cNvSpPr txBox="1"/>
          <p:nvPr/>
        </p:nvSpPr>
        <p:spPr>
          <a:xfrm>
            <a:off x="1688200" y="2110000"/>
            <a:ext cx="64676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Enterprise CMS   </a:t>
            </a:r>
            <a:r>
              <a:rPr lang="en-US" sz="1500" b="0" dirty="0">
                <a:solidFill>
                  <a:srgbClr val="6B7785"/>
                </a:solidFill>
              </a:rPr>
              <a:t>AEM manages and delivers digital experiences across web, mobile and beyond.</a:t>
            </a:r>
          </a:p>
        </p:txBody>
      </p:sp>
      <p:sp>
        <p:nvSpPr>
          <p:cNvPr id="304" name="TBox1"/>
          <p:cNvSpPr/>
          <p:nvPr/>
        </p:nvSpPr>
        <p:spPr>
          <a:xfrm>
            <a:off x="838200" y="2830000"/>
            <a:ext cx="7467600" cy="75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TNum1"/>
          <p:cNvSpPr/>
          <p:nvPr/>
        </p:nvSpPr>
        <p:spPr>
          <a:xfrm>
            <a:off x="1038200" y="2955000"/>
            <a:ext cx="500000" cy="500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06" name="TT1"/>
          <p:cNvSpPr txBox="1"/>
          <p:nvPr/>
        </p:nvSpPr>
        <p:spPr>
          <a:xfrm>
            <a:off x="1688200" y="2960000"/>
            <a:ext cx="64676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Built on three layers   </a:t>
            </a:r>
            <a:r>
              <a:rPr lang="en-US" sz="1500" b="0" dirty="0">
                <a:solidFill>
                  <a:srgbClr val="6B7785"/>
                </a:solidFill>
              </a:rPr>
              <a:t>JCR stores the content, Sling routes the request, OSGi runs the logic.</a:t>
            </a:r>
          </a:p>
        </p:txBody>
      </p:sp>
      <p:sp>
        <p:nvSpPr>
          <p:cNvPr id="308" name="TBox2"/>
          <p:cNvSpPr/>
          <p:nvPr/>
        </p:nvSpPr>
        <p:spPr>
          <a:xfrm>
            <a:off x="838200" y="3680000"/>
            <a:ext cx="7467600" cy="75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TNum2"/>
          <p:cNvSpPr/>
          <p:nvPr/>
        </p:nvSpPr>
        <p:spPr>
          <a:xfrm>
            <a:off x="1038200" y="3805000"/>
            <a:ext cx="500000" cy="50000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0" name="TT2"/>
          <p:cNvSpPr txBox="1"/>
          <p:nvPr/>
        </p:nvSpPr>
        <p:spPr>
          <a:xfrm>
            <a:off x="1688200" y="3810000"/>
            <a:ext cx="64676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800" b="1" dirty="0">
                <a:solidFill>
                  <a:srgbClr val="1F4E79"/>
                </a:solidFill>
              </a:rPr>
              <a:t>Sling Models</a:t>
            </a:r>
            <a:r>
              <a:rPr lang="en-US" sz="1800" b="0" dirty="0">
                <a:solidFill>
                  <a:srgbClr val="2C3E50"/>
                </a:solidFill>
              </a:rPr>
              <a:t> bridge content to Java code</a:t>
            </a:r>
          </a:p>
        </p:txBody>
      </p:sp>
      <p:sp>
        <p:nvSpPr>
          <p:cNvPr id="312" name="TBox3"/>
          <p:cNvSpPr/>
          <p:nvPr/>
        </p:nvSpPr>
        <p:spPr>
          <a:xfrm>
            <a:off x="838200" y="4530000"/>
            <a:ext cx="7467600" cy="75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3" name="TNum3"/>
          <p:cNvSpPr/>
          <p:nvPr/>
        </p:nvSpPr>
        <p:spPr>
          <a:xfrm>
            <a:off x="1038200" y="4655000"/>
            <a:ext cx="500000" cy="50000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4" name="TT3"/>
          <p:cNvSpPr txBox="1"/>
          <p:nvPr/>
        </p:nvSpPr>
        <p:spPr>
          <a:xfrm>
            <a:off x="1688200" y="4660000"/>
            <a:ext cx="64676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1700" b="1" dirty="0">
                <a:solidFill>
                  <a:srgbClr val="1A2332"/>
                </a:solidFill>
              </a:rPr>
              <a:t>Author and Publish   </a:t>
            </a:r>
            <a:r>
              <a:rPr lang="en-US" sz="1500" b="0" dirty="0">
                <a:solidFill>
                  <a:srgbClr val="6B7785"/>
                </a:solidFill>
              </a:rPr>
              <a:t>Two environments — content is created on Author and replicated to Publish for delivery.</a:t>
            </a:r>
          </a:p>
        </p:txBody>
      </p:sp>
      <p:sp>
        <p:nvSpPr>
          <p:cNvPr id="600" name="Thanks"/>
          <p:cNvSpPr txBox="1"/>
          <p:nvPr/>
        </p:nvSpPr>
        <p:spPr>
          <a:xfrm>
            <a:off x="838200" y="5450000"/>
            <a:ext cx="7467600" cy="350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1800" b="1" dirty="0">
                <a:solidFill>
                  <a:srgbClr val="1F4E79"/>
                </a:solidFill>
              </a:rPr>
              <a:t>Thank you   </a:t>
            </a:r>
            <a:r>
              <a:rPr lang="en-US" sz="1600" b="0" i="1" dirty="0">
                <a:solidFill>
                  <a:srgbClr val="6B7785"/>
                </a:solidFill>
              </a:rPr>
              <a:t>— Questions?</a:t>
            </a:r>
          </a:p>
        </p:txBody>
      </p:sp>
    </p:spTree>
    <p:extLst>
      <p:ext uri="{BB962C8B-B14F-4D97-AF65-F5344CB8AC3E}">
        <p14:creationId xmlns:p14="http://schemas.microsoft.com/office/powerpoint/2010/main" val="284908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645447869]">
  <a:themeElements>
    <a:clrScheme name="Office">
      <a:dk1>
        <a:srgbClr val="1A2332"/>
      </a:dk1>
      <a:lt1>
        <a:srgbClr val="FFFFFF"/>
      </a:lt1>
      <a:dk2>
        <a:srgbClr val="2C3E50"/>
      </a:dk2>
      <a:lt2>
        <a:srgbClr val="F4F6F8"/>
      </a:lt2>
      <a:accent1>
        <a:srgbClr val="1F4E79"/>
      </a:accent1>
      <a:accent2>
        <a:srgbClr val="5B9BD5"/>
      </a:accent2>
      <a:accent3>
        <a:srgbClr val="70AD47"/>
      </a:accent3>
      <a:accent4>
        <a:srgbClr val="ED7D31"/>
      </a:accent4>
      <a:accent5>
        <a:srgbClr val="7030A0"/>
      </a:accent5>
      <a:accent6>
        <a:srgbClr val="C00000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929D56-00CC-4830-89AE-7DE4F8BEED29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288207b-68a2-4e53-bdb6-410c8614d7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982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Office Theme [1777645447869]</vt:lpstr>
      <vt:lpstr>Adobe Experience Manager</vt:lpstr>
      <vt:lpstr>What is AEM?</vt:lpstr>
      <vt:lpstr>Part of the Adobe Experience Cloud</vt:lpstr>
      <vt:lpstr>Architecture How AEM is built — three layers and a request flow</vt:lpstr>
      <vt:lpstr>The Three-Layer Stack</vt:lpstr>
      <vt:lpstr>Request Flow</vt:lpstr>
      <vt:lpstr>JCR  —  Content Repository</vt:lpstr>
      <vt:lpstr>Apache Sling  —  URL Routing Engine</vt:lpstr>
      <vt:lpstr>OSGi  —  Service Container</vt:lpstr>
      <vt:lpstr>Building Blocks Components, templates, fragments and Sling Models</vt:lpstr>
      <vt:lpstr>Components</vt:lpstr>
      <vt:lpstr>Editable Templates</vt:lpstr>
      <vt:lpstr>Content vs Experience Fragments</vt:lpstr>
      <vt:lpstr>Sling Models</vt:lpstr>
      <vt:lpstr>AEM as a Cloud Service</vt:lpstr>
      <vt:lpstr>Author vs Publish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Ramiro Ocampo Rodriguez</dc:creator>
  <cp:lastModifiedBy>Ramiro Ocampo Rodriguez</cp:lastModifiedBy>
  <cp:revision>2</cp:revision>
  <dcterms:created xsi:type="dcterms:W3CDTF">2026-05-01T14:24:07Z</dcterms:created>
  <dcterms:modified xsi:type="dcterms:W3CDTF">2026-05-01T16:08:38Z</dcterms:modified>
</cp:coreProperties>
</file>