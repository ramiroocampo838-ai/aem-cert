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91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9804" autoAdjust="0"/>
  </p:normalViewPr>
  <p:slideViewPr>
    <p:cSldViewPr snapToGrid="0">
      <p:cViewPr varScale="1">
        <p:scale>
          <a:sx n="57" d="100"/>
          <a:sy n="57" d="100"/>
        </p:scale>
        <p:origin x="78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1AAF6-C88E-4597-BB4D-F87E0CFD5301}" type="datetimeFigureOut">
              <a:rPr lang="en-GB" smtClean="0"/>
              <a:t>03/05/2026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2944A1-44E5-44C8-8FAD-F6B643A2CE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4970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OPEN: This is the practical lesson — by the end of it everyone in the room should have a working AEM environment on their laptop.</a:t>
            </a:r>
          </a:p>
          <a:p>
            <a:endParaRPr lang="en-US" dirty="0"/>
          </a:p>
          <a:p>
            <a:r>
              <a:rPr lang="en-US" sz="1200" dirty="0"/>
              <a:t>Frame the goal: we have already covered what AEM is, how Cloud Manager works, and the code quality gates. Now we make all of that real on a developer machine.</a:t>
            </a:r>
          </a:p>
          <a:p>
            <a:endParaRPr lang="en-US" dirty="0"/>
          </a:p>
          <a:p>
            <a:r>
              <a:rPr lang="en-US" sz="1200" dirty="0"/>
              <a:t>Audience: this is one of the most hands-on sessions in the certification path, so plan for live demos and pair work.</a:t>
            </a:r>
          </a:p>
          <a:p>
            <a:endParaRPr lang="en-US" dirty="0"/>
          </a:p>
          <a:p>
            <a:r>
              <a:rPr lang="en-US" sz="1200" dirty="0"/>
              <a:t>Time check: aim for ~30–40 minutes of presentation, then guided setup.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Why local first: speed and safety. You iterate in seconds locally; in the cloud you wait for pipelines and you risk breaking shared environments.</a:t>
            </a:r>
          </a:p>
          <a:p>
            <a:endParaRPr lang="en-US"/>
          </a:p>
          <a:p>
            <a:r>
              <a:rPr lang="en-US" sz="1200" dirty="0"/>
              <a:t>Three reasons to drill into:</a:t>
            </a:r>
          </a:p>
          <a:p>
            <a:r>
              <a:rPr lang="en-US" sz="1200" dirty="0"/>
              <a:t>1) GOAL — develop, build, test on your machine. Catch bugs before code review, not after deployment.</a:t>
            </a:r>
          </a:p>
          <a:p>
            <a:r>
              <a:rPr lang="en-US" sz="1200" dirty="0"/>
              <a:t>2) VALIDATE — by the time something reaches Cloud Manager, it should already work locally. The pipeline is a gate, not a debugger.</a:t>
            </a:r>
          </a:p>
          <a:p>
            <a:r>
              <a:rPr lang="en-US" sz="1200" dirty="0"/>
              <a:t>3) PRACTICAL — this lesson is hands-on. The certification expects you to know the commands, ports, and troubleshooting steps from muscle memory.</a:t>
            </a:r>
          </a:p>
          <a:p>
            <a:endParaRPr lang="en-US"/>
          </a:p>
          <a:p>
            <a:r>
              <a:rPr lang="en-US" sz="1200" dirty="0"/>
              <a:t>Ask the team: who already has a local AEM running? Who is starting from zero? Adjust depth accordingly.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Frame this as the mental model: think of your laptop as a tiny version of the cloud.</a:t>
            </a:r>
          </a:p>
          <a:p>
            <a:endParaRPr lang="en-US"/>
          </a:p>
          <a:p>
            <a:r>
              <a:rPr lang="en-US" sz="1200" dirty="0"/>
              <a:t>Walk through each component:</a:t>
            </a:r>
          </a:p>
          <a:p>
            <a:endParaRPr lang="en-US"/>
          </a:p>
          <a:p>
            <a:r>
              <a:rPr lang="en-US" sz="1200" dirty="0"/>
              <a:t>1) AEM PROJECT — your code, your config, your content. Lives in ~/code as a Maven project. This is what you commit to Git.</a:t>
            </a:r>
          </a:p>
          <a:p>
            <a:endParaRPr lang="en-US"/>
          </a:p>
          <a:p>
            <a:r>
              <a:rPr lang="en-US" sz="1200" dirty="0"/>
              <a:t>2) LOCAL AEM RUNTIME — the Author and Publish services. These are real AEM instances running on your machine. Author is where authors edit; Publish is what site visitors hit.</a:t>
            </a:r>
          </a:p>
          <a:p>
            <a:endParaRPr lang="en-US"/>
          </a:p>
          <a:p>
            <a:r>
              <a:rPr lang="en-US" sz="1200" dirty="0"/>
              <a:t>3) LOCAL DISPATCHER RUNTIME — Apache + Dispatcher module. Sits in front of Publish, handles caching and security rules. In production this is the public-facing layer.</a:t>
            </a:r>
          </a:p>
          <a:p>
            <a:endParaRPr lang="en-US"/>
          </a:p>
          <a:p>
            <a:r>
              <a:rPr lang="en-US" sz="1200" dirty="0"/>
              <a:t>Tip: draw the three boxes on a whiteboard with arrows. Author → Publish → Dispatcher → browser. Make it click before moving 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Four tools, in this exact order. Make people verify each one with the version command on screen — that is the lesson.</a:t>
            </a:r>
          </a:p>
          <a:p>
            <a:endParaRPr lang="en-US"/>
          </a:p>
          <a:p>
            <a:r>
              <a:rPr lang="en-US" sz="1200" dirty="0"/>
              <a:t>JDK 21 — emphasize 21, not 17 or 11. Wrong Java is the #1 cause of "AEM won't start". Run java -version live; the output should say 21.x.</a:t>
            </a:r>
          </a:p>
          <a:p>
            <a:endParaRPr lang="en-US"/>
          </a:p>
          <a:p>
            <a:r>
              <a:rPr lang="en-US" sz="1200" dirty="0"/>
              <a:t>Maven — mvn -v. Check it shows JDK 21 too; Maven uses whatever JAVA_HOME points to.</a:t>
            </a:r>
          </a:p>
          <a:p>
            <a:endParaRPr lang="en-US"/>
          </a:p>
          <a:p>
            <a:r>
              <a:rPr lang="en-US" sz="1200" dirty="0"/>
              <a:t>Node.js — node --version. Needed for the I/O CLI on the next slide and for ui.frontend builds.</a:t>
            </a:r>
          </a:p>
          <a:p>
            <a:endParaRPr lang="en-US"/>
          </a:p>
          <a:p>
            <a:r>
              <a:rPr lang="en-US" sz="1200" dirty="0"/>
              <a:t>Git — straightforward, but confirm everyone has it. AEM projects live in Git.</a:t>
            </a:r>
          </a:p>
          <a:p>
            <a:endParaRPr lang="en-US"/>
          </a:p>
          <a:p>
            <a:r>
              <a:rPr lang="en-US" sz="1200" dirty="0"/>
              <a:t>Common gotcha on macOS: multiple JDKs installed via brew. Use jenv or set JAVA_HOME explicitly. On Windows, set the env var via System Properties.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aio CLI is the bridge between your laptop and Adobe cloud services.</a:t>
            </a:r>
          </a:p>
          <a:p>
            <a:endParaRPr lang="en-US"/>
          </a:p>
          <a:p>
            <a:r>
              <a:rPr lang="en-US" sz="1200" dirty="0"/>
              <a:t>Install once globally: npm install -g @adobe/aio-cli. Then add the plugins you need:</a:t>
            </a:r>
          </a:p>
          <a:p>
            <a:r>
              <a:rPr lang="en-US" sz="1200" dirty="0"/>
              <a:t>— Cloud Manager plugin: pipeline triggers, environment status from CLI.</a:t>
            </a:r>
          </a:p>
          <a:p>
            <a:r>
              <a:rPr lang="en-US" sz="1200" dirty="0"/>
              <a:t>— RDE (Rapid Development Environment) plugin: push code to a cloud RDE instance in seconds.</a:t>
            </a:r>
          </a:p>
          <a:p>
            <a:r>
              <a:rPr lang="en-US" sz="1200" dirty="0"/>
              <a:t>— Asset Compute plugin: only relevant if working on custom asset workers.</a:t>
            </a:r>
          </a:p>
          <a:p>
            <a:endParaRPr lang="en-US"/>
          </a:p>
          <a:p>
            <a:r>
              <a:rPr lang="en-US" sz="1200" dirty="0"/>
              <a:t>CRITICAL EXAM POINT — Authentication changed January 2025: JWT is removed. The only supported method is OAuth Server-to-Server, configured in the Adobe Developer Console.</a:t>
            </a:r>
          </a:p>
          <a:p>
            <a:endParaRPr lang="en-US"/>
          </a:p>
          <a:p>
            <a:r>
              <a:rPr lang="en-US" sz="1200" dirty="0"/>
              <a:t>If anyone has older docs or scripts using JWT, those need to be migrated. Configure credentials with: aio config set ims.contexts.&lt;context-name&gt;.</a:t>
            </a:r>
          </a:p>
          <a:p>
            <a:endParaRPr lang="en-US"/>
          </a:p>
          <a:p>
            <a:r>
              <a:rPr lang="en-US" sz="1200" dirty="0"/>
              <a:t>Demo idea: run "aio --version" and "aio cloudmanager list-programs" to show it works.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Adobe recommends a specific layout. Sticking to it pays off when you're juggling multiple SDK versions or AEM projects.</a:t>
            </a:r>
          </a:p>
          <a:p>
            <a:endParaRPr lang="en-US"/>
          </a:p>
          <a:p>
            <a:r>
              <a:rPr lang="en-US" sz="1200" dirty="0"/>
              <a:t>Two roots:</a:t>
            </a:r>
          </a:p>
          <a:p>
            <a:r>
              <a:rPr lang="en-US" sz="1200" dirty="0"/>
              <a:t>— ~/aem-sdk/ holds the runtime — author/, publish/, dispatcher/. Each is a separate folder with its own JAR or extracted SDK.</a:t>
            </a:r>
          </a:p>
          <a:p>
            <a:r>
              <a:rPr lang="en-US" sz="1200" dirty="0"/>
              <a:t>— ~/code/&lt;project-name&gt;/ is your Maven workspace. Each customer or product gets its own folder.</a:t>
            </a:r>
          </a:p>
          <a:p>
            <a:endParaRPr lang="en-US"/>
          </a:p>
          <a:p>
            <a:r>
              <a:rPr lang="en-US" sz="1200" dirty="0"/>
              <a:t>Why it matters: keeps runtime separate from code. You can blow away ~/aem-sdk/author and reinstall without touching your project. You can have multiple SDK versions side by side.</a:t>
            </a:r>
          </a:p>
          <a:p>
            <a:endParaRPr lang="en-US"/>
          </a:p>
          <a:p>
            <a:r>
              <a:rPr lang="en-US" sz="1200" dirty="0"/>
              <a:t>Windows note: ~ maps to %HOMEPATH% (typically C:\Users\&lt;you&gt;). Use forward slashes in scripts when possible.</a:t>
            </a:r>
          </a:p>
          <a:p>
            <a:endParaRPr lang="en-US"/>
          </a:p>
          <a:p>
            <a:r>
              <a:rPr lang="en-US" sz="1200" dirty="0"/>
              <a:t>Pro tip: keep a backup of a clean crx-quickstart folder so you can restore quickly without re-running the JAR setup.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QuickStart Jar is a self-contained AEM instance — everything in one file. Download it from Adobe Software Distribution (software.adobe.com).</a:t>
            </a:r>
          </a:p>
          <a:p>
            <a:endParaRPr lang="en-US"/>
          </a:p>
          <a:p>
            <a:r>
              <a:rPr lang="en-US" sz="1200" dirty="0"/>
              <a:t>Two cardinal rules — repeat them, they map to common questions on the exam:</a:t>
            </a:r>
          </a:p>
          <a:p>
            <a:endParaRPr lang="en-US"/>
          </a:p>
          <a:p>
            <a:r>
              <a:rPr lang="en-US" sz="1200" dirty="0"/>
              <a:t>1) NEVER double-click the JAR. On macOS this opens it with the wrong Java; on Windows it opens with system Java. Either way you get cryptic startup errors.</a:t>
            </a:r>
          </a:p>
          <a:p>
            <a:endParaRPr lang="en-US"/>
          </a:p>
          <a:p>
            <a:r>
              <a:rPr lang="en-US" sz="1200" dirty="0"/>
              <a:t>2) ALWAYS start from the command line: java -jar aem-author-p4502.jar. This way Java picks up your terminal's JAVA_HOME and the JAR can read its own filename.</a:t>
            </a:r>
          </a:p>
          <a:p>
            <a:endParaRPr lang="en-US"/>
          </a:p>
          <a:p>
            <a:r>
              <a:rPr lang="en-US" sz="1200" dirty="0"/>
              <a:t>Ports: 4502 is Author by convention, 4503 is Publish. Use the same convention everywhere on the team — it makes scripts and docs portable.</a:t>
            </a:r>
          </a:p>
          <a:p>
            <a:endParaRPr lang="en-US"/>
          </a:p>
          <a:p>
            <a:r>
              <a:rPr lang="en-US" sz="1200" dirty="0"/>
              <a:t>First boot takes a few minutes; subsequent boots are faster. Watch crx-quickstart/logs/error.log if it stalls.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This is a near-certain exam question. The JAR filename actually drives configuration.</a:t>
            </a:r>
          </a:p>
          <a:p>
            <a:endParaRPr lang="en-US"/>
          </a:p>
          <a:p>
            <a:r>
              <a:rPr lang="en-US" sz="1200" dirty="0"/>
              <a:t>Pattern: aem-&lt;tier&gt;_&lt;environment&gt;-p&lt;port&gt;.jar</a:t>
            </a:r>
          </a:p>
          <a:p>
            <a:r>
              <a:rPr lang="en-US" sz="1200" dirty="0"/>
              <a:t>— tier: author or publish</a:t>
            </a:r>
          </a:p>
          <a:p>
            <a:r>
              <a:rPr lang="en-US" sz="1200" dirty="0"/>
              <a:t>— environment: dev (default if omitted), stage, prod</a:t>
            </a:r>
          </a:p>
          <a:p>
            <a:r>
              <a:rPr lang="en-US" sz="1200" dirty="0"/>
              <a:t>— port: matches the port AEM listens on</a:t>
            </a:r>
          </a:p>
          <a:p>
            <a:endParaRPr lang="en-US"/>
          </a:p>
          <a:p>
            <a:r>
              <a:rPr lang="en-US" sz="1200" dirty="0"/>
              <a:t>Examples to walk through:</a:t>
            </a:r>
          </a:p>
          <a:p>
            <a:r>
              <a:rPr lang="en-US" sz="1200" dirty="0"/>
              <a:t>• aem-author-p4502.jar → Author, dev mode (default), port 4502</a:t>
            </a:r>
          </a:p>
          <a:p>
            <a:r>
              <a:rPr lang="en-US" sz="1200" dirty="0"/>
              <a:t>• aem-publish-p4503.jar → Publish, dev mode, port 4503</a:t>
            </a:r>
          </a:p>
          <a:p>
            <a:r>
              <a:rPr lang="en-US" sz="1200" dirty="0"/>
              <a:t>• aem-author_prod-p4502.jar → Author, prod run mode → loads OSGi configs in /apps/.../config.prod</a:t>
            </a:r>
          </a:p>
          <a:p>
            <a:endParaRPr lang="en-US"/>
          </a:p>
          <a:p>
            <a:r>
              <a:rPr lang="en-US" sz="1200" dirty="0"/>
              <a:t>KEY RULE: tier locks on first startup. Once you start the JAR, it commits to author or publish. You cannot rename and re-run to change tier.</a:t>
            </a:r>
          </a:p>
          <a:p>
            <a:endParaRPr lang="en-US"/>
          </a:p>
          <a:p>
            <a:r>
              <a:rPr lang="en-US" sz="1200" dirty="0"/>
              <a:t>To change tier you must DELETE crx-quickstart/ and start fresh. That nukes content too — back up first.</a:t>
            </a:r>
          </a:p>
          <a:p>
            <a:endParaRPr lang="en-US"/>
          </a:p>
          <a:p>
            <a:r>
              <a:rPr lang="en-US" sz="1200" dirty="0"/>
              <a:t>Run modes are useful for testing environment-specific OSGi configs locally.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In production, AEM as a Cloud Service uses the Adobe Pipeline — a managed microservice that ships content from Author to Publish. You don't see it, you don't configure it.</a:t>
            </a:r>
          </a:p>
          <a:p>
            <a:endParaRPr lang="en-US"/>
          </a:p>
          <a:p>
            <a:r>
              <a:rPr lang="en-US" sz="1200" dirty="0"/>
              <a:t>Locally that microservice doesn't exist. So Adobe lets you fall back to LEGACY REPLICATION AGENTS — the on-premise mechanism that's been around forever.</a:t>
            </a:r>
          </a:p>
          <a:p>
            <a:endParaRPr lang="en-US"/>
          </a:p>
          <a:p>
            <a:r>
              <a:rPr lang="en-US" sz="1200" dirty="0"/>
              <a:t>Setup walkthrough:</a:t>
            </a:r>
          </a:p>
          <a:p>
            <a:r>
              <a:rPr lang="en-US" sz="1200" dirty="0"/>
              <a:t>1) Open Author at http://localhost:4502</a:t>
            </a:r>
          </a:p>
          <a:p>
            <a:r>
              <a:rPr lang="en-US" sz="1200" dirty="0"/>
              <a:t>2) Navigate to /etc/replication/agents.author.html (older URL, intentional)</a:t>
            </a:r>
          </a:p>
          <a:p>
            <a:r>
              <a:rPr lang="en-US" sz="1200" dirty="0"/>
              <a:t>3) Open the "Default Agent" → edit</a:t>
            </a:r>
          </a:p>
          <a:p>
            <a:r>
              <a:rPr lang="en-US" sz="1200" dirty="0"/>
              <a:t>4) Set transport URI to http://localhost:4503/bin/receive?sling:authRequestLogin=1</a:t>
            </a:r>
          </a:p>
          <a:p>
            <a:r>
              <a:rPr lang="en-US" sz="1200" dirty="0"/>
              <a:t>5) Enable the agent → save → test connection</a:t>
            </a:r>
          </a:p>
          <a:p>
            <a:endParaRPr lang="en-US"/>
          </a:p>
          <a:p>
            <a:r>
              <a:rPr lang="en-US" sz="1200" dirty="0"/>
              <a:t>After this, anything you Activate in Author (right-click page → Quick Publish) replicates to Publish.</a:t>
            </a:r>
          </a:p>
          <a:p>
            <a:endParaRPr lang="en-US"/>
          </a:p>
          <a:p>
            <a:r>
              <a:rPr lang="en-US" sz="1200" dirty="0"/>
              <a:t>Important caveat: this is a LOCAL-ONLY simulation. Don't expect cloud RDE or production to behave the same way — those use the Pipeline.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The Dispatcher is the caching + security layer in front of Publish. Locally Adobe ships it as Docker — Apache HTTP Server with the Dispatcher module pre-installed in a container.</a:t>
            </a:r>
          </a:p>
          <a:p>
            <a:endParaRPr lang="en-US"/>
          </a:p>
          <a:p>
            <a:r>
              <a:rPr lang="en-US" sz="1200" dirty="0"/>
              <a:t>Prerequisite: Docker Desktop running.</a:t>
            </a:r>
          </a:p>
          <a:p>
            <a:endParaRPr lang="en-US"/>
          </a:p>
          <a:p>
            <a:r>
              <a:rPr lang="en-US" sz="1200" dirty="0"/>
              <a:t>Two scripts you'll use constantly:</a:t>
            </a:r>
          </a:p>
          <a:p>
            <a:endParaRPr lang="en-US"/>
          </a:p>
          <a:p>
            <a:r>
              <a:rPr lang="en-US" sz="1200" dirty="0"/>
              <a:t>START (hot reload):</a:t>
            </a:r>
          </a:p>
          <a:p>
            <a:r>
              <a:rPr lang="en-US" sz="1200" dirty="0"/>
              <a:t>./bin/docker_run_hot_reload.sh ./src localhost:4503 8080</a:t>
            </a:r>
          </a:p>
          <a:p>
            <a:r>
              <a:rPr lang="en-US" sz="1200" dirty="0"/>
              <a:t>— ./src points at your dispatcher config folder</a:t>
            </a:r>
          </a:p>
          <a:p>
            <a:r>
              <a:rPr lang="en-US" sz="1200" dirty="0"/>
              <a:t>— localhost:4503 is the Publish backend</a:t>
            </a:r>
          </a:p>
          <a:p>
            <a:r>
              <a:rPr lang="en-US" sz="1200" dirty="0"/>
              <a:t>— 8080 is the public port the Dispatcher listens on</a:t>
            </a:r>
          </a:p>
          <a:p>
            <a:r>
              <a:rPr lang="en-US" sz="1200" dirty="0"/>
              <a:t>— hot-reload variant means edits to .vhost or .farm files apply without container restart</a:t>
            </a:r>
          </a:p>
          <a:p>
            <a:endParaRPr lang="en-US"/>
          </a:p>
          <a:p>
            <a:r>
              <a:rPr lang="en-US" sz="1200" dirty="0"/>
              <a:t>VALIDATE:</a:t>
            </a:r>
          </a:p>
          <a:p>
            <a:r>
              <a:rPr lang="en-US" sz="1200" dirty="0"/>
              <a:t>./bin/validate ./src</a:t>
            </a:r>
          </a:p>
          <a:p>
            <a:r>
              <a:rPr lang="en-US" sz="1200" dirty="0"/>
              <a:t>— Lints your Apache + Dispatcher config</a:t>
            </a:r>
          </a:p>
          <a:p>
            <a:r>
              <a:rPr lang="en-US" sz="1200" dirty="0"/>
              <a:t>— Run before committing or before pushing to Cloud Manager</a:t>
            </a:r>
          </a:p>
          <a:p>
            <a:r>
              <a:rPr lang="en-US" sz="1200" dirty="0"/>
              <a:t>— CI pipelines run this too — failing locally first saves time</a:t>
            </a:r>
          </a:p>
          <a:p>
            <a:endParaRPr lang="en-US"/>
          </a:p>
          <a:p>
            <a:r>
              <a:rPr lang="en-US" sz="1200" dirty="0"/>
              <a:t>After it's running, browse http://localhost:8080 to hit Publish through the Dispatcher.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This is the foundational concept of AEM as a Cloud Service. Burn it in.</a:t>
            </a:r>
          </a:p>
          <a:p>
            <a:endParaRPr lang="en-US"/>
          </a:p>
          <a:p>
            <a:r>
              <a:rPr lang="en-US" sz="1200" dirty="0"/>
              <a:t>IMMUTABLE areas — sealed at runtime, only changed via deployment:</a:t>
            </a:r>
          </a:p>
          <a:p>
            <a:r>
              <a:rPr lang="en-US" sz="1200" dirty="0"/>
              <a:t>— /apps → all your custom code: components, scripts, clientlibs</a:t>
            </a:r>
          </a:p>
          <a:p>
            <a:r>
              <a:rPr lang="en-US" sz="1200" dirty="0"/>
              <a:t>— /libs → the AEM platform itself. Read-only. Never write here. Override in /apps if you need to customize platform behavior.</a:t>
            </a:r>
          </a:p>
          <a:p>
            <a:endParaRPr lang="en-US"/>
          </a:p>
          <a:p>
            <a:r>
              <a:rPr lang="en-US" sz="1200" dirty="0"/>
              <a:t>MUTABLE areas — change at runtime, via authoring or APIs:</a:t>
            </a:r>
          </a:p>
          <a:p>
            <a:r>
              <a:rPr lang="en-US" sz="1200" dirty="0"/>
              <a:t>— /content → pages, experience fragments, assets references</a:t>
            </a:r>
          </a:p>
          <a:p>
            <a:r>
              <a:rPr lang="en-US" sz="1200" dirty="0"/>
              <a:t>— /conf → editable templates, policies, config</a:t>
            </a:r>
          </a:p>
          <a:p>
            <a:r>
              <a:rPr lang="en-US" sz="1200" dirty="0"/>
              <a:t>— /var → runtime data, caches, audit logs</a:t>
            </a:r>
          </a:p>
          <a:p>
            <a:r>
              <a:rPr lang="en-US" sz="1200" dirty="0"/>
              <a:t>— /etc → legacy configs (replication agents live here)</a:t>
            </a:r>
          </a:p>
          <a:p>
            <a:endParaRPr lang="en-US"/>
          </a:p>
          <a:p>
            <a:r>
              <a:rPr lang="en-US" sz="1200" dirty="0"/>
              <a:t>Why this matters: at deploy time, immutable areas are wiped and replaced. Mutable areas are preserved. If you accidentally put content under /apps it disappears on next deploy.</a:t>
            </a:r>
          </a:p>
          <a:p>
            <a:endParaRPr lang="en-US"/>
          </a:p>
          <a:p>
            <a:r>
              <a:rPr lang="en-US" sz="1200" dirty="0"/>
              <a:t>Each Maven module targets one of these areas. That's the next slide.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Each Maven module has a single, clear job. Tie this directly back to the previous slide on mutable vs immutable.</a:t>
            </a:r>
          </a:p>
          <a:p>
            <a:endParaRPr lang="en-US"/>
          </a:p>
          <a:p>
            <a:r>
              <a:rPr lang="en-US" sz="1200" dirty="0"/>
              <a:t>— core: Java OSGi bundle. Sling Models, services, servlets. Compiles to a JAR.</a:t>
            </a:r>
          </a:p>
          <a:p>
            <a:r>
              <a:rPr lang="en-US" sz="1200" dirty="0"/>
              <a:t>— ui.apps: package type "application", deploys to /apps. Components, HTL templates, clientlibs.</a:t>
            </a:r>
          </a:p>
          <a:p>
            <a:r>
              <a:rPr lang="en-US" sz="1200" dirty="0"/>
              <a:t>— ui.content: package type "content", deploys to /content and /conf. Sample pages, default templates.</a:t>
            </a:r>
          </a:p>
          <a:p>
            <a:r>
              <a:rPr lang="en-US" sz="1200" dirty="0"/>
              <a:t>— ui.config: OSGi configurations + Repo Init scripts. Run-mode-scoped via folder names like /apps/.../config.publish.</a:t>
            </a:r>
          </a:p>
          <a:p>
            <a:r>
              <a:rPr lang="en-US" sz="1200" dirty="0"/>
              <a:t>— all: package type "container". This is the only artifact Cloud Manager actually deploys. It embeds every other module.</a:t>
            </a:r>
          </a:p>
          <a:p>
            <a:endParaRPr lang="en-US"/>
          </a:p>
          <a:p>
            <a:r>
              <a:rPr lang="en-US" sz="1200" dirty="0"/>
              <a:t>THE GOLDEN RULE: every module except "all" must set &lt;cloudManagerTarget&gt;none&lt;/cloudManagerTarget&gt; in its pom.xml. If you forget this, Cloud Manager tries to deploy each one separately and the build fails.</a:t>
            </a:r>
          </a:p>
          <a:p>
            <a:endParaRPr lang="en-US"/>
          </a:p>
          <a:p>
            <a:r>
              <a:rPr lang="en-US" sz="1200" dirty="0"/>
              <a:t>Mental model: all = single shipping container. Everything else gets packed inside it.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Repo Init solves a real problem: how do you guarantee certain JCR structures exist before any code runs?</a:t>
            </a:r>
          </a:p>
          <a:p>
            <a:endParaRPr lang="en-US"/>
          </a:p>
          <a:p>
            <a:r>
              <a:rPr lang="en-US" sz="1200" dirty="0"/>
              <a:t>Old way: Sling Provisioning, package installs, manual setup. Fragile.</a:t>
            </a:r>
          </a:p>
          <a:p>
            <a:endParaRPr lang="en-US"/>
          </a:p>
          <a:p>
            <a:r>
              <a:rPr lang="en-US" sz="1200" dirty="0"/>
              <a:t>New way: Repo Init scripts run early in the deployment lifecycle, BEFORE any application code. Use them for:</a:t>
            </a:r>
          </a:p>
          <a:p>
            <a:r>
              <a:rPr lang="en-US" sz="1200" dirty="0"/>
              <a:t>— Folder structures (create paths under /content, /conf)</a:t>
            </a:r>
          </a:p>
          <a:p>
            <a:r>
              <a:rPr lang="en-US" sz="1200" dirty="0"/>
              <a:t>— Service users (createServiceUser, set ACLs)</a:t>
            </a:r>
          </a:p>
          <a:p>
            <a:r>
              <a:rPr lang="en-US" sz="1200" dirty="0"/>
              <a:t>— Groups (createGroup, addToGroup)</a:t>
            </a:r>
          </a:p>
          <a:p>
            <a:r>
              <a:rPr lang="en-US" sz="1200" dirty="0"/>
              <a:t>— ACL permissions (allow / deny rules on paths)</a:t>
            </a:r>
          </a:p>
          <a:p>
            <a:endParaRPr lang="en-US"/>
          </a:p>
          <a:p>
            <a:r>
              <a:rPr lang="en-US" sz="1200" dirty="0"/>
              <a:t>They live in ui.config, scoped by run mode — so dev, stage, prod can each have different bootstrap rules.</a:t>
            </a:r>
          </a:p>
          <a:p>
            <a:endParaRPr lang="en-US"/>
          </a:p>
          <a:p>
            <a:r>
              <a:rPr lang="en-US" sz="1200" dirty="0"/>
              <a:t>Repo Init is declarative and idempotent — running twice produces the same result.</a:t>
            </a:r>
          </a:p>
          <a:p>
            <a:endParaRPr lang="en-US"/>
          </a:p>
          <a:p>
            <a:r>
              <a:rPr lang="en-US" sz="1200" dirty="0"/>
              <a:t>AEM PROJECT ARCHETYPE: don't hand-build a project. Always start from the archetype. Current version: 56. Run mvn archetype:generate with the AEM archetype catalog and answer the prompts. You get all the modules wired correctly out of the box.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When something doesn't work, follow this sequence top-down. Don't skip steps.</a:t>
            </a:r>
          </a:p>
          <a:p>
            <a:endParaRPr lang="en-US"/>
          </a:p>
          <a:p>
            <a:r>
              <a:rPr lang="en-US" sz="1200" dirty="0"/>
              <a:t>1) PACKAGE MANAGER (/crx/packmgr) — was the package installed at all? Build status, install status, errors. If the package never installed, nothing else matters.</a:t>
            </a:r>
          </a:p>
          <a:p>
            <a:endParaRPr lang="en-US"/>
          </a:p>
          <a:p>
            <a:r>
              <a:rPr lang="en-US" sz="1200" dirty="0"/>
              <a:t>2) CRXDE LITE (/crx/de) — is the file actually in the JCR? Did your component land at /apps/&lt;your-project&gt;/components? Are properties what you expect?</a:t>
            </a:r>
          </a:p>
          <a:p>
            <a:endParaRPr lang="en-US"/>
          </a:p>
          <a:p>
            <a:r>
              <a:rPr lang="en-US" sz="1200" dirty="0"/>
              <a:t>3) BUNDLE CONSOLE (/system/console/bundles) — is your OSGi bundle Active? If it's "Installed" or "Resolved" but not Active, you have unresolved dependencies. Click the bundle for details.</a:t>
            </a:r>
          </a:p>
          <a:p>
            <a:endParaRPr lang="en-US"/>
          </a:p>
          <a:p>
            <a:r>
              <a:rPr lang="en-US" sz="1200" dirty="0"/>
              <a:t>4) ERROR.LOG — at crx-quickstart/logs/error.log. AEM logs everything. tail -f it during dev. Most stack traces tell you exactly what's wrong.</a:t>
            </a:r>
          </a:p>
          <a:p>
            <a:endParaRPr lang="en-US"/>
          </a:p>
          <a:p>
            <a:r>
              <a:rPr lang="en-US" sz="1200" dirty="0"/>
              <a:t>5) CLIENTLIB DUMP (/libs/granite/ui/content/dumplibs.html) — for front-end issues, this shows what JS/CSS got merged into each clientlib category.</a:t>
            </a:r>
          </a:p>
          <a:p>
            <a:endParaRPr lang="en-US"/>
          </a:p>
          <a:p>
            <a:r>
              <a:rPr lang="en-US" sz="1200" dirty="0"/>
              <a:t>CALL OUT THE TWO MOST COMMON ROOKIE ERRORS:</a:t>
            </a:r>
          </a:p>
          <a:p>
            <a:r>
              <a:rPr lang="en-US" sz="1200" dirty="0"/>
              <a:t>— Wrong Java version (not 21)</a:t>
            </a:r>
          </a:p>
          <a:p>
            <a:r>
              <a:rPr lang="en-US" sz="1200" dirty="0"/>
              <a:t>— Double-clicking the JAR</a:t>
            </a:r>
          </a:p>
          <a:p>
            <a:endParaRPr lang="en-US"/>
          </a:p>
          <a:p>
            <a:r>
              <a:rPr lang="en-US" sz="1200" dirty="0"/>
              <a:t>Save everyone hours by repeating these.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Wrap up by reinforcing the four exam-critical concepts. These come up directly on the certification.</a:t>
            </a:r>
          </a:p>
          <a:p>
            <a:endParaRPr lang="en-US"/>
          </a:p>
          <a:p>
            <a:r>
              <a:rPr lang="en-US" sz="1200" dirty="0"/>
              <a:t>1) JAR NAMING — aem-&lt;tier&gt;_&lt;env&gt;-p&lt;port&gt;.jar. Tier locks on first run. Always start from CLI, never double-click.</a:t>
            </a:r>
          </a:p>
          <a:p>
            <a:endParaRPr lang="en-US"/>
          </a:p>
          <a:p>
            <a:r>
              <a:rPr lang="en-US" sz="1200" dirty="0"/>
              <a:t>2) MUTABLE vs IMMUTABLE — /apps + /libs are sealed. /content + /conf + /var + /etc change at runtime. Code goes in immutable; content goes in mutable.</a:t>
            </a:r>
          </a:p>
          <a:p>
            <a:endParaRPr lang="en-US"/>
          </a:p>
          <a:p>
            <a:r>
              <a:rPr lang="en-US" sz="1200" dirty="0"/>
              <a:t>3) MAVEN MODULES — each one targets a specific area. core (OSGi), ui.apps (application → /apps), ui.content (content → /content + /conf), ui.config (OSGi + Repo Init), all (container).</a:t>
            </a:r>
          </a:p>
          <a:p>
            <a:endParaRPr lang="en-US"/>
          </a:p>
          <a:p>
            <a:r>
              <a:rPr lang="en-US" sz="1200" dirty="0"/>
              <a:t>4) THE "ALL" PACKAGE — the only artifact Cloud Manager deploys. Every other module sets cloudManagerTarget=none.</a:t>
            </a:r>
          </a:p>
          <a:p>
            <a:endParaRPr lang="en-US"/>
          </a:p>
          <a:p>
            <a:r>
              <a:rPr lang="en-US" sz="1200" dirty="0"/>
              <a:t>CLOSING ASK: by next session, every dev should have:</a:t>
            </a:r>
          </a:p>
          <a:p>
            <a:r>
              <a:rPr lang="en-US" sz="1200" dirty="0"/>
              <a:t>— A running Author + Publish locally</a:t>
            </a:r>
          </a:p>
          <a:p>
            <a:r>
              <a:rPr lang="en-US" sz="1200" dirty="0"/>
              <a:t>— A working Dispatcher container</a:t>
            </a:r>
          </a:p>
          <a:p>
            <a:r>
              <a:rPr lang="en-US" sz="1200" dirty="0"/>
              <a:t>— A project generated from Archetype 56 that builds with mvn clean install -PautoInstallSinglePackage</a:t>
            </a:r>
          </a:p>
          <a:p>
            <a:endParaRPr lang="en-US"/>
          </a:p>
          <a:p>
            <a:r>
              <a:rPr lang="en-US" sz="1200" dirty="0"/>
              <a:t>Q&amp;A. Then move to hands-on lab.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61C5B-2F44-FE4B-934A-19658FC74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BDA627-231E-FEE5-9995-B6F8FE0EB2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F1332-A3F4-F5BB-060A-68757BCA7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27E5-B334-4EF8-9FFB-4E87B4445EA4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A67DE-8DF1-18A8-2364-17F0ECB3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C7AE1-F391-4331-3954-2D870370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0F2E7-FA23-41EA-8C77-F2ED928B1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6292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C96D-4AF7-10D2-1391-DB579D2BF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6849E-FCD4-57AC-82E7-4366C4071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5F03B-2A3B-9774-7520-414A008B6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27E5-B334-4EF8-9FFB-4E87B4445EA4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0CA4B-DE89-D8FE-C2FB-03A51BE94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348E5-C170-E022-91CA-4A12F763A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0F2E7-FA23-41EA-8C77-F2ED928B1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45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0295F-7B44-5161-A429-3246C3C30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9E44C-C9A3-4E98-3047-53DCE0158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16DB6F-8D70-FBB5-D35E-38EB41B9C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27E5-B334-4EF8-9FFB-4E87B4445EA4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A1516-354A-16E4-A4DC-E2794BEF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5F5CC-41A2-FE00-552B-ECA99FEF6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0F2E7-FA23-41EA-8C77-F2ED928B1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51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60E8D-F951-71FA-9FF3-2C1152D4F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F4BC5-08FE-DCB3-5797-DF9531285E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15392-A502-C5B5-23A6-BEC1B40DE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7E3FA-1A63-B520-4DA0-6E130AA7E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27E5-B334-4EF8-9FFB-4E87B4445EA4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BDACD-2B15-11BB-6797-D8A3D3173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2B362-3710-EC8E-7323-DC7133823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0F2E7-FA23-41EA-8C77-F2ED928B1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2510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553CE-D836-1588-BB52-0CC223A0F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ED2B5-9E03-7F1A-C200-F6A492368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498B1-FD04-86BD-F56B-B3D75A247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25FA62-F948-E327-A07C-99AFF0FC69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DCF63-390F-A698-EBC6-2631C1637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1B5AD1-D63E-B429-F25A-2F8EE0CF2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27E5-B334-4EF8-9FFB-4E87B4445EA4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3BE6C5-8640-ABE0-1D27-4E149F1F8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087C55-4F58-2CAC-00CA-9422AA4F7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0F2E7-FA23-41EA-8C77-F2ED928B1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274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33E01-DAB3-3D55-9A0F-8AB337E33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E4B6C-999D-78DF-C6F6-363F22F4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27E5-B334-4EF8-9FFB-4E87B4445EA4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8FD2B-4C6D-240F-E1B8-37EA63AA5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D33A4-1FAE-F3E8-5C5C-BAA81759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0F2E7-FA23-41EA-8C77-F2ED928B1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478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44C254-1C6D-6A6F-80C0-0FB862BF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27E5-B334-4EF8-9FFB-4E87B4445EA4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9D1ECB-C75E-3E9C-6AC2-E83A1E1B8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0A8EE-2FA6-E640-AED7-15CF039A7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0F2E7-FA23-41EA-8C77-F2ED928B1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310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E9955-396B-0691-A4A7-0FB8EA540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BA90A-1554-106C-81B6-0B39B885B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CA3C7B-8CEA-E573-9D21-6F16C042C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9CFED-A2B7-6868-A11F-A20A9E2D5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27E5-B334-4EF8-9FFB-4E87B4445EA4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D8C144-0A34-71AF-DE83-D57EE08A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4AEBA-ED50-F5ED-403C-E1623503C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0F2E7-FA23-41EA-8C77-F2ED928B1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623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80D79-8728-2C60-F179-1AEFB5382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69475-ABD4-1E97-B507-5EED0E9B81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922CA2-F293-495D-B9D0-4644F2AD8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6195F-D7F3-AF69-9BA9-DC51E8CF0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27E5-B334-4EF8-9FFB-4E87B4445EA4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DD324-4D91-4E1F-C8DC-F524BAAF1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ECF37-4F26-5082-FAFE-15ED5FEA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0F2E7-FA23-41EA-8C77-F2ED928B1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6439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64275-C86D-5581-E03A-8AECC6FC9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D7713D-7F82-8012-C6CE-62579C4A5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4E808-2393-FC17-957C-1113F6377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27E5-B334-4EF8-9FFB-4E87B4445EA4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14F8A-DA57-9C9A-00F4-C0DAEF6B7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F0DC9-FE03-F4B3-D4AE-64B3DABE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0F2E7-FA23-41EA-8C77-F2ED928B1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3661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666DE8-C8E3-CD20-0CF6-40AC879EA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FF602-A668-A704-78FD-2EB79BDB0D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83220-DE99-F6BD-DA0A-7F7F9DB8C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27E5-B334-4EF8-9FFB-4E87B4445EA4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55A88-4C03-D250-E7F3-09DCF16AA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7B8EB-F015-470C-57A0-ACCCDA522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0F2E7-FA23-41EA-8C77-F2ED928B1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628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489F5-C237-D70B-07FA-EBA8F4F2B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97898-8C0B-F6E2-C430-62C970A71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FA8BA-BF07-7539-2009-12E8CCDA32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127E5-B334-4EF8-9FFB-4E87B4445EA4}" type="datetimeFigureOut">
              <a:rPr lang="en-GB" smtClean="0"/>
              <a:t>02/05/2026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BA9F0-D63E-F6D3-05B7-3E631E5E8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3EBAD-8F1C-280E-76B5-8AEA19092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0F2E7-FA23-41EA-8C77-F2ED928B197A}" type="slidenum">
              <a:rPr lang="en-GB" smtClean="0"/>
              <a:t>‹#›</a:t>
            </a:fld>
            <a:endParaRPr lang="en-GB"/>
          </a:p>
        </p:txBody>
      </p:sp>
      <p:sp>
        <p:nvSpPr>
          <p:cNvPr id="900" name="AccentBar"/>
          <p:cNvSpPr/>
          <p:nvPr userDrawn="1"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7EE78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CornerDot"/>
          <p:cNvSpPr/>
          <p:nvPr userDrawn="1"/>
        </p:nvSpPr>
        <p:spPr>
          <a:xfrm>
            <a:off x="11430000" y="6515100"/>
            <a:ext cx="200025" cy="200025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2033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8ECE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9D1D9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9D1D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9D1D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9D1D9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12B4-AEDE-515A-8638-7F27679527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1600" b="1" dirty="0">
                <a:solidFill>
                  <a:srgbClr val="7EE787"/>
                </a:solidFill>
                <a:latin typeface="Consolas"/>
              </a:rPr>
              <a:t>// dev-onboarding</a:t>
            </a:r>
          </a:p>
          <a:p>
            <a:pPr algn="l">
              <a:buNone/>
            </a:pPr>
            <a:r>
              <a:rPr lang="en-US" sz="5400" b="1" dirty="0">
                <a:solidFill>
                  <a:srgbClr val="E8ECEF"/>
                </a:solidFill>
              </a:rPr>
              <a:t>AEM Environment</a:t>
            </a:r>
          </a:p>
          <a:p>
            <a:pPr algn="l">
              <a:buNone/>
            </a:pPr>
            <a:r>
              <a:rPr lang="en-US" sz="5400" b="1" dirty="0">
                <a:solidFill>
                  <a:srgbClr val="58A6FF"/>
                </a:solidFill>
              </a:rPr>
              <a:t>Setup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6B2B9A-2527-6CE0-F488-F918D28FF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2000" dirty="0">
                <a:solidFill>
                  <a:srgbClr val="8B949E"/>
                </a:solidFill>
              </a:rPr>
              <a:t>Local development for AEM as a Cloud Service</a:t>
            </a:r>
          </a:p>
          <a:p>
            <a:pPr algn="l">
              <a:buNone/>
            </a:pPr>
            <a:r>
              <a:rPr lang="en-US" sz="1600" dirty="0">
                <a:solidFill>
                  <a:srgbClr val="6E7681"/>
                </a:solidFill>
              </a:rPr>
              <a:t>Dev team onboarding  ·  14 sections</a:t>
            </a:r>
          </a:p>
        </p:txBody>
      </p:sp>
    </p:spTree>
    <p:extLst>
      <p:ext uri="{BB962C8B-B14F-4D97-AF65-F5344CB8AC3E}">
        <p14:creationId xmlns:p14="http://schemas.microsoft.com/office/powerpoint/2010/main" val="1476983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5AA09-BE67-8C78-2F78-C812F544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7EE787"/>
                </a:solidFill>
                <a:latin typeface="Consolas"/>
              </a:rPr>
              <a:t>01 / introduction</a:t>
            </a:r>
          </a:p>
          <a:p>
            <a:pPr>
              <a:buNone/>
            </a:pPr>
            <a:r>
              <a:rPr lang="en-US" sz="3600" b="1" dirty="0">
                <a:solidFill>
                  <a:srgbClr val="E8ECEF"/>
                </a:solidFill>
              </a:rPr>
              <a:t>Why Local First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9B590-DF9C-5100-B0A1-597ED8506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C9D1D9"/>
                </a:solidFill>
              </a:rPr>
              <a:t>You already know what AEM is, how Cloud Manager works, and the code quality standards.</a:t>
            </a:r>
          </a:p>
          <a:p>
            <a:pPr marL="0" indent="0">
              <a:buNone/>
            </a:pPr>
            <a:endParaRPr lang="en-US" sz="1000"/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58A6FF"/>
                </a:solidFill>
              </a:rPr>
              <a:t>Goal: </a:t>
            </a:r>
            <a:r>
              <a:rPr lang="en-US" sz="1800" dirty="0">
                <a:solidFill>
                  <a:srgbClr val="C9D1D9"/>
                </a:solidFill>
              </a:rPr>
              <a:t>develop, build and test AEM code on your own machine before pushing to the cloud.</a:t>
            </a:r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58A6FF"/>
                </a:solidFill>
              </a:rPr>
              <a:t>Validate: </a:t>
            </a:r>
            <a:r>
              <a:rPr lang="en-US" sz="1800" dirty="0">
                <a:solidFill>
                  <a:srgbClr val="C9D1D9"/>
                </a:solidFill>
              </a:rPr>
              <a:t>everything locally before it flows through Cloud Manager.</a:t>
            </a:r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58A6FF"/>
                </a:solidFill>
              </a:rPr>
              <a:t>Practical: </a:t>
            </a:r>
            <a:r>
              <a:rPr lang="en-US" sz="1800" dirty="0">
                <a:solidFill>
                  <a:srgbClr val="C9D1D9"/>
                </a:solidFill>
              </a:rPr>
              <a:t>one of the most hands-on lessons in the certification path.</a:t>
            </a:r>
          </a:p>
        </p:txBody>
      </p:sp>
    </p:spTree>
    <p:extLst>
      <p:ext uri="{BB962C8B-B14F-4D97-AF65-F5344CB8AC3E}">
        <p14:creationId xmlns:p14="http://schemas.microsoft.com/office/powerpoint/2010/main" val="4287299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FCF4-2048-5BB4-8942-1DC47476E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7EE787"/>
                </a:solidFill>
                <a:latin typeface="Consolas"/>
              </a:rPr>
              <a:t>02 / architecture</a:t>
            </a:r>
          </a:p>
          <a:p>
            <a:pPr>
              <a:buNone/>
            </a:pPr>
            <a:r>
              <a:rPr lang="en-US" sz="3600" b="1" dirty="0">
                <a:solidFill>
                  <a:srgbClr val="E8ECEF"/>
                </a:solidFill>
              </a:rPr>
              <a:t>The Three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4E9C1-2E5A-8303-4576-A53824B8C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</a:rPr>
              <a:t>A miniature version of what runs in the cloud, all on your laptop.</a:t>
            </a:r>
          </a:p>
          <a:p>
            <a:pPr marL="0" indent="0">
              <a:buNone/>
            </a:pPr>
            <a:endParaRPr lang="en-US" sz="1000"/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58A6FF"/>
                </a:solidFill>
              </a:rPr>
              <a:t>AEM Project </a:t>
            </a:r>
            <a:r>
              <a:rPr lang="en-US" sz="1800" dirty="0">
                <a:solidFill>
                  <a:srgbClr val="C9D1D9"/>
                </a:solidFill>
              </a:rPr>
              <a:t>— your custom code, configuration and content</a:t>
            </a:r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7EE787"/>
                </a:solidFill>
              </a:rPr>
              <a:t>Local AEM Runtime </a:t>
            </a:r>
            <a:r>
              <a:rPr lang="en-US" sz="1800" dirty="0">
                <a:solidFill>
                  <a:srgbClr val="C9D1D9"/>
                </a:solidFill>
              </a:rPr>
              <a:t>— local Author and Publish services</a:t>
            </a:r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FFA657"/>
                </a:solidFill>
              </a:rPr>
              <a:t>Local Dispatcher Runtime </a:t>
            </a:r>
            <a:r>
              <a:rPr lang="en-US" sz="1800" dirty="0">
                <a:solidFill>
                  <a:srgbClr val="C9D1D9"/>
                </a:solidFill>
              </a:rPr>
              <a:t>— Apache HTTP Server with the Dispatcher module</a:t>
            </a:r>
          </a:p>
        </p:txBody>
      </p:sp>
    </p:spTree>
    <p:extLst>
      <p:ext uri="{BB962C8B-B14F-4D97-AF65-F5344CB8AC3E}">
        <p14:creationId xmlns:p14="http://schemas.microsoft.com/office/powerpoint/2010/main" val="3024783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5CAC8-5BB7-D6A4-C86F-F46DC78A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7EE787"/>
                </a:solidFill>
                <a:latin typeface="Consolas"/>
              </a:rPr>
              <a:t>03 / toolchain</a:t>
            </a:r>
          </a:p>
          <a:p>
            <a:pPr>
              <a:buNone/>
            </a:pPr>
            <a:r>
              <a:rPr lang="en-US" sz="3600" b="1" dirty="0">
                <a:solidFill>
                  <a:srgbClr val="E8ECEF"/>
                </a:solidFill>
              </a:rPr>
              <a:t>Development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001F2-BDC9-04B2-5B23-DDA7AAFC2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</a:rPr>
              <a:t>Four core tools — verify each one with a version command after install.</a:t>
            </a:r>
          </a:p>
          <a:p>
            <a:pPr marL="0" indent="0">
              <a:buNone/>
            </a:pPr>
            <a:endParaRPr lang="en-US" sz="1000"/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58A6FF"/>
                </a:solidFill>
              </a:rPr>
              <a:t>Java JDK 21 </a:t>
            </a:r>
            <a:r>
              <a:rPr lang="en-US" sz="1800" dirty="0">
                <a:solidFill>
                  <a:srgbClr val="C9D1D9"/>
                </a:solidFill>
              </a:rPr>
              <a:t>— recommended version  →  </a:t>
            </a:r>
            <a:r>
              <a:rPr lang="en-US" sz="1600" dirty="0">
                <a:solidFill>
                  <a:srgbClr val="7EE787"/>
                </a:solidFill>
                <a:latin typeface="Consolas"/>
              </a:rPr>
              <a:t>java -version</a:t>
            </a:r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58A6FF"/>
                </a:solidFill>
              </a:rPr>
              <a:t>Apache Maven </a:t>
            </a:r>
            <a:r>
              <a:rPr lang="en-US" sz="1800" dirty="0">
                <a:solidFill>
                  <a:srgbClr val="C9D1D9"/>
                </a:solidFill>
              </a:rPr>
              <a:t>— build tool  →  </a:t>
            </a:r>
            <a:r>
              <a:rPr lang="en-US" sz="1600" dirty="0">
                <a:solidFill>
                  <a:srgbClr val="7EE787"/>
                </a:solidFill>
                <a:latin typeface="Consolas"/>
              </a:rPr>
              <a:t>mvn -v</a:t>
            </a:r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58A6FF"/>
                </a:solidFill>
              </a:rPr>
              <a:t>Node.js </a:t>
            </a:r>
            <a:r>
              <a:rPr lang="en-US" sz="1800" dirty="0">
                <a:solidFill>
                  <a:srgbClr val="C9D1D9"/>
                </a:solidFill>
              </a:rPr>
              <a:t>— front-end + Adobe I/O CLI  →  </a:t>
            </a:r>
            <a:r>
              <a:rPr lang="en-US" sz="1600" dirty="0">
                <a:solidFill>
                  <a:srgbClr val="7EE787"/>
                </a:solidFill>
                <a:latin typeface="Consolas"/>
              </a:rPr>
              <a:t>node --version</a:t>
            </a:r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58A6FF"/>
                </a:solidFill>
              </a:rPr>
              <a:t>Git </a:t>
            </a:r>
            <a:r>
              <a:rPr lang="en-US" sz="1800" dirty="0">
                <a:solidFill>
                  <a:srgbClr val="C9D1D9"/>
                </a:solidFill>
              </a:rPr>
              <a:t>— source control</a:t>
            </a:r>
          </a:p>
        </p:txBody>
      </p:sp>
    </p:spTree>
    <p:extLst>
      <p:ext uri="{BB962C8B-B14F-4D97-AF65-F5344CB8AC3E}">
        <p14:creationId xmlns:p14="http://schemas.microsoft.com/office/powerpoint/2010/main" val="1161694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36DE-F2A8-A926-B77D-94411B37A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7EE787"/>
                </a:solidFill>
                <a:latin typeface="Consolas"/>
              </a:rPr>
              <a:t>04 / cli</a:t>
            </a:r>
          </a:p>
          <a:p>
            <a:pPr>
              <a:buNone/>
            </a:pPr>
            <a:r>
              <a:rPr lang="en-US" sz="3600" b="1" dirty="0">
                <a:solidFill>
                  <a:srgbClr val="E8ECEF"/>
                </a:solidFill>
              </a:rPr>
              <a:t>Adobe I/O CLI (aio)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562CE-9724-E718-F8C2-1475B34F6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</a:rPr>
              <a:t>Command-line tool to interact with Adobe services. Installed as a global npm package: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7EE787"/>
                </a:solidFill>
                <a:latin typeface="Consolas"/>
              </a:rPr>
              <a:t>$ npm install -g @adobe/aio-cli</a:t>
            </a:r>
          </a:p>
          <a:p>
            <a:pPr marL="0" indent="0">
              <a:buNone/>
            </a:pPr>
            <a:endParaRPr lang="en-US" sz="1000"/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58A6FF"/>
                </a:solidFill>
              </a:rPr>
              <a:t>Cloud Manager </a:t>
            </a:r>
            <a:r>
              <a:rPr lang="en-US" sz="1800" dirty="0">
                <a:solidFill>
                  <a:srgbClr val="C9D1D9"/>
                </a:solidFill>
              </a:rPr>
              <a:t>plugin</a:t>
            </a:r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58A6FF"/>
                </a:solidFill>
              </a:rPr>
              <a:t>AEM Rapid Development Environment </a:t>
            </a:r>
            <a:r>
              <a:rPr lang="en-US" sz="1800" dirty="0">
                <a:solidFill>
                  <a:srgbClr val="C9D1D9"/>
                </a:solidFill>
              </a:rPr>
              <a:t>plugin</a:t>
            </a:r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58A6FF"/>
                </a:solidFill>
              </a:rPr>
              <a:t>Asset Compute </a:t>
            </a:r>
            <a:r>
              <a:rPr lang="en-US" sz="1800" dirty="0">
                <a:solidFill>
                  <a:srgbClr val="C9D1D9"/>
                </a:solidFill>
              </a:rPr>
              <a:t>plugin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600" b="1" dirty="0">
                <a:solidFill>
                  <a:srgbClr val="FF7B72"/>
                </a:solidFill>
              </a:rPr>
              <a:t>⚠ Heads up: </a:t>
            </a:r>
            <a:r>
              <a:rPr lang="en-US" sz="1600" dirty="0">
                <a:solidFill>
                  <a:srgbClr val="C9D1D9"/>
                </a:solidFill>
              </a:rPr>
              <a:t>JWT auth was removed in Jan 2025. Only OAuth Server-to-Server is supported now.</a:t>
            </a:r>
          </a:p>
        </p:txBody>
      </p:sp>
    </p:spTree>
    <p:extLst>
      <p:ext uri="{BB962C8B-B14F-4D97-AF65-F5344CB8AC3E}">
        <p14:creationId xmlns:p14="http://schemas.microsoft.com/office/powerpoint/2010/main" val="1289600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631C-F82F-5BED-DF9C-4F4F5FE9A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7EE787"/>
                </a:solidFill>
                <a:latin typeface="Consolas"/>
              </a:rPr>
              <a:t>05 / filesystem</a:t>
            </a:r>
          </a:p>
          <a:p>
            <a:pPr>
              <a:buNone/>
            </a:pPr>
            <a:r>
              <a:rPr lang="en-US" sz="3600" b="1" dirty="0">
                <a:solidFill>
                  <a:srgbClr val="E8ECEF"/>
                </a:solidFill>
              </a:rPr>
              <a:t>File System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EDEF3-03CF-6F16-995E-848175E1B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</a:rPr>
              <a:t>Adobe's recommended layout — keeps multiple SDK versions tidy.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2000" b="1" dirty="0">
                <a:solidFill>
                  <a:srgbClr val="58A6FF"/>
                </a:solidFill>
                <a:latin typeface="Consolas"/>
              </a:rPr>
              <a:t>~/aem-sdk/</a:t>
            </a:r>
          </a:p>
          <a:p>
            <a:pPr marL="457200" indent="0">
              <a:buNone/>
            </a:pPr>
            <a:r>
              <a:rPr lang="en-US" sz="1700" dirty="0">
                <a:solidFill>
                  <a:srgbClr val="C9D1D9"/>
                </a:solidFill>
                <a:latin typeface="Consolas"/>
              </a:rPr>
              <a:t>├── author/        </a:t>
            </a:r>
            <a:r>
              <a:rPr lang="en-US" sz="1500" i="1" dirty="0">
                <a:solidFill>
                  <a:srgbClr val="8B949E"/>
                </a:solidFill>
              </a:rPr>
              <a:t># local Author service</a:t>
            </a:r>
          </a:p>
          <a:p>
            <a:pPr marL="457200" indent="0">
              <a:buNone/>
            </a:pPr>
            <a:r>
              <a:rPr lang="en-US" sz="1700" dirty="0">
                <a:solidFill>
                  <a:srgbClr val="C9D1D9"/>
                </a:solidFill>
                <a:latin typeface="Consolas"/>
              </a:rPr>
              <a:t>├── publish/       </a:t>
            </a:r>
            <a:r>
              <a:rPr lang="en-US" sz="1500" i="1" dirty="0">
                <a:solidFill>
                  <a:srgbClr val="8B949E"/>
                </a:solidFill>
              </a:rPr>
              <a:t># local Publish service</a:t>
            </a:r>
          </a:p>
          <a:p>
            <a:pPr marL="457200" indent="0">
              <a:buNone/>
            </a:pPr>
            <a:r>
              <a:rPr lang="en-US" sz="1700" dirty="0">
                <a:solidFill>
                  <a:srgbClr val="C9D1D9"/>
                </a:solidFill>
                <a:latin typeface="Consolas"/>
              </a:rPr>
              <a:t>└── dispatcher/    </a:t>
            </a:r>
            <a:r>
              <a:rPr lang="en-US" sz="1500" i="1" dirty="0">
                <a:solidFill>
                  <a:srgbClr val="8B949E"/>
                </a:solidFill>
              </a:rPr>
              <a:t># local Dispatcher Tools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2000" b="1" dirty="0">
                <a:solidFill>
                  <a:srgbClr val="58A6FF"/>
                </a:solidFill>
                <a:latin typeface="Consolas"/>
              </a:rPr>
              <a:t>~/code/&lt;project-name&gt;/   </a:t>
            </a:r>
            <a:r>
              <a:rPr lang="en-US" sz="1500" i="1" dirty="0">
                <a:solidFill>
                  <a:srgbClr val="8B949E"/>
                </a:solidFill>
              </a:rPr>
              <a:t># your AEM Maven project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</a:rPr>
              <a:t>On Windows, </a:t>
            </a:r>
            <a:r>
              <a:rPr lang="en-US" sz="1500" dirty="0">
                <a:solidFill>
                  <a:srgbClr val="7EE787"/>
                </a:solidFill>
                <a:latin typeface="Consolas"/>
              </a:rPr>
              <a:t>~</a:t>
            </a:r>
            <a:r>
              <a:rPr lang="en-US" sz="1500" dirty="0">
                <a:solidFill>
                  <a:srgbClr val="8B949E"/>
                </a:solidFill>
              </a:rPr>
              <a:t> maps to </a:t>
            </a:r>
            <a:r>
              <a:rPr lang="en-US" sz="1500" dirty="0">
                <a:solidFill>
                  <a:srgbClr val="7EE787"/>
                </a:solidFill>
                <a:latin typeface="Consolas"/>
              </a:rPr>
              <a:t>%HOMEPATH%</a:t>
            </a:r>
            <a:r>
              <a:rPr lang="en-US" sz="1500" dirty="0">
                <a:solidFill>
                  <a:srgbClr val="8B949E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5113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ADC37-8AC0-927B-891F-636D40D99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7EE787"/>
                </a:solidFill>
                <a:latin typeface="Consolas"/>
              </a:rPr>
              <a:t>06 / runtime</a:t>
            </a:r>
          </a:p>
          <a:p>
            <a:pPr>
              <a:buNone/>
            </a:pPr>
            <a:r>
              <a:rPr lang="en-US" sz="3600" b="1" dirty="0">
                <a:solidFill>
                  <a:srgbClr val="E8ECEF"/>
                </a:solidFill>
              </a:rPr>
              <a:t>The QuickStart Jar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55F7E-C9F0-4D01-E695-7BD5CAE72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Self-contained JAR from </a:t>
            </a:r>
            <a:r>
              <a:rPr lang="en-US" sz="1800" b="1" dirty="0">
                <a:solidFill>
                  <a:srgbClr val="58A6FF"/>
                </a:solidFill>
              </a:rPr>
              <a:t>Adobe Software Distribution</a:t>
            </a:r>
            <a:r>
              <a:rPr lang="en-US" sz="1800" dirty="0">
                <a:solidFill>
                  <a:srgbClr val="C9D1D9"/>
                </a:solidFill>
              </a:rPr>
              <a:t> that runs a full AEM instance locally — Author or Publish.</a:t>
            </a:r>
          </a:p>
          <a:p>
            <a:pPr marL="0" indent="0">
              <a:buNone/>
            </a:pPr>
            <a:endParaRPr lang="en-US" sz="800"/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58A6FF"/>
                </a:solidFill>
              </a:rPr>
              <a:t>Author </a:t>
            </a:r>
            <a:r>
              <a:rPr lang="en-US" sz="1800" dirty="0">
                <a:solidFill>
                  <a:srgbClr val="C9D1D9"/>
                </a:solidFill>
              </a:rPr>
              <a:t>runs on port </a:t>
            </a:r>
            <a:r>
              <a:rPr lang="en-US" sz="1800" b="1" dirty="0">
                <a:solidFill>
                  <a:srgbClr val="7EE787"/>
                </a:solidFill>
                <a:latin typeface="Consolas"/>
              </a:rPr>
              <a:t>4502</a:t>
            </a:r>
          </a:p>
          <a:p>
            <a:pPr marL="457200" indent="-457200">
              <a:buFont typeface="Arial"/>
              <a:buChar char="▸"/>
            </a:pPr>
            <a:r>
              <a:rPr lang="en-US" sz="1800" b="1" dirty="0">
                <a:solidFill>
                  <a:srgbClr val="58A6FF"/>
                </a:solidFill>
              </a:rPr>
              <a:t>Publish </a:t>
            </a:r>
            <a:r>
              <a:rPr lang="en-US" sz="1800" dirty="0">
                <a:solidFill>
                  <a:srgbClr val="C9D1D9"/>
                </a:solidFill>
              </a:rPr>
              <a:t>runs on port </a:t>
            </a:r>
            <a:r>
              <a:rPr lang="en-US" sz="1800" b="1" dirty="0">
                <a:solidFill>
                  <a:srgbClr val="7EE787"/>
                </a:solidFill>
                <a:latin typeface="Consolas"/>
              </a:rPr>
              <a:t>4503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700" b="1" dirty="0">
                <a:solidFill>
                  <a:srgbClr val="FF7B72"/>
                </a:solidFill>
              </a:rPr>
              <a:t>✗ Never </a:t>
            </a:r>
            <a:r>
              <a:rPr lang="en-US" sz="1700" dirty="0">
                <a:solidFill>
                  <a:srgbClr val="C9D1D9"/>
                </a:solidFill>
              </a:rPr>
              <a:t>double-click the JAR — it must be started from the command line.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7EE787"/>
                </a:solidFill>
              </a:rPr>
              <a:t>✓ Always </a:t>
            </a:r>
            <a:r>
              <a:rPr lang="en-US" sz="1700" dirty="0">
                <a:solidFill>
                  <a:srgbClr val="C9D1D9"/>
                </a:solidFill>
              </a:rPr>
              <a:t>start with: </a:t>
            </a:r>
            <a:r>
              <a:rPr lang="en-US" sz="1700" dirty="0">
                <a:solidFill>
                  <a:srgbClr val="7EE787"/>
                </a:solidFill>
                <a:latin typeface="Consolas"/>
              </a:rPr>
              <a:t>java -jar aem-author-p4502.jar</a:t>
            </a:r>
          </a:p>
        </p:txBody>
      </p:sp>
    </p:spTree>
    <p:extLst>
      <p:ext uri="{BB962C8B-B14F-4D97-AF65-F5344CB8AC3E}">
        <p14:creationId xmlns:p14="http://schemas.microsoft.com/office/powerpoint/2010/main" val="905995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0BAE-B6B4-569C-6D38-BDC5C55ED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7EE787"/>
                </a:solidFill>
                <a:latin typeface="Consolas"/>
              </a:rPr>
              <a:t>07 / convention</a:t>
            </a:r>
          </a:p>
          <a:p>
            <a:pPr>
              <a:buNone/>
            </a:pPr>
            <a:r>
              <a:rPr lang="en-US" sz="3600" b="1" dirty="0">
                <a:solidFill>
                  <a:srgbClr val="E8ECEF"/>
                </a:solidFill>
              </a:rPr>
              <a:t>JAR Naming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C09F0-A836-8517-9C6A-868527ECC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</a:rPr>
              <a:t>The filename controls how AEM starts up.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2200" b="1" dirty="0">
                <a:solidFill>
                  <a:srgbClr val="58A6FF"/>
                </a:solidFill>
                <a:latin typeface="Consolas"/>
              </a:rPr>
              <a:t>aem-&lt;tier&gt;_&lt;environment&gt;-p&lt;port&gt;.jar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600" dirty="0">
                <a:solidFill>
                  <a:srgbClr val="7EE787"/>
                </a:solidFill>
                <a:latin typeface="Consolas"/>
              </a:rPr>
              <a:t>aem-author-p4502.jar          </a:t>
            </a:r>
            <a:r>
              <a:rPr lang="en-US" sz="1500" dirty="0">
                <a:solidFill>
                  <a:srgbClr val="8B949E"/>
                </a:solidFill>
              </a:rPr>
              <a:t>→  Author, Dev mode, port 4502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7EE787"/>
                </a:solidFill>
                <a:latin typeface="Consolas"/>
              </a:rPr>
              <a:t>aem-publish-p4503.jar         </a:t>
            </a:r>
            <a:r>
              <a:rPr lang="en-US" sz="1500" dirty="0">
                <a:solidFill>
                  <a:srgbClr val="8B949E"/>
                </a:solidFill>
              </a:rPr>
              <a:t>→  Publish, Dev mode, port 4503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7EE787"/>
                </a:solidFill>
                <a:latin typeface="Consolas"/>
              </a:rPr>
              <a:t>aem-author_prod-p4502.jar     </a:t>
            </a:r>
            <a:r>
              <a:rPr lang="en-US" sz="1500" dirty="0">
                <a:solidFill>
                  <a:srgbClr val="8B949E"/>
                </a:solidFill>
              </a:rPr>
              <a:t>→  Author in Production mode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500" b="1" dirty="0">
                <a:solidFill>
                  <a:srgbClr val="FFA657"/>
                </a:solidFill>
              </a:rPr>
              <a:t>⚡ Tier is locked </a:t>
            </a:r>
            <a:r>
              <a:rPr lang="en-US" sz="1500" dirty="0">
                <a:solidFill>
                  <a:srgbClr val="C9D1D9"/>
                </a:solidFill>
              </a:rPr>
              <a:t>on first startup. To switch, delete </a:t>
            </a:r>
            <a:r>
              <a:rPr lang="en-US" sz="1500" dirty="0">
                <a:solidFill>
                  <a:srgbClr val="7EE787"/>
                </a:solidFill>
                <a:latin typeface="Consolas"/>
              </a:rPr>
              <a:t>crx-quickstart</a:t>
            </a:r>
            <a:r>
              <a:rPr lang="en-US" sz="1500" dirty="0">
                <a:solidFill>
                  <a:srgbClr val="C9D1D9"/>
                </a:solidFill>
              </a:rPr>
              <a:t> and start fresh.</a:t>
            </a:r>
          </a:p>
        </p:txBody>
      </p:sp>
    </p:spTree>
    <p:extLst>
      <p:ext uri="{BB962C8B-B14F-4D97-AF65-F5344CB8AC3E}">
        <p14:creationId xmlns:p14="http://schemas.microsoft.com/office/powerpoint/2010/main" val="4130203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27EF2-9A52-DAB3-E2AA-47CF49FE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7EE787"/>
                </a:solidFill>
                <a:latin typeface="Consolas"/>
              </a:rPr>
              <a:t>08 / replication</a:t>
            </a:r>
          </a:p>
          <a:p>
            <a:pPr>
              <a:buNone/>
            </a:pPr>
            <a:r>
              <a:rPr lang="en-US" sz="3600" b="1" dirty="0">
                <a:solidFill>
                  <a:srgbClr val="E8ECEF"/>
                </a:solidFill>
              </a:rPr>
              <a:t>Simulating Content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E5CE5-DD48-B4D0-55CC-7A3AB1A58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In production, content moves Author → Publish via the </a:t>
            </a:r>
            <a:r>
              <a:rPr lang="en-US" sz="1800" b="1" dirty="0">
                <a:solidFill>
                  <a:srgbClr val="58A6FF"/>
                </a:solidFill>
              </a:rPr>
              <a:t>Adobe Pipeline</a:t>
            </a:r>
            <a:r>
              <a:rPr lang="en-US" sz="1800" dirty="0">
                <a:solidFill>
                  <a:srgbClr val="C9D1D9"/>
                </a:solidFill>
              </a:rPr>
              <a:t> (a cloud-only microservice).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Locally, you simulate it with </a:t>
            </a:r>
            <a:r>
              <a:rPr lang="en-US" sz="1800" b="1" dirty="0">
                <a:solidFill>
                  <a:srgbClr val="7EE787"/>
                </a:solidFill>
              </a:rPr>
              <a:t>legacy Replication Agents</a:t>
            </a:r>
            <a:r>
              <a:rPr lang="en-US" sz="1800" dirty="0">
                <a:solidFill>
                  <a:srgbClr val="C9D1D9"/>
                </a:solidFill>
              </a:rPr>
              <a:t>.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700" b="1" dirty="0">
                <a:solidFill>
                  <a:srgbClr val="58A6FF"/>
                </a:solidFill>
              </a:rPr>
              <a:t>Steps (from Author):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700" dirty="0">
                <a:solidFill>
                  <a:srgbClr val="C9D1D9"/>
                </a:solidFill>
              </a:rPr>
              <a:t>Go to </a:t>
            </a:r>
            <a:r>
              <a:rPr lang="en-US" sz="1700" dirty="0">
                <a:solidFill>
                  <a:srgbClr val="7EE787"/>
                </a:solidFill>
                <a:latin typeface="Consolas"/>
              </a:rPr>
              <a:t>/etc/replication/agents.author.html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700" dirty="0">
                <a:solidFill>
                  <a:srgbClr val="C9D1D9"/>
                </a:solidFill>
              </a:rPr>
              <a:t>Open the </a:t>
            </a:r>
            <a:r>
              <a:rPr lang="en-US" sz="1700" b="1" dirty="0">
                <a:solidFill>
                  <a:srgbClr val="C9D1D9"/>
                </a:solidFill>
              </a:rPr>
              <a:t>Default Agent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700" dirty="0">
                <a:solidFill>
                  <a:srgbClr val="C9D1D9"/>
                </a:solidFill>
              </a:rPr>
              <a:t>Enable it and point the transport URI to </a:t>
            </a:r>
            <a:r>
              <a:rPr lang="en-US" sz="1700" dirty="0">
                <a:solidFill>
                  <a:srgbClr val="7EE787"/>
                </a:solidFill>
                <a:latin typeface="Consolas"/>
              </a:rPr>
              <a:t>localhost:4503</a:t>
            </a:r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 i="1" dirty="0">
                <a:solidFill>
                  <a:srgbClr val="8B949E"/>
                </a:solidFill>
              </a:rPr>
              <a:t>Anything published on Author will replicate to your local Publish.</a:t>
            </a:r>
          </a:p>
        </p:txBody>
      </p:sp>
    </p:spTree>
    <p:extLst>
      <p:ext uri="{BB962C8B-B14F-4D97-AF65-F5344CB8AC3E}">
        <p14:creationId xmlns:p14="http://schemas.microsoft.com/office/powerpoint/2010/main" val="2621175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D057-5EDC-CA64-7256-EFB312A6E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7EE787"/>
                </a:solidFill>
                <a:latin typeface="Consolas"/>
              </a:rPr>
              <a:t>09 / dispatcher</a:t>
            </a:r>
          </a:p>
          <a:p>
            <a:pPr>
              <a:buNone/>
            </a:pPr>
            <a:r>
              <a:rPr lang="en-US" sz="3600" b="1" dirty="0">
                <a:solidFill>
                  <a:srgbClr val="E8ECEF"/>
                </a:solidFill>
              </a:rPr>
              <a:t>Local Dispatcher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E7A06-01B3-EC5D-E06B-7A4C3E5CC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Docker-based — runs Apache HTTP Server with the Dispatcher module inside a container.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700" b="1" dirty="0">
                <a:solidFill>
                  <a:srgbClr val="58A6FF"/>
                </a:solidFill>
              </a:rPr>
              <a:t>Start it: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7EE787"/>
                </a:solidFill>
                <a:latin typeface="Consolas"/>
              </a:rPr>
              <a:t>$ ./bin/docker_run_hot_reload.sh ./src localhost:4503 8080</a:t>
            </a:r>
          </a:p>
          <a:p>
            <a:pPr marL="0" indent="0">
              <a:buNone/>
            </a:pPr>
            <a:r>
              <a:rPr lang="en-US" sz="1500" i="1" dirty="0">
                <a:solidFill>
                  <a:srgbClr val="8B949E"/>
                </a:solidFill>
              </a:rPr>
              <a:t>Connects to local Publish; exposes Dispatcher on port 8080. Hot-reload variant reloads config when files change.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700" b="1" dirty="0">
                <a:solidFill>
                  <a:srgbClr val="58A6FF"/>
                </a:solidFill>
              </a:rPr>
              <a:t>Validate before deploy: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7EE787"/>
                </a:solidFill>
                <a:latin typeface="Consolas"/>
              </a:rPr>
              <a:t>$ ./bin/validate ./src</a:t>
            </a:r>
          </a:p>
          <a:p>
            <a:pPr marL="0" indent="0">
              <a:buNone/>
            </a:pPr>
            <a:r>
              <a:rPr lang="en-US" sz="1500" i="1" dirty="0">
                <a:solidFill>
                  <a:srgbClr val="8B949E"/>
                </a:solidFill>
              </a:rPr>
              <a:t>Checks Apache and Dispatcher configuration for errors.</a:t>
            </a:r>
          </a:p>
        </p:txBody>
      </p:sp>
    </p:spTree>
    <p:extLst>
      <p:ext uri="{BB962C8B-B14F-4D97-AF65-F5344CB8AC3E}">
        <p14:creationId xmlns:p14="http://schemas.microsoft.com/office/powerpoint/2010/main" val="1374970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CA4A-0003-405F-AE51-6EAB14F7F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7EE787"/>
                </a:solidFill>
                <a:latin typeface="Consolas"/>
              </a:rPr>
              <a:t>10 / repository</a:t>
            </a:r>
          </a:p>
          <a:p>
            <a:pPr>
              <a:buNone/>
            </a:pPr>
            <a:r>
              <a:rPr lang="en-US" sz="3600" b="1" dirty="0">
                <a:solidFill>
                  <a:srgbClr val="E8ECEF"/>
                </a:solidFill>
              </a:rPr>
              <a:t>Mutable vs Immutable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D2B84-F4CC-2FB2-C3AF-710C6A13B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8B949E"/>
                </a:solidFill>
              </a:rPr>
              <a:t>AEM enforces a clear separation between code and content.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2000" b="1" dirty="0">
                <a:solidFill>
                  <a:srgbClr val="FF7B72"/>
                </a:solidFill>
              </a:rPr>
              <a:t>🔒 Immutable </a:t>
            </a:r>
            <a:r>
              <a:rPr lang="en-US" sz="1700" dirty="0">
                <a:solidFill>
                  <a:srgbClr val="8B949E"/>
                </a:solidFill>
              </a:rPr>
              <a:t>— cannot be changed at runtime</a:t>
            </a:r>
          </a:p>
          <a:p>
            <a:pPr marL="457200" indent="-457200">
              <a:buFont typeface="Arial"/>
              <a:buChar char="▸"/>
            </a:pPr>
            <a:r>
              <a:rPr lang="en-US" sz="1700" dirty="0">
                <a:solidFill>
                  <a:srgbClr val="7EE787"/>
                </a:solidFill>
                <a:latin typeface="Consolas"/>
              </a:rPr>
              <a:t>/apps</a:t>
            </a:r>
            <a:r>
              <a:rPr lang="en-US" sz="1700" dirty="0">
                <a:solidFill>
                  <a:srgbClr val="C9D1D9"/>
                </a:solidFill>
              </a:rPr>
              <a:t>  — your custom components, scripts, clientlibs</a:t>
            </a:r>
          </a:p>
          <a:p>
            <a:pPr marL="457200" indent="-457200">
              <a:buFont typeface="Arial"/>
              <a:buChar char="▸"/>
            </a:pPr>
            <a:r>
              <a:rPr lang="en-US" sz="1700" dirty="0">
                <a:solidFill>
                  <a:srgbClr val="7EE787"/>
                </a:solidFill>
                <a:latin typeface="Consolas"/>
              </a:rPr>
              <a:t>/libs</a:t>
            </a:r>
            <a:r>
              <a:rPr lang="en-US" sz="1700" dirty="0">
                <a:solidFill>
                  <a:srgbClr val="C9D1D9"/>
                </a:solidFill>
              </a:rPr>
              <a:t>  — AEM platform code, never touch this</a:t>
            </a:r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2000" b="1" dirty="0">
                <a:solidFill>
                  <a:srgbClr val="7EE787"/>
                </a:solidFill>
              </a:rPr>
              <a:t>✏ Mutable </a:t>
            </a:r>
            <a:r>
              <a:rPr lang="en-US" sz="1700" dirty="0">
                <a:solidFill>
                  <a:srgbClr val="8B949E"/>
                </a:solidFill>
              </a:rPr>
              <a:t>— can be changed at runtime</a:t>
            </a:r>
          </a:p>
          <a:p>
            <a:pPr marL="457200" indent="-457200">
              <a:buFont typeface="Arial"/>
              <a:buChar char="▸"/>
            </a:pPr>
            <a:r>
              <a:rPr lang="en-US" sz="1700" dirty="0">
                <a:solidFill>
                  <a:srgbClr val="7EE787"/>
                </a:solidFill>
                <a:latin typeface="Consolas"/>
              </a:rPr>
              <a:t>/content, /conf, /var, /etc</a:t>
            </a:r>
          </a:p>
        </p:txBody>
      </p:sp>
    </p:spTree>
    <p:extLst>
      <p:ext uri="{BB962C8B-B14F-4D97-AF65-F5344CB8AC3E}">
        <p14:creationId xmlns:p14="http://schemas.microsoft.com/office/powerpoint/2010/main" val="960654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FF422-B3E4-E2AB-AFCB-88044AF5D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7EE787"/>
                </a:solidFill>
                <a:latin typeface="Consolas"/>
              </a:rPr>
              <a:t>11 / modules</a:t>
            </a:r>
          </a:p>
          <a:p>
            <a:pPr>
              <a:buNone/>
            </a:pPr>
            <a:r>
              <a:rPr lang="en-US" sz="3600" b="1" dirty="0">
                <a:solidFill>
                  <a:srgbClr val="E8ECEF"/>
                </a:solidFill>
              </a:rPr>
              <a:t>Maven Modules &amp; Package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63B7B-A7C0-34C8-4D2B-CA3606D71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/>
              <a:buChar char="▸"/>
            </a:pPr>
            <a:r>
              <a:rPr lang="en-US" sz="1700" dirty="0">
                <a:solidFill>
                  <a:srgbClr val="58A6FF"/>
                </a:solidFill>
                <a:latin typeface="Consolas"/>
              </a:rPr>
              <a:t>core         </a:t>
            </a:r>
            <a:r>
              <a:rPr lang="en-US" sz="1600" dirty="0">
                <a:solidFill>
                  <a:srgbClr val="C9D1D9"/>
                </a:solidFill>
              </a:rPr>
              <a:t>Java OSGi bundle — services, models, servlets</a:t>
            </a:r>
          </a:p>
          <a:p>
            <a:pPr marL="457200" indent="-457200">
              <a:buFont typeface="Arial"/>
              <a:buChar char="▸"/>
            </a:pPr>
            <a:r>
              <a:rPr lang="en-US" sz="1700" dirty="0">
                <a:solidFill>
                  <a:srgbClr val="58A6FF"/>
                </a:solidFill>
                <a:latin typeface="Consolas"/>
              </a:rPr>
              <a:t>ui.apps      </a:t>
            </a:r>
            <a:r>
              <a:rPr lang="en-US" sz="1600" dirty="0">
                <a:solidFill>
                  <a:srgbClr val="C9D1D9"/>
                </a:solidFill>
              </a:rPr>
              <a:t>code package — deploys to </a:t>
            </a:r>
            <a:r>
              <a:rPr lang="en-US" sz="1500" dirty="0">
                <a:solidFill>
                  <a:srgbClr val="7EE787"/>
                </a:solidFill>
                <a:latin typeface="Consolas"/>
              </a:rPr>
              <a:t>/apps</a:t>
            </a:r>
          </a:p>
          <a:p>
            <a:pPr marL="457200" indent="-457200">
              <a:buFont typeface="Arial"/>
              <a:buChar char="▸"/>
            </a:pPr>
            <a:r>
              <a:rPr lang="en-US" sz="1700" dirty="0">
                <a:solidFill>
                  <a:srgbClr val="58A6FF"/>
                </a:solidFill>
                <a:latin typeface="Consolas"/>
              </a:rPr>
              <a:t>ui.content   </a:t>
            </a:r>
            <a:r>
              <a:rPr lang="en-US" sz="1600" dirty="0">
                <a:solidFill>
                  <a:srgbClr val="C9D1D9"/>
                </a:solidFill>
              </a:rPr>
              <a:t>content package — </a:t>
            </a:r>
            <a:r>
              <a:rPr lang="en-US" sz="1500" dirty="0">
                <a:solidFill>
                  <a:srgbClr val="7EE787"/>
                </a:solidFill>
                <a:latin typeface="Consolas"/>
              </a:rPr>
              <a:t>/content, /conf</a:t>
            </a:r>
          </a:p>
          <a:p>
            <a:pPr marL="457200" indent="-457200">
              <a:buFont typeface="Arial"/>
              <a:buChar char="▸"/>
            </a:pPr>
            <a:r>
              <a:rPr lang="en-US" sz="1700" dirty="0">
                <a:solidFill>
                  <a:srgbClr val="58A6FF"/>
                </a:solidFill>
                <a:latin typeface="Consolas"/>
              </a:rPr>
              <a:t>ui.config    </a:t>
            </a:r>
            <a:r>
              <a:rPr lang="en-US" sz="1600" dirty="0">
                <a:solidFill>
                  <a:srgbClr val="C9D1D9"/>
                </a:solidFill>
              </a:rPr>
              <a:t>OSGi configurations + Repo Init scripts</a:t>
            </a:r>
          </a:p>
          <a:p>
            <a:pPr marL="457200" indent="-457200">
              <a:buFont typeface="Arial"/>
              <a:buChar char="▸"/>
            </a:pPr>
            <a:r>
              <a:rPr lang="en-US" sz="1700" b="1" dirty="0">
                <a:solidFill>
                  <a:srgbClr val="FFA657"/>
                </a:solidFill>
                <a:latin typeface="Consolas"/>
              </a:rPr>
              <a:t>all          </a:t>
            </a:r>
            <a:r>
              <a:rPr lang="en-US" sz="1600" b="1" dirty="0">
                <a:solidFill>
                  <a:srgbClr val="C9D1D9"/>
                </a:solidFill>
              </a:rPr>
              <a:t>container — the only artifact deployed by Cloud Manager</a:t>
            </a:r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 i="1" dirty="0">
                <a:solidFill>
                  <a:srgbClr val="8B949E"/>
                </a:solidFill>
              </a:rPr>
              <a:t>Package types: </a:t>
            </a:r>
            <a:r>
              <a:rPr lang="en-US" sz="1500" dirty="0">
                <a:solidFill>
                  <a:srgbClr val="7EE787"/>
                </a:solidFill>
                <a:latin typeface="Consolas"/>
              </a:rPr>
              <a:t>application</a:t>
            </a:r>
            <a:r>
              <a:rPr lang="en-US" sz="1500" i="1" dirty="0">
                <a:solidFill>
                  <a:srgbClr val="8B949E"/>
                </a:solidFill>
              </a:rPr>
              <a:t> (ui.apps), </a:t>
            </a:r>
            <a:r>
              <a:rPr lang="en-US" sz="1500" dirty="0">
                <a:solidFill>
                  <a:srgbClr val="7EE787"/>
                </a:solidFill>
                <a:latin typeface="Consolas"/>
              </a:rPr>
              <a:t>content</a:t>
            </a:r>
            <a:r>
              <a:rPr lang="en-US" sz="1500" i="1" dirty="0">
                <a:solidFill>
                  <a:srgbClr val="8B949E"/>
                </a:solidFill>
              </a:rPr>
              <a:t> (ui.content), </a:t>
            </a:r>
            <a:r>
              <a:rPr lang="en-US" sz="1500" dirty="0">
                <a:solidFill>
                  <a:srgbClr val="7EE787"/>
                </a:solidFill>
                <a:latin typeface="Consolas"/>
              </a:rPr>
              <a:t>container</a:t>
            </a:r>
            <a:r>
              <a:rPr lang="en-US" sz="1500" i="1" dirty="0">
                <a:solidFill>
                  <a:srgbClr val="8B949E"/>
                </a:solidFill>
              </a:rPr>
              <a:t> (all). All others: </a:t>
            </a:r>
            <a:r>
              <a:rPr lang="en-US" sz="1500" dirty="0">
                <a:solidFill>
                  <a:srgbClr val="7EE787"/>
                </a:solidFill>
                <a:latin typeface="Consolas"/>
              </a:rPr>
              <a:t>cloudManagerTarget=none</a:t>
            </a:r>
          </a:p>
        </p:txBody>
      </p:sp>
    </p:spTree>
    <p:extLst>
      <p:ext uri="{BB962C8B-B14F-4D97-AF65-F5344CB8AC3E}">
        <p14:creationId xmlns:p14="http://schemas.microsoft.com/office/powerpoint/2010/main" val="3792896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23F12-1BC0-CF68-D0EB-E1756B77D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7EE787"/>
                </a:solidFill>
                <a:latin typeface="Consolas"/>
              </a:rPr>
              <a:t>12 / scaffolding</a:t>
            </a:r>
          </a:p>
          <a:p>
            <a:pPr>
              <a:buNone/>
            </a:pPr>
            <a:r>
              <a:rPr lang="en-US" sz="3600" b="1" dirty="0">
                <a:solidFill>
                  <a:srgbClr val="E8ECEF"/>
                </a:solidFill>
              </a:rPr>
              <a:t>Repo Init &amp; AEM Archetype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39979-4642-AAAF-B87C-C6BC106D2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700" b="1" dirty="0">
                <a:solidFill>
                  <a:srgbClr val="58A6FF"/>
                </a:solidFill>
              </a:rPr>
              <a:t>Repo Init </a:t>
            </a:r>
            <a:r>
              <a:rPr lang="en-US" sz="1700" dirty="0">
                <a:solidFill>
                  <a:srgbClr val="C9D1D9"/>
                </a:solidFill>
              </a:rPr>
              <a:t>defines JCR structures as part of the application. Lives in </a:t>
            </a:r>
            <a:r>
              <a:rPr lang="en-US" sz="1500" dirty="0">
                <a:solidFill>
                  <a:srgbClr val="7EE787"/>
                </a:solidFill>
                <a:latin typeface="Consolas"/>
              </a:rPr>
              <a:t>ui.config</a:t>
            </a:r>
            <a:r>
              <a:rPr lang="en-US" sz="1700" dirty="0">
                <a:solidFill>
                  <a:srgbClr val="C9D1D9"/>
                </a:solidFill>
              </a:rPr>
              <a:t>, scoped by run mode, runs early in deployment.</a:t>
            </a:r>
          </a:p>
          <a:p>
            <a:pPr marL="0" indent="0">
              <a:buNone/>
            </a:pPr>
            <a:endParaRPr lang="en-US" sz="600"/>
          </a:p>
          <a:p>
            <a:pPr marL="457200" indent="-457200">
              <a:buFont typeface="Arial"/>
              <a:buChar char="▸"/>
            </a:pPr>
            <a:r>
              <a:rPr lang="en-US" sz="1700" dirty="0">
                <a:solidFill>
                  <a:srgbClr val="C9D1D9"/>
                </a:solidFill>
              </a:rPr>
              <a:t>Folder structures</a:t>
            </a:r>
          </a:p>
          <a:p>
            <a:pPr marL="457200" indent="-457200">
              <a:buFont typeface="Arial"/>
              <a:buChar char="▸"/>
            </a:pPr>
            <a:r>
              <a:rPr lang="en-US" sz="1700" dirty="0">
                <a:solidFill>
                  <a:srgbClr val="C9D1D9"/>
                </a:solidFill>
              </a:rPr>
              <a:t>Service users</a:t>
            </a:r>
          </a:p>
          <a:p>
            <a:pPr marL="457200" indent="-457200">
              <a:buFont typeface="Arial"/>
              <a:buChar char="▸"/>
            </a:pPr>
            <a:r>
              <a:rPr lang="en-US" sz="1700" dirty="0">
                <a:solidFill>
                  <a:srgbClr val="C9D1D9"/>
                </a:solidFill>
              </a:rPr>
              <a:t>Groups and ACL permissions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700" b="1" dirty="0">
                <a:solidFill>
                  <a:srgbClr val="58A6FF"/>
                </a:solidFill>
              </a:rPr>
              <a:t>AEM Project Archetype </a:t>
            </a:r>
            <a:r>
              <a:rPr lang="en-US" sz="1700" dirty="0">
                <a:solidFill>
                  <a:srgbClr val="C9D1D9"/>
                </a:solidFill>
              </a:rPr>
              <a:t>(current </a:t>
            </a:r>
            <a:r>
              <a:rPr lang="en-US" sz="1700" b="1" dirty="0">
                <a:solidFill>
                  <a:srgbClr val="FFA657"/>
                </a:solidFill>
              </a:rPr>
              <a:t>v56</a:t>
            </a:r>
            <a:r>
              <a:rPr lang="en-US" sz="1700" dirty="0">
                <a:solidFill>
                  <a:srgbClr val="C9D1D9"/>
                </a:solidFill>
              </a:rPr>
              <a:t>) generates the full project with best practices.</a:t>
            </a:r>
          </a:p>
          <a:p>
            <a:pPr marL="0" indent="0">
              <a:buNone/>
            </a:pPr>
            <a:r>
              <a:rPr lang="en-US" sz="1500" i="1" dirty="0">
                <a:solidFill>
                  <a:srgbClr val="8B949E"/>
                </a:solidFill>
              </a:rPr>
              <a:t>Includes: all, core, ui.apps, ui.content, ui.config, ui.frontend, tests, dispatcher.</a:t>
            </a:r>
          </a:p>
        </p:txBody>
      </p:sp>
    </p:spTree>
    <p:extLst>
      <p:ext uri="{BB962C8B-B14F-4D97-AF65-F5344CB8AC3E}">
        <p14:creationId xmlns:p14="http://schemas.microsoft.com/office/powerpoint/2010/main" val="2707435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700ED-7689-1F48-4EED-D5257D1E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7EE787"/>
                </a:solidFill>
                <a:latin typeface="Consolas"/>
              </a:rPr>
              <a:t>13 / debugging</a:t>
            </a:r>
          </a:p>
          <a:p>
            <a:pPr>
              <a:buNone/>
            </a:pPr>
            <a:r>
              <a:rPr lang="en-US" sz="3600" b="1" dirty="0">
                <a:solidFill>
                  <a:srgbClr val="E8ECEF"/>
                </a:solidFill>
              </a:rPr>
              <a:t>Troubleshooting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BBAF7-B33F-1F26-B66C-122F84087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/>
              <a:buAutoNum type="arabicPeriod"/>
            </a:pPr>
            <a:r>
              <a:rPr lang="en-US" sz="1600" b="1" dirty="0">
                <a:solidFill>
                  <a:srgbClr val="58A6FF"/>
                </a:solidFill>
              </a:rPr>
              <a:t>Package Manager </a:t>
            </a:r>
            <a:r>
              <a:rPr lang="en-US" sz="1500" dirty="0">
                <a:solidFill>
                  <a:srgbClr val="C9D1D9"/>
                </a:solidFill>
              </a:rPr>
              <a:t>— was it installed?  </a:t>
            </a:r>
            <a:r>
              <a:rPr lang="en-US" sz="1400" dirty="0">
                <a:solidFill>
                  <a:srgbClr val="7EE787"/>
                </a:solidFill>
                <a:latin typeface="Consolas"/>
              </a:rPr>
              <a:t>localhost:4502/crx/packmgr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600" b="1" dirty="0">
                <a:solidFill>
                  <a:srgbClr val="58A6FF"/>
                </a:solidFill>
              </a:rPr>
              <a:t>CRXDE Lite </a:t>
            </a:r>
            <a:r>
              <a:rPr lang="en-US" sz="1500" dirty="0">
                <a:solidFill>
                  <a:srgbClr val="C9D1D9"/>
                </a:solidFill>
              </a:rPr>
              <a:t>— is the file there, content correct?  </a:t>
            </a:r>
            <a:r>
              <a:rPr lang="en-US" sz="1400" dirty="0">
                <a:solidFill>
                  <a:srgbClr val="7EE787"/>
                </a:solidFill>
                <a:latin typeface="Consolas"/>
              </a:rPr>
              <a:t>localhost:4502/crx/de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600" b="1" dirty="0">
                <a:solidFill>
                  <a:srgbClr val="58A6FF"/>
                </a:solidFill>
              </a:rPr>
              <a:t>Bundle Console </a:t>
            </a:r>
            <a:r>
              <a:rPr lang="en-US" sz="1500" dirty="0">
                <a:solidFill>
                  <a:srgbClr val="C9D1D9"/>
                </a:solidFill>
              </a:rPr>
              <a:t>— is the OSGi bundle Active?  </a:t>
            </a:r>
            <a:r>
              <a:rPr lang="en-US" sz="1400" dirty="0">
                <a:solidFill>
                  <a:srgbClr val="7EE787"/>
                </a:solidFill>
                <a:latin typeface="Consolas"/>
              </a:rPr>
              <a:t>/system/console/bundles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600" b="1" dirty="0">
                <a:solidFill>
                  <a:srgbClr val="58A6FF"/>
                </a:solidFill>
              </a:rPr>
              <a:t>error.log </a:t>
            </a:r>
            <a:r>
              <a:rPr lang="en-US" sz="1500" dirty="0">
                <a:solidFill>
                  <a:srgbClr val="C9D1D9"/>
                </a:solidFill>
              </a:rPr>
              <a:t>— AEM logs everything  </a:t>
            </a:r>
            <a:r>
              <a:rPr lang="en-US" sz="1400" dirty="0">
                <a:solidFill>
                  <a:srgbClr val="7EE787"/>
                </a:solidFill>
                <a:latin typeface="Consolas"/>
              </a:rPr>
              <a:t>crx-quickstart/logs/error.log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600" b="1" dirty="0">
                <a:solidFill>
                  <a:srgbClr val="58A6FF"/>
                </a:solidFill>
              </a:rPr>
              <a:t>Clientlib debug </a:t>
            </a:r>
            <a:r>
              <a:rPr lang="en-US" sz="1500" dirty="0">
                <a:solidFill>
                  <a:srgbClr val="C9D1D9"/>
                </a:solidFill>
              </a:rPr>
              <a:t>— front-end issues  </a:t>
            </a:r>
            <a:r>
              <a:rPr lang="en-US" sz="1400" dirty="0">
                <a:solidFill>
                  <a:srgbClr val="7EE787"/>
                </a:solidFill>
                <a:latin typeface="Consolas"/>
              </a:rPr>
              <a:t>/libs/granite/ui/content/dumplibs.html</a:t>
            </a:r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500" b="1" dirty="0">
                <a:solidFill>
                  <a:srgbClr val="FF7B72"/>
                </a:solidFill>
              </a:rPr>
              <a:t>⚠ Most common errors: </a:t>
            </a:r>
            <a:r>
              <a:rPr lang="en-US" sz="1500" dirty="0">
                <a:solidFill>
                  <a:srgbClr val="C9D1D9"/>
                </a:solidFill>
              </a:rPr>
              <a:t>wrong Java version  ·  double-clicking the QuickStart Jar</a:t>
            </a:r>
          </a:p>
        </p:txBody>
      </p:sp>
    </p:spTree>
    <p:extLst>
      <p:ext uri="{BB962C8B-B14F-4D97-AF65-F5344CB8AC3E}">
        <p14:creationId xmlns:p14="http://schemas.microsoft.com/office/powerpoint/2010/main" val="3636331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93F48-032B-F694-F34D-52309B9D5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>
                <a:solidFill>
                  <a:srgbClr val="7EE787"/>
                </a:solidFill>
                <a:latin typeface="Consolas"/>
              </a:rPr>
              <a:t>14 / wrap-up</a:t>
            </a:r>
          </a:p>
          <a:p>
            <a:pPr>
              <a:buNone/>
            </a:pPr>
            <a:r>
              <a:rPr lang="en-US" sz="3600" b="1" dirty="0">
                <a:solidFill>
                  <a:srgbClr val="E8ECEF"/>
                </a:solidFill>
              </a:rP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DA51D-4F83-0895-EB01-85F94DF82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C9D1D9"/>
                </a:solidFill>
              </a:rPr>
              <a:t>Setting up your local AEM environment is the foundation for everything that follows.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700" b="1" dirty="0">
                <a:solidFill>
                  <a:srgbClr val="58A6FF"/>
                </a:solidFill>
              </a:rPr>
              <a:t>Remember for the exam:</a:t>
            </a:r>
          </a:p>
          <a:p>
            <a:pPr marL="457200" indent="-457200">
              <a:buFont typeface="Arial"/>
              <a:buChar char="✓"/>
            </a:pPr>
            <a:r>
              <a:rPr lang="en-US" sz="1700" dirty="0">
                <a:solidFill>
                  <a:srgbClr val="C9D1D9"/>
                </a:solidFill>
              </a:rPr>
              <a:t>QuickStart Jar </a:t>
            </a:r>
            <a:r>
              <a:rPr lang="en-US" sz="1700" b="1" dirty="0">
                <a:solidFill>
                  <a:srgbClr val="7EE787"/>
                </a:solidFill>
              </a:rPr>
              <a:t>naming convention </a:t>
            </a:r>
            <a:r>
              <a:rPr lang="en-US" sz="1700" dirty="0">
                <a:solidFill>
                  <a:srgbClr val="C9D1D9"/>
                </a:solidFill>
              </a:rPr>
              <a:t>and startup rules</a:t>
            </a:r>
          </a:p>
          <a:p>
            <a:pPr marL="457200" indent="-457200">
              <a:buFont typeface="Arial"/>
              <a:buChar char="✓"/>
            </a:pPr>
            <a:r>
              <a:rPr lang="en-US" sz="1700" b="1" dirty="0">
                <a:solidFill>
                  <a:srgbClr val="7EE787"/>
                </a:solidFill>
              </a:rPr>
              <a:t>Mutable vs Immutable </a:t>
            </a:r>
            <a:r>
              <a:rPr lang="en-US" sz="1700" dirty="0">
                <a:solidFill>
                  <a:srgbClr val="C9D1D9"/>
                </a:solidFill>
              </a:rPr>
              <a:t>repository areas</a:t>
            </a:r>
          </a:p>
          <a:p>
            <a:pPr marL="457200" indent="-457200">
              <a:buFont typeface="Arial"/>
              <a:buChar char="✓"/>
            </a:pPr>
            <a:r>
              <a:rPr lang="en-US" sz="1700" dirty="0">
                <a:solidFill>
                  <a:srgbClr val="C9D1D9"/>
                </a:solidFill>
              </a:rPr>
              <a:t>Role of each </a:t>
            </a:r>
            <a:r>
              <a:rPr lang="en-US" sz="1700" b="1" dirty="0">
                <a:solidFill>
                  <a:srgbClr val="7EE787"/>
                </a:solidFill>
              </a:rPr>
              <a:t>Maven module</a:t>
            </a:r>
          </a:p>
          <a:p>
            <a:pPr marL="457200" indent="-457200">
              <a:buFont typeface="Arial"/>
              <a:buChar char="✓"/>
            </a:pPr>
            <a:r>
              <a:rPr lang="en-US" sz="1700" dirty="0">
                <a:solidFill>
                  <a:srgbClr val="C9D1D9"/>
                </a:solidFill>
              </a:rPr>
              <a:t>The </a:t>
            </a:r>
            <a:r>
              <a:rPr lang="en-US" sz="1700" b="1" dirty="0">
                <a:solidFill>
                  <a:srgbClr val="FFA657"/>
                </a:solidFill>
              </a:rPr>
              <a:t>all package </a:t>
            </a:r>
            <a:r>
              <a:rPr lang="en-US" sz="1700" dirty="0">
                <a:solidFill>
                  <a:srgbClr val="C9D1D9"/>
                </a:solidFill>
              </a:rPr>
              <a:t>= single Cloud Manager artifact</a:t>
            </a:r>
          </a:p>
          <a:p>
            <a:pPr marL="0" indent="0">
              <a:buNone/>
            </a:pPr>
            <a:endParaRPr lang="en-US" sz="600"/>
          </a:p>
          <a:p>
            <a:pPr marL="0" indent="0" algn="r">
              <a:buNone/>
            </a:pPr>
            <a:r>
              <a:rPr lang="en-US" sz="1400" i="1" dirty="0">
                <a:solidFill>
                  <a:srgbClr val="58A6FF"/>
                </a:solidFill>
                <a:latin typeface="Consolas"/>
              </a:rPr>
              <a:t>// happy hacking →</a:t>
            </a:r>
          </a:p>
        </p:txBody>
      </p:sp>
    </p:spTree>
    <p:extLst>
      <p:ext uri="{BB962C8B-B14F-4D97-AF65-F5344CB8AC3E}">
        <p14:creationId xmlns:p14="http://schemas.microsoft.com/office/powerpoint/2010/main" val="78826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759495880]">
  <a:themeElements>
    <a:clrScheme name="Office">
      <a:dk1>
        <a:srgbClr val="E8ECEF"/>
      </a:dk1>
      <a:lt1>
        <a:srgbClr val="0E1116"/>
      </a:lt1>
      <a:dk2>
        <a:srgbClr val="8B949E"/>
      </a:dk2>
      <a:lt2>
        <a:srgbClr val="1C2128"/>
      </a:lt2>
      <a:accent1>
        <a:srgbClr val="58A6FF"/>
      </a:accent1>
      <a:accent2>
        <a:srgbClr val="7EE787"/>
      </a:accent2>
      <a:accent3>
        <a:srgbClr val="F778BA"/>
      </a:accent3>
      <a:accent4>
        <a:srgbClr val="FFA657"/>
      </a:accent4>
      <a:accent5>
        <a:srgbClr val="D2A8FF"/>
      </a:accent5>
      <a:accent6>
        <a:srgbClr val="FF7B72"/>
      </a:accent6>
      <a:hlink>
        <a:srgbClr val="467886"/>
      </a:hlink>
      <a:folHlink>
        <a:srgbClr val="96607D"/>
      </a:folHlink>
    </a:clrScheme>
    <a:fontScheme name="Office">
      <a:majorFont>
        <a:latin typeface="Inter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BAA04B-D2CC-41E5-98C8-A56B1A21958A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dae12d70-560b-4073-845b-382b065c058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3497</Words>
  <Application>Microsoft Office PowerPoint</Application>
  <PresentationFormat>Widescreen</PresentationFormat>
  <Paragraphs>336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Consolas</vt:lpstr>
      <vt:lpstr>Inter</vt:lpstr>
      <vt:lpstr>Office Theme [1777759495880]</vt:lpstr>
      <vt:lpstr>// dev-onboarding AEM Environment Setup</vt:lpstr>
      <vt:lpstr>01 / introduction Why Local First</vt:lpstr>
      <vt:lpstr>02 / architecture The Three Components</vt:lpstr>
      <vt:lpstr>03 / toolchain Development Tools</vt:lpstr>
      <vt:lpstr>04 / cli Adobe I/O CLI (aio)</vt:lpstr>
      <vt:lpstr>05 / filesystem File System Organization</vt:lpstr>
      <vt:lpstr>06 / runtime The QuickStart Jar</vt:lpstr>
      <vt:lpstr>07 / convention JAR Naming Convention</vt:lpstr>
      <vt:lpstr>08 / replication Simulating Content Distribution</vt:lpstr>
      <vt:lpstr>09 / dispatcher Local Dispatcher</vt:lpstr>
      <vt:lpstr>10 / repository Mutable vs Immutable</vt:lpstr>
      <vt:lpstr>11 / modules Maven Modules &amp; Package Types</vt:lpstr>
      <vt:lpstr>12 / scaffolding Repo Init &amp; AEM Archetype</vt:lpstr>
      <vt:lpstr>13 / debugging Troubleshooting Sequence</vt:lpstr>
      <vt:lpstr>14 / wrap-up 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Ramiro Ocampo Rodriguez</dc:creator>
  <cp:lastModifiedBy>Ramiro Ocampo Rodriguez</cp:lastModifiedBy>
  <cp:revision>2</cp:revision>
  <dcterms:created xsi:type="dcterms:W3CDTF">2026-05-02T22:04:55Z</dcterms:created>
  <dcterms:modified xsi:type="dcterms:W3CDTF">2026-05-03T15:08:44Z</dcterms:modified>
</cp:coreProperties>
</file>